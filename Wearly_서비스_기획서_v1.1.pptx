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6" r:id="rId27"/>
    <p:sldId id="274" r:id="rId25"/>
    <p:sldId id="298" r:id="rId49"/>
    <p:sldId id="275" r:id="rId26"/>
    <p:sldId id="277" r:id="rId28"/>
    <p:sldId id="257" r:id="rId8"/>
    <p:sldId id="258" r:id="rId9"/>
    <p:sldId id="259" r:id="rId10"/>
    <p:sldId id="260" r:id="rId11"/>
    <p:sldId id="278" r:id="rId29"/>
    <p:sldId id="261" r:id="rId12"/>
    <p:sldId id="262" r:id="rId13"/>
    <p:sldId id="263" r:id="rId14"/>
    <p:sldId id="264" r:id="rId15"/>
    <p:sldId id="285" r:id="rId36"/>
    <p:sldId id="283" r:id="rId34"/>
    <p:sldId id="286" r:id="rId37"/>
    <p:sldId id="288" r:id="rId39"/>
    <p:sldId id="300" r:id="rId51"/>
    <p:sldId id="301" r:id="rId52"/>
    <p:sldId id="265" r:id="rId16"/>
    <p:sldId id="279" r:id="rId30"/>
    <p:sldId id="266" r:id="rId17"/>
    <p:sldId id="284" r:id="rId35"/>
    <p:sldId id="287" r:id="rId38"/>
    <p:sldId id="280" r:id="rId31"/>
    <p:sldId id="267" r:id="rId18"/>
    <p:sldId id="268" r:id="rId19"/>
    <p:sldId id="269" r:id="rId20"/>
    <p:sldId id="270" r:id="rId21"/>
    <p:sldId id="289" r:id="rId40"/>
    <p:sldId id="299" r:id="rId50"/>
    <p:sldId id="281" r:id="rId32"/>
    <p:sldId id="271" r:id="rId22"/>
    <p:sldId id="272" r:id="rId23"/>
    <p:sldId id="273" r:id="rId24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  <Relationship Id="rId30" Type="http://schemas.openxmlformats.org/officeDocument/2006/relationships/slide" Target="slides/slide24.xml"/>
  <Relationship Id="rId31" Type="http://schemas.openxmlformats.org/officeDocument/2006/relationships/slide" Target="slides/slide25.xml"/>
  <Relationship Id="rId32" Type="http://schemas.openxmlformats.org/officeDocument/2006/relationships/slide" Target="slides/slide26.xml"/>
  <Relationship Id="rId33" Type="http://schemas.openxmlformats.org/officeDocument/2006/relationships/slide" Target="slides/slide27.xml"/>
  <Relationship Id="rId34" Type="http://schemas.openxmlformats.org/officeDocument/2006/relationships/slide" Target="slides/slide28.xml"/>
  <Relationship Id="rId35" Type="http://schemas.openxmlformats.org/officeDocument/2006/relationships/slide" Target="slides/slide29.xml"/>
  <Relationship Id="rId36" Type="http://schemas.openxmlformats.org/officeDocument/2006/relationships/slide" Target="slides/slide30.xml"/>
  <Relationship Id="rId37" Type="http://schemas.openxmlformats.org/officeDocument/2006/relationships/slide" Target="slides/slide31.xml"/>
  <Relationship Id="rId38" Type="http://schemas.openxmlformats.org/officeDocument/2006/relationships/slide" Target="slides/slide32.xml"/>
  <Relationship Id="rId39" Type="http://schemas.openxmlformats.org/officeDocument/2006/relationships/slide" Target="slides/slide33.xml"/>
  <Relationship Id="rId40" Type="http://schemas.openxmlformats.org/officeDocument/2006/relationships/slide" Target="slides/slide34.xml"/>
  <Relationship Id="rId41" Type="http://schemas.openxmlformats.org/officeDocument/2006/relationships/slide" Target="slides/slide35.xml"/>
  <Relationship Id="rId42" Type="http://schemas.openxmlformats.org/officeDocument/2006/relationships/slide" Target="slides/slide36.xml"/>
  <Relationship Id="rId43" Type="http://schemas.openxmlformats.org/officeDocument/2006/relationships/slide" Target="slides/slide37.xml"/>
  <Relationship Id="rId44" Type="http://schemas.openxmlformats.org/officeDocument/2006/relationships/slide" Target="slides/slide38.xml"/>
  <Relationship Id="rId45" Type="http://schemas.openxmlformats.org/officeDocument/2006/relationships/slide" Target="slides/slide39.xml"/>
  <Relationship Id="rId46" Type="http://schemas.openxmlformats.org/officeDocument/2006/relationships/slide" Target="slides/slide40.xml"/>
  <Relationship Id="rId47" Type="http://schemas.openxmlformats.org/officeDocument/2006/relationships/slide" Target="slides/slide41.xml"/>
  <Relationship Id="rId48" Type="http://schemas.openxmlformats.org/officeDocument/2006/relationships/slide" Target="slides/slide42.xml"/>
  <Relationship Id="rId49" Type="http://schemas.openxmlformats.org/officeDocument/2006/relationships/slide" Target="slides/slide43.xml"/>
  <Relationship Id="rId50" Type="http://schemas.openxmlformats.org/officeDocument/2006/relationships/slide" Target="slides/slide44.xml"/>
  <Relationship Id="rId51" Type="http://schemas.openxmlformats.org/officeDocument/2006/relationships/slide" Target="slides/slide45.xml"/>
  <Relationship Id="rId52" Type="http://schemas.openxmlformats.org/officeDocument/2006/relationships/slide" Target="slides/slide46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H1" Type="http://schemas.openxmlformats.org/officeDocument/2006/relationships/image" Target="../media/home_1.png"/><Relationship Id="rIdH2" Type="http://schemas.openxmlformats.org/officeDocument/2006/relationships/image" Target="../media/home_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P1" Type="http://schemas.openxmlformats.org/officeDocument/2006/relationships/image" Target="../media/local_diag_1.png"/><Relationship Id="rIdP2" Type="http://schemas.openxmlformats.org/officeDocument/2006/relationships/image" Target="../media/local_diag_2.png"/><Relationship Id="rIdP3" Type="http://schemas.openxmlformats.org/officeDocument/2006/relationships/image" Target="../media/local_diag_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M1" Type="http://schemas.openxmlformats.org/officeDocument/2006/relationships/image" Target="../media/mockup_m1_1.png"/><Relationship Id="rIdM2" Type="http://schemas.openxmlformats.org/officeDocument/2006/relationships/image" Target="../media/mockup_m1_2.png"/><Relationship Id="rIdM3" Type="http://schemas.openxmlformats.org/officeDocument/2006/relationships/image" Target="../media/mockup_m1_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M1" Type="http://schemas.openxmlformats.org/officeDocument/2006/relationships/image" Target="../media/mockup_t1_1.png"/><Relationship Id="rIdM2" Type="http://schemas.openxmlformats.org/officeDocument/2006/relationships/image" Target="../media/mockup_t1_2.png"/><Relationship Id="rIdM3" Type="http://schemas.openxmlformats.org/officeDocument/2006/relationships/image" Target="../media/mockup_t1_3.png"/><Relationship Id="rIdM4" Type="http://schemas.openxmlformats.org/officeDocument/2006/relationships/image" Target="../media/mockup_t2_1.png"/><Relationship Id="rIdM5" Type="http://schemas.openxmlformats.org/officeDocument/2006/relationships/image" Target="../media/mockup_t2_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M1" Type="http://schemas.openxmlformats.org/officeDocument/2006/relationships/image" Target="../media/mockup_m4_1.png"/><Relationship Id="rIdM2" Type="http://schemas.openxmlformats.org/officeDocument/2006/relationships/image" Target="../media/mockup_m4_2.png"/><Relationship Id="rIdM3" Type="http://schemas.openxmlformats.org/officeDocument/2006/relationships/image" Target="../media/mockup_m4_3.png"/><Relationship Id="rIdM4" Type="http://schemas.openxmlformats.org/officeDocument/2006/relationships/image" Target="../media/mockup_m4_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M1" Type="http://schemas.openxmlformats.org/officeDocument/2006/relationships/image" Target="../media/mockup_m5_1.png"/><Relationship Id="rIdM2" Type="http://schemas.openxmlformats.org/officeDocument/2006/relationships/image" Target="../media/mockup_m5_2.png"/><Relationship Id="rIdM3" Type="http://schemas.openxmlformats.org/officeDocument/2006/relationships/image" Target="../media/mockup_m5_3.png"/><Relationship Id="rIdM4" Type="http://schemas.openxmlformats.org/officeDocument/2006/relationships/image" Target="../media/mockup_m5_4.png"/><Relationship Id="rIdM5" Type="http://schemas.openxmlformats.org/officeDocument/2006/relationships/image" Target="../media/mockup_m6_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M1" Type="http://schemas.openxmlformats.org/officeDocument/2006/relationships/image" Target="../media/mockup_m7_1.png"/><Relationship Id="rIdM2" Type="http://schemas.openxmlformats.org/officeDocument/2006/relationships/image" Target="../media/mockup_m7_2.png"/><Relationship Id="rIdM3" Type="http://schemas.openxmlformats.org/officeDocument/2006/relationships/image" Target="../media/mockup_m7_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M1" Type="http://schemas.openxmlformats.org/officeDocument/2006/relationships/image" Target="../media/mockup_m10_1.png"/><Relationship Id="rIdM2" Type="http://schemas.openxmlformats.org/officeDocument/2006/relationships/image" Target="../media/mockup_m10_2.png"/><Relationship Id="rIdM3" Type="http://schemas.openxmlformats.org/officeDocument/2006/relationships/image" Target="../media/mockup_m10_3.png"/><Relationship Id="rIdM4" Type="http://schemas.openxmlformats.org/officeDocument/2006/relationships/image" Target="../media/mockup_m10_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M1" Type="http://schemas.openxmlformats.org/officeDocument/2006/relationships/image" Target="../media/mockup_m9_1.png"/><Relationship Id="rIdM2" Type="http://schemas.openxmlformats.org/officeDocument/2006/relationships/image" Target="../media/mockup_m9_2.png"/><Relationship Id="rIdM3" Type="http://schemas.openxmlformats.org/officeDocument/2006/relationships/image" Target="../media/mockup_m9_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F1" Type="http://schemas.openxmlformats.org/officeDocument/2006/relationships/image" Target="../media/fabric_panel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W1" Type="http://schemas.openxmlformats.org/officeDocument/2006/relationships/image" Target="../media/workpattern_1.png"/><Relationship Id="rIdW2" Type="http://schemas.openxmlformats.org/officeDocument/2006/relationships/image" Target="../media/workpattern_2.png"/><Relationship Id="rIdW3" Type="http://schemas.openxmlformats.org/officeDocument/2006/relationships/image" Target="../media/workpattern_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T1" Type="http://schemas.openxmlformats.org/officeDocument/2006/relationships/image" Target="../media/tomorrow_1.png"/><Relationship Id="rIdT2" Type="http://schemas.openxmlformats.org/officeDocument/2006/relationships/image" Target="../media/tomorrow_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85800" y="5486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300">
                <a:solidFill>
                  <a:srgbClr val="111111"/>
                </a:solidFill>
                <a:latin typeface="Georgia"/>
                <a:ea typeface="Malgun Gothic"/>
              </a:rPr>
              <a:t>ISSUE N°01</a:t>
            </a:r>
            <a:r>
              <a:rPr lang="ko-KR" sz="900" b="0" i="0" spc="200">
                <a:solidFill>
                  <a:srgbClr val="5C5C5C"/>
                </a:solidFill>
                <a:latin typeface="Georgia"/>
                <a:ea typeface="Malgun Gothic"/>
              </a:rPr>
              <a:t>   —   PRODUCT CONCEPT &amp; MVP PLAN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685800" y="896112"/>
            <a:ext cx="6400800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4" name="TextBox 4"/>
          <p:cNvSpPr txBox="1"/>
          <p:nvPr/>
        </p:nvSpPr>
        <p:spPr>
          <a:xfrm>
            <a:off x="640080" y="1051560"/>
            <a:ext cx="6766560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0" b="0" i="0" spc="-15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3232" y="25146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800" b="1" i="0" spc="0">
                <a:solidFill>
                  <a:srgbClr val="111111"/>
                </a:solidFill>
                <a:latin typeface="Malgun Gothic"/>
                <a:ea typeface="Malgun Gothic"/>
              </a:rPr>
              <a:t>웨어리 서비스 기획서</a:t>
            </a:r>
            <a:r>
              <a:rPr lang="ko-KR" sz="1500" b="0" i="1" spc="0">
                <a:solidFill>
                  <a:srgbClr val="7B1E2B"/>
                </a:solidFill>
                <a:latin typeface="Georgia"/>
                <a:ea typeface="Malgun Gothic"/>
              </a:rPr>
              <a:t>   The Daily Stylist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3232" y="342900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3200" b="1" i="0" spc="0">
                <a:solidFill>
                  <a:srgbClr val="111111"/>
                </a:solidFill>
                <a:latin typeface="Malgun Gothic"/>
                <a:ea typeface="Malgun Gothic"/>
              </a:rPr>
              <a:t>오늘 뭐 입지?</a:t>
            </a:r>
          </a:p>
          <a:p>
            <a:pPr algn="l">
              <a:spcAft>
                <a:spcPts val="0"/>
              </a:spcAft>
            </a:pPr>
            <a:r>
              <a:rPr lang="ko-KR" sz="3200" b="1" i="0" spc="0">
                <a:solidFill>
                  <a:srgbClr val="111111"/>
                </a:solidFill>
                <a:latin typeface="Malgun Gothic"/>
                <a:ea typeface="Malgun Gothic"/>
              </a:rPr>
              <a:t>이제 고민 끝.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1520" y="46177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600" b="0" i="0" spc="0">
                <a:solidFill>
                  <a:srgbClr val="5C5C5C"/>
                </a:solidFill>
                <a:latin typeface="Malgun Gothic"/>
                <a:ea typeface="Malgun Gothic"/>
              </a:rPr>
              <a:t>내 옷으로 완성하는 오늘의 코디.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685800" y="5897880"/>
            <a:ext cx="6400800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9" name="TextBox 9"/>
          <p:cNvSpPr txBox="1"/>
          <p:nvPr/>
        </p:nvSpPr>
        <p:spPr>
          <a:xfrm>
            <a:off x="685800" y="60350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50" b="0" i="0" spc="0">
                <a:solidFill>
                  <a:srgbClr val="5C5C5C"/>
                </a:solidFill>
                <a:latin typeface="Malgun Gothic"/>
                <a:ea typeface="Malgun Gothic"/>
              </a:rPr>
              <a:t>모바일 웹앱(PWA)  ·  직장인 출근 코디 중심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0600" y="603504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50" b="0" i="0" spc="0">
                <a:solidFill>
                  <a:srgbClr val="5C5C5C"/>
                </a:solidFill>
                <a:latin typeface="Malgun Gothic"/>
                <a:ea typeface="Malgun Gothic"/>
              </a:rPr>
              <a:t>기획 초안  |  2026.10</a:t>
            </a:r>
          </a:p>
        </p:txBody>
      </p:sp>
      <p:sp>
        <p:nvSpPr>
          <p:cNvPr id="11" name="Shape 11"/>
          <p:cNvSpPr/>
          <p:nvPr/>
        </p:nvSpPr>
        <p:spPr>
          <a:xfrm>
            <a:off x="7726680" y="0"/>
            <a:ext cx="4465015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2"/>
          <p:cNvSpPr txBox="1"/>
          <p:nvPr/>
        </p:nvSpPr>
        <p:spPr>
          <a:xfrm>
            <a:off x="8183880" y="548640"/>
            <a:ext cx="355061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400">
                <a:solidFill>
                  <a:srgbClr val="D5B990"/>
                </a:solidFill>
                <a:latin typeface="Georgia"/>
                <a:ea typeface="Malgun Gothic"/>
              </a:rPr>
              <a:t>THE DAILY STYLIST</a:t>
            </a:r>
          </a:p>
        </p:txBody>
      </p:sp>
      <p:cxnSp>
        <p:nvCxnSpPr>
          <p:cNvPr id="13" name="Connector 13"/>
          <p:cNvCxnSpPr/>
          <p:nvPr/>
        </p:nvCxnSpPr>
        <p:spPr>
          <a:xfrm>
            <a:off x="9959188" y="1252728"/>
            <a:ext cx="0" cy="301752"/>
          </a:xfrm>
          <a:prstGeom prst="line">
            <a:avLst/>
          </a:prstGeom>
          <a:ln w="22225">
            <a:solidFill>
              <a:srgbClr val="FFFFFF"/>
            </a:solidFill>
          </a:ln>
        </p:spPr>
      </p:cxnSp>
      <p:cxnSp>
        <p:nvCxnSpPr>
          <p:cNvPr id="14" name="Connector 14"/>
          <p:cNvCxnSpPr/>
          <p:nvPr/>
        </p:nvCxnSpPr>
        <p:spPr>
          <a:xfrm flipV="1">
            <a:off x="9959188" y="1124712"/>
            <a:ext cx="155448" cy="128016"/>
          </a:xfrm>
          <a:prstGeom prst="line">
            <a:avLst/>
          </a:prstGeom>
          <a:ln w="22225">
            <a:solidFill>
              <a:srgbClr val="FFFFFF"/>
            </a:solidFill>
          </a:ln>
        </p:spPr>
      </p:cxnSp>
      <p:cxnSp>
        <p:nvCxnSpPr>
          <p:cNvPr id="15" name="Connector 15"/>
          <p:cNvCxnSpPr/>
          <p:nvPr/>
        </p:nvCxnSpPr>
        <p:spPr>
          <a:xfrm>
            <a:off x="10114636" y="1124712"/>
            <a:ext cx="91440" cy="91440"/>
          </a:xfrm>
          <a:prstGeom prst="line">
            <a:avLst/>
          </a:prstGeom>
          <a:ln w="22225">
            <a:solidFill>
              <a:srgbClr val="FFFFFF"/>
            </a:solidFill>
          </a:ln>
        </p:spPr>
      </p:cxnSp>
      <p:cxnSp>
        <p:nvCxnSpPr>
          <p:cNvPr id="16" name="Connector 16"/>
          <p:cNvCxnSpPr/>
          <p:nvPr/>
        </p:nvCxnSpPr>
        <p:spPr>
          <a:xfrm flipH="1">
            <a:off x="8999068" y="1554480"/>
            <a:ext cx="960120" cy="640080"/>
          </a:xfrm>
          <a:prstGeom prst="line">
            <a:avLst/>
          </a:prstGeom>
          <a:ln w="22225">
            <a:solidFill>
              <a:srgbClr val="FFFFFF"/>
            </a:solidFill>
          </a:ln>
        </p:spPr>
      </p:cxnSp>
      <p:cxnSp>
        <p:nvCxnSpPr>
          <p:cNvPr id="17" name="Connector 17"/>
          <p:cNvCxnSpPr/>
          <p:nvPr/>
        </p:nvCxnSpPr>
        <p:spPr>
          <a:xfrm flipH="1" flipV="1">
            <a:off x="9959188" y="1554480"/>
            <a:ext cx="960120" cy="640080"/>
          </a:xfrm>
          <a:prstGeom prst="line">
            <a:avLst/>
          </a:prstGeom>
          <a:ln w="22225">
            <a:solidFill>
              <a:srgbClr val="FFFFFF"/>
            </a:solidFill>
          </a:ln>
        </p:spPr>
      </p:cxnSp>
      <p:cxnSp>
        <p:nvCxnSpPr>
          <p:cNvPr id="18" name="Connector 18"/>
          <p:cNvCxnSpPr/>
          <p:nvPr/>
        </p:nvCxnSpPr>
        <p:spPr>
          <a:xfrm>
            <a:off x="8999068" y="2194560"/>
            <a:ext cx="1920240" cy="0"/>
          </a:xfrm>
          <a:prstGeom prst="line">
            <a:avLst/>
          </a:prstGeom>
          <a:ln w="22225">
            <a:solidFill>
              <a:srgbClr val="FFFFFF"/>
            </a:solidFill>
          </a:ln>
        </p:spPr>
      </p:cxnSp>
      <p:cxnSp>
        <p:nvCxnSpPr>
          <p:cNvPr id="19" name="Connector 19"/>
          <p:cNvCxnSpPr/>
          <p:nvPr/>
        </p:nvCxnSpPr>
        <p:spPr>
          <a:xfrm>
            <a:off x="8183880" y="2697480"/>
            <a:ext cx="3550615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20" name="TextBox 20"/>
          <p:cNvSpPr txBox="1"/>
          <p:nvPr/>
        </p:nvSpPr>
        <p:spPr>
          <a:xfrm>
            <a:off x="8183880" y="2788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D5B990"/>
                </a:solidFill>
                <a:latin typeface="Georgia"/>
                <a:ea typeface="Malgun Gothic"/>
              </a:rPr>
              <a:t>01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41080" y="2761488"/>
            <a:ext cx="30934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400" b="0" i="1" spc="0">
                <a:solidFill>
                  <a:srgbClr val="FFFFFF"/>
                </a:solidFill>
                <a:latin typeface="Georgia"/>
                <a:ea typeface="Malgun Gothic"/>
              </a:rPr>
              <a:t>Brand Concept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41080" y="3026664"/>
            <a:ext cx="309341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A8A8A8"/>
                </a:solidFill>
                <a:latin typeface="Malgun Gothic"/>
                <a:ea typeface="Malgun Gothic"/>
              </a:rPr>
              <a:t>브랜드 컨셉 · 메시지</a:t>
            </a:r>
          </a:p>
        </p:txBody>
      </p:sp>
      <p:cxnSp>
        <p:nvCxnSpPr>
          <p:cNvPr id="23" name="Connector 23"/>
          <p:cNvCxnSpPr/>
          <p:nvPr/>
        </p:nvCxnSpPr>
        <p:spPr>
          <a:xfrm>
            <a:off x="8183880" y="3246120"/>
            <a:ext cx="3550615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24" name="TextBox 24"/>
          <p:cNvSpPr txBox="1"/>
          <p:nvPr/>
        </p:nvSpPr>
        <p:spPr>
          <a:xfrm>
            <a:off x="8183880" y="33375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D5B990"/>
                </a:solidFill>
                <a:latin typeface="Georgia"/>
                <a:ea typeface="Malgun Gothic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41080" y="3310128"/>
            <a:ext cx="30934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400" b="0" i="1" spc="0">
                <a:solidFill>
                  <a:srgbClr val="FFFFFF"/>
                </a:solidFill>
                <a:latin typeface="Georgia"/>
                <a:ea typeface="Malgun Gothic"/>
              </a:rPr>
              <a:t>Service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641080" y="3575304"/>
            <a:ext cx="309341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A8A8A8"/>
                </a:solidFill>
                <a:latin typeface="Malgun Gothic"/>
                <a:ea typeface="Malgun Gothic"/>
              </a:rPr>
              <a:t>서비스 개요 · 원칙 · MVP</a:t>
            </a:r>
          </a:p>
        </p:txBody>
      </p:sp>
      <p:cxnSp>
        <p:nvCxnSpPr>
          <p:cNvPr id="27" name="Connector 27"/>
          <p:cNvCxnSpPr/>
          <p:nvPr/>
        </p:nvCxnSpPr>
        <p:spPr>
          <a:xfrm>
            <a:off x="8183880" y="3794760"/>
            <a:ext cx="3550615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28" name="TextBox 28"/>
          <p:cNvSpPr txBox="1"/>
          <p:nvPr/>
        </p:nvSpPr>
        <p:spPr>
          <a:xfrm>
            <a:off x="8183880" y="38862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D5B990"/>
                </a:solidFill>
                <a:latin typeface="Georgia"/>
                <a:ea typeface="Malgun Gothic"/>
              </a:rPr>
              <a:t>03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41080" y="3858768"/>
            <a:ext cx="30934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400" b="0" i="1" spc="0">
                <a:solidFill>
                  <a:srgbClr val="FFFFFF"/>
                </a:solidFill>
                <a:latin typeface="Georgia"/>
                <a:ea typeface="Malgun Gothic"/>
              </a:rPr>
              <a:t>UX &amp; Screens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641080" y="4123944"/>
            <a:ext cx="309341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A8A8A8"/>
                </a:solidFill>
                <a:latin typeface="Malgun Gothic"/>
                <a:ea typeface="Malgun Gothic"/>
              </a:rPr>
              <a:t>오늘·예정일 코디 · 데일리 기록</a:t>
            </a:r>
          </a:p>
        </p:txBody>
      </p:sp>
      <p:cxnSp>
        <p:nvCxnSpPr>
          <p:cNvPr id="31" name="Connector 31"/>
          <p:cNvCxnSpPr/>
          <p:nvPr/>
        </p:nvCxnSpPr>
        <p:spPr>
          <a:xfrm>
            <a:off x="8183880" y="4343400"/>
            <a:ext cx="3550615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32" name="TextBox 32"/>
          <p:cNvSpPr txBox="1"/>
          <p:nvPr/>
        </p:nvSpPr>
        <p:spPr>
          <a:xfrm>
            <a:off x="8183880" y="4434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D5B990"/>
                </a:solidFill>
                <a:latin typeface="Georgia"/>
                <a:ea typeface="Malgun Gothic"/>
              </a:rPr>
              <a:t>04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41080" y="4407408"/>
            <a:ext cx="30934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400" b="0" i="1" spc="0">
                <a:solidFill>
                  <a:srgbClr val="FFFFFF"/>
                </a:solidFill>
                <a:latin typeface="Georgia"/>
                <a:ea typeface="Malgun Gothic"/>
              </a:rPr>
              <a:t>Recommendation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641080" y="4672584"/>
            <a:ext cx="309341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A8A8A8"/>
                </a:solidFill>
                <a:latin typeface="Malgun Gothic"/>
                <a:ea typeface="Malgun Gothic"/>
              </a:rPr>
              <a:t>추천 엔진 · 코디 진단 · 옷장 분석</a:t>
            </a:r>
          </a:p>
        </p:txBody>
      </p:sp>
      <p:cxnSp>
        <p:nvCxnSpPr>
          <p:cNvPr id="35" name="Connector 35"/>
          <p:cNvCxnSpPr/>
          <p:nvPr/>
        </p:nvCxnSpPr>
        <p:spPr>
          <a:xfrm>
            <a:off x="8183880" y="4892040"/>
            <a:ext cx="3550615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36" name="TextBox 36"/>
          <p:cNvSpPr txBox="1"/>
          <p:nvPr/>
        </p:nvSpPr>
        <p:spPr>
          <a:xfrm>
            <a:off x="8183880" y="49834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D5B990"/>
                </a:solidFill>
                <a:latin typeface="Georgia"/>
                <a:ea typeface="Malgun Gothic"/>
              </a:rPr>
              <a:t>05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41080" y="4956048"/>
            <a:ext cx="30934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400" b="0" i="1" spc="0">
                <a:solidFill>
                  <a:srgbClr val="FFFFFF"/>
                </a:solidFill>
                <a:latin typeface="Georgia"/>
                <a:ea typeface="Malgun Gothic"/>
              </a:rPr>
              <a:t>Architecture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641080" y="5221224"/>
            <a:ext cx="309341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A8A8A8"/>
                </a:solidFill>
                <a:latin typeface="Malgun Gothic"/>
                <a:ea typeface="Malgun Gothic"/>
              </a:rPr>
              <a:t>데이터 · API · PWA</a:t>
            </a:r>
          </a:p>
        </p:txBody>
      </p:sp>
      <p:cxnSp>
        <p:nvCxnSpPr>
          <p:cNvPr id="39" name="Connector 39"/>
          <p:cNvCxnSpPr/>
          <p:nvPr/>
        </p:nvCxnSpPr>
        <p:spPr>
          <a:xfrm>
            <a:off x="8183880" y="5440680"/>
            <a:ext cx="3550615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40" name="TextBox 40"/>
          <p:cNvSpPr txBox="1"/>
          <p:nvPr/>
        </p:nvSpPr>
        <p:spPr>
          <a:xfrm>
            <a:off x="8183880" y="55321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D5B990"/>
                </a:solidFill>
                <a:latin typeface="Georgia"/>
                <a:ea typeface="Malgun Gothic"/>
              </a:rPr>
              <a:t>06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641080" y="5504688"/>
            <a:ext cx="30934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400" b="0" i="1" spc="0">
                <a:solidFill>
                  <a:srgbClr val="FFFFFF"/>
                </a:solidFill>
                <a:latin typeface="Georgia"/>
                <a:ea typeface="Malgun Gothic"/>
              </a:rPr>
              <a:t>Roadmap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641080" y="5769864"/>
            <a:ext cx="309341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A8A8A8"/>
                </a:solidFill>
                <a:latin typeface="Malgun Gothic"/>
                <a:ea typeface="Malgun Gothic"/>
              </a:rPr>
              <a:t>로드맵 · 검증 지표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183880" y="6263640"/>
            <a:ext cx="355061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0" spc="200">
                <a:solidFill>
                  <a:srgbClr val="D5B990"/>
                </a:solidFill>
                <a:latin typeface="Georgia"/>
                <a:ea typeface="Malgun Gothic"/>
              </a:rPr>
              <a:t>N°01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B1E2B"/>
                </a:solidFill>
                <a:latin typeface="Georgia"/>
              </a:rPr>
              <a:t>N°02  </a:t>
            </a:r>
            <a:r>
              <a:rPr lang="en-US" sz="900" b="0" i="1">
                <a:solidFill>
                  <a:srgbClr val="7B1E2B"/>
                </a:solidFill>
                <a:latin typeface="Georgia"/>
              </a:rPr>
              <a:t>Service</a:t>
            </a:r>
            <a:r>
              <a:rPr lang="ko-KR" sz="900" b="0" i="0">
                <a:solidFill>
                  <a:srgbClr val="8E8E8E"/>
                </a:solidFill>
                <a:latin typeface="Malgun Gothic"/>
              </a:rPr>
              <a:t>   |   서비스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Malgun Gothic"/>
              </a:rPr>
              <a:t xml:space="preserve">서비스 </a:t>
            </a:r>
            <a:r>
              <a:rPr sz="3000" b="1" i="0">
                <a:solidFill>
                  <a:srgbClr val="7B1E2B"/>
                </a:solidFill>
                <a:latin typeface="Malgun Gothic"/>
              </a:rPr>
              <a:t xml:space="preserve">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‘오늘 뭐 입지?’ 고민을 끝내는 </a:t>
            </a:r>
            <a:r>
              <a:rPr sz="1100" b="1" i="0">
                <a:solidFill>
                  <a:srgbClr val="7B1E2B"/>
                </a:solidFill>
                <a:latin typeface="Malgun Gothic"/>
              </a:rPr>
              <a:t xml:space="preserve">나만의 옷장 스타일리스트</a:t>
            </a: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, 웨어리(Wearly)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510528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1">
                <a:solidFill>
                  <a:srgbClr val="5C5C5C"/>
                </a:solidFill>
                <a:latin typeface="Georgia"/>
              </a:rPr>
              <a:t>—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6517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020824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020824"/>
            <a:ext cx="1920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핵심 사용자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96312"/>
            <a:ext cx="2286000" cy="11155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출근복을 고민하는 직장인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비즈니스 캐주얼 중심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74519"/>
            <a:ext cx="26517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2020824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95928" y="2020824"/>
            <a:ext cx="192023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핵심 가치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496312"/>
            <a:ext cx="2286000" cy="11155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보유한 옷으로 코디 추천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새 옷 구매보다 활용 극대화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74519"/>
            <a:ext cx="26517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020824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2020824"/>
            <a:ext cx="192023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핵심 경험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96312"/>
            <a:ext cx="2286000" cy="11155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사진 등록 → AI 분석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추천 → 착용 기록 → AI 진단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874519"/>
            <a:ext cx="256032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1432" y="2020824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3767" y="2020824"/>
            <a:ext cx="1828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출시 형태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496312"/>
            <a:ext cx="2194560" cy="11155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모바일 웹앱(PWA)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React + Java/Spring Boot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69080"/>
            <a:ext cx="10927080" cy="1417320"/>
          </a:xfrm>
          <a:prstGeom prst="rect">
            <a:avLst/>
          </a:prstGeom>
          <a:solidFill>
            <a:srgbClr val="EEEBE0"/>
          </a:solidFill>
          <a:ln>
            <a:solidFill>
              <a:srgbClr val="EE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4340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PRODUCT PROMISE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99669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11111"/>
                </a:solidFill>
                <a:latin typeface="Malgun Gothic"/>
              </a:rPr>
              <a:t>내 옷으로 오늘의 코디를 완성하고, 매일의 기록으로 스타일을 진단·처방한다.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C5C5C"/>
                </a:solidFill>
                <a:latin typeface="Malgun Gothic"/>
              </a:rPr>
              <a:t>WEARLY  ·  The Daily Stylist  ·  기획 초안 2026</a:t>
            </a:r>
          </a:p>
        </p:txBody>
      </p:sp>
      <p:sp>
        <p:nvSpPr>
          <p:cNvPr id="501" name="TextBox 501"/>
          <p:cNvSpPr txBox="1"/>
          <p:nvPr/>
        </p:nvSpPr>
        <p:spPr>
          <a:xfrm>
            <a:off x="7680960" y="320040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B1E2B"/>
                </a:solidFill>
                <a:latin typeface="Georgia"/>
              </a:rPr>
              <a:t>N°02  </a:t>
            </a:r>
            <a:r>
              <a:rPr lang="en-US" sz="900" b="0" i="1">
                <a:solidFill>
                  <a:srgbClr val="7B1E2B"/>
                </a:solidFill>
                <a:latin typeface="Georgia"/>
              </a:rPr>
              <a:t>Service</a:t>
            </a:r>
            <a:r>
              <a:rPr lang="ko-KR" sz="900" b="0" i="0">
                <a:solidFill>
                  <a:srgbClr val="8E8E8E"/>
                </a:solidFill>
                <a:latin typeface="Malgun Gothic"/>
              </a:rPr>
              <a:t>   |   서비스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Malgun Gothic"/>
              </a:rPr>
              <a:t xml:space="preserve">해결할 </a:t>
            </a:r>
            <a:r>
              <a:rPr sz="3000" b="1" i="0">
                <a:solidFill>
                  <a:srgbClr val="7B1E2B"/>
                </a:solidFill>
                <a:latin typeface="Malgun Gothic"/>
              </a:rPr>
              <a:t xml:space="preserve">사용자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옷장은 가득한데, 입을 옷은 없다? — 출근 준비의 </a:t>
            </a:r>
            <a:r>
              <a:rPr sz="1100" b="1" i="0">
                <a:solidFill>
                  <a:srgbClr val="7B1E2B"/>
                </a:solidFill>
                <a:latin typeface="Malgun Gothic"/>
              </a:rPr>
              <a:t xml:space="preserve">반복적인 결정 피로</a:t>
            </a: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를 해결한다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510528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1">
                <a:solidFill>
                  <a:srgbClr val="5C5C5C"/>
                </a:solidFill>
                <a:latin typeface="Georgia"/>
              </a:rPr>
              <a:t>—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38328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57984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157984"/>
            <a:ext cx="26517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옷장은 가득한데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3017520" cy="125272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C5C5C"/>
                </a:solidFill>
                <a:latin typeface="Malgun Gothic"/>
              </a:defRPr>
            </a:pPr>
            <a:r>
              <a:t>• 입을 조합이 떠오르지 않는다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011680"/>
            <a:ext cx="338328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2157984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768" y="2157984"/>
            <a:ext cx="26517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매일 비슷하게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33472"/>
            <a:ext cx="3017520" cy="125272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C5C5C"/>
                </a:solidFill>
                <a:latin typeface="Malgun Gothic"/>
              </a:defRPr>
            </a:pPr>
            <a:r>
              <a:t>• 늘 같은 옷과 조합만 반복한다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011680"/>
            <a:ext cx="338328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157984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2157984"/>
            <a:ext cx="26517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상황 판단이 어려움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33472"/>
            <a:ext cx="3017520" cy="125272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C5C5C"/>
                </a:solidFill>
                <a:latin typeface="Malgun Gothic"/>
              </a:defRPr>
            </a:pPr>
            <a:r>
              <a:t>• 날씨·회의·외근에 맞춰 입기 어렵다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80560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7B1E2B"/>
                </a:solidFill>
                <a:latin typeface="Malgun Gothic"/>
              </a:rPr>
              <a:t>서비스가 제공할 변화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4864608"/>
            <a:ext cx="10607040" cy="0"/>
          </a:xfrm>
          <a:prstGeom prst="line">
            <a:avLst/>
          </a:prstGeom>
          <a:ln w="15240">
            <a:solidFill>
              <a:srgbClr val="CFCB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5138928"/>
            <a:ext cx="33832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Malgun Gothic"/>
              </a:rPr>
              <a:t>결정 시간 단축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5138928"/>
            <a:ext cx="33832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Malgun Gothic"/>
              </a:rPr>
              <a:t>보유 옷 활용도 향상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138928"/>
            <a:ext cx="33832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Malgun Gothic"/>
              </a:rPr>
              <a:t>개인 취향에 맞는 추천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C5C5C"/>
                </a:solidFill>
                <a:latin typeface="Malgun Gothic"/>
              </a:rPr>
              <a:t>WEARLY  ·  The Daily Stylist  ·  기획 초안 2026</a:t>
            </a:r>
          </a:p>
        </p:txBody>
      </p:sp>
      <p:sp>
        <p:nvSpPr>
          <p:cNvPr id="501" name="TextBox 501"/>
          <p:cNvSpPr txBox="1"/>
          <p:nvPr/>
        </p:nvSpPr>
        <p:spPr>
          <a:xfrm>
            <a:off x="7680960" y="320040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B1E2B"/>
                </a:solidFill>
                <a:latin typeface="Georgia"/>
              </a:rPr>
              <a:t>N°02  </a:t>
            </a:r>
            <a:r>
              <a:rPr lang="en-US" sz="900" b="0" i="1">
                <a:solidFill>
                  <a:srgbClr val="7B1E2B"/>
                </a:solidFill>
                <a:latin typeface="Georgia"/>
              </a:rPr>
              <a:t>Service</a:t>
            </a:r>
            <a:r>
              <a:rPr lang="ko-KR" sz="900" b="0" i="0">
                <a:solidFill>
                  <a:srgbClr val="8E8E8E"/>
                </a:solidFill>
                <a:latin typeface="Malgun Gothic"/>
              </a:rPr>
              <a:t>   |   서비스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Malgun Gothic"/>
              </a:rPr>
              <a:t xml:space="preserve">서비스 원칙과 </a:t>
            </a:r>
            <a:r>
              <a:rPr sz="3000" b="1" i="0">
                <a:solidFill>
                  <a:srgbClr val="7B1E2B"/>
                </a:solidFill>
                <a:latin typeface="Malgun Gothic"/>
              </a:rPr>
              <a:t xml:space="preserve">차별화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기능의 수보다 실제 사용자가 </a:t>
            </a:r>
            <a:r>
              <a:rPr sz="1100" b="1" i="0">
                <a:solidFill>
                  <a:srgbClr val="7B1E2B"/>
                </a:solidFill>
                <a:latin typeface="Malgun Gothic"/>
              </a:rPr>
              <a:t xml:space="preserve">매일 쓰게 만드는 경험</a:t>
            </a: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에 집중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510528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1">
                <a:solidFill>
                  <a:srgbClr val="5C5C5C"/>
                </a:solidFill>
                <a:latin typeface="Georgia"/>
              </a:rPr>
              <a:t>—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663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65376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865376"/>
            <a:ext cx="44348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추천이 먼저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67712"/>
            <a:ext cx="4800600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초기 등록 부담을 낮추고, 적은 아이템으로도 첫 코디 경험 제공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51663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1865376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1865376"/>
            <a:ext cx="44348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내 옷 중심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67712"/>
            <a:ext cx="4800600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실제로 보유한 아이템 ID를 기준으로 코디를 구성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898648"/>
            <a:ext cx="51663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026664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026664"/>
            <a:ext cx="44348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추천 이유 설명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29000"/>
            <a:ext cx="4800600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날씨·상황·색상 조화 등 추천 근거를 간단히 안내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898648"/>
            <a:ext cx="51663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1" y="3026664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026664"/>
            <a:ext cx="44348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선택을 학습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429000"/>
            <a:ext cx="4800600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좋아요·교체·착용 기록을 다음 추천에 반영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733288"/>
            <a:ext cx="10698480" cy="457200"/>
          </a:xfrm>
          <a:prstGeom prst="rect">
            <a:avLst/>
          </a:prstGeom>
          <a:solidFill>
            <a:srgbClr val="ECE9E4"/>
          </a:solidFill>
          <a:ln>
            <a:solidFill>
              <a:srgbClr val="EC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824728"/>
            <a:ext cx="10241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Malgun Gothic"/>
              </a:rPr>
              <a:t>새 옷을 사기 전에, 내 옷장부터 — 보유 아이템 × 출근 상황 × 날씨 × 착용 이력 × 꼭 맞는 새 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C5C5C"/>
                </a:solidFill>
                <a:latin typeface="Malgun Gothic"/>
              </a:rPr>
              <a:t>WEARLY  ·  The Daily Stylist  ·  기획 초안 2026</a:t>
            </a:r>
          </a:p>
        </p:txBody>
      </p:sp>
      <p:sp>
        <p:nvSpPr>
          <p:cNvPr id="101" name="Shape 101"/>
          <p:cNvSpPr/>
          <p:nvPr/>
        </p:nvSpPr>
        <p:spPr>
          <a:xfrm>
            <a:off x="731520" y="4069080"/>
            <a:ext cx="5166360" cy="1417320"/>
          </a:xfrm>
          <a:prstGeom prst="rect">
            <a:avLst/>
          </a:prstGeom>
          <a:solidFill>
            <a:srgbClr val="EEEBE0"/>
          </a:solidFill>
          <a:ln>
            <a:solidFill>
              <a:srgbClr val="D5B9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2"/>
          <p:cNvSpPr txBox="1"/>
          <p:nvPr/>
        </p:nvSpPr>
        <p:spPr>
          <a:xfrm>
            <a:off x="896112" y="4206240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000" b="1" i="0">
                <a:solidFill>
                  <a:srgbClr val="7B1E2B"/>
                </a:solidFill>
                <a:latin typeface="Georgia"/>
                <a:ea typeface="Malgun Gothic"/>
              </a:rPr>
              <a:t>05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298448" y="4169664"/>
            <a:ext cx="4389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500" b="1" i="0">
                <a:solidFill>
                  <a:srgbClr val="111111"/>
                </a:solidFill>
                <a:latin typeface="Malgun Gothic"/>
                <a:ea typeface="Malgun Gothic"/>
              </a:rPr>
              <a:t>내 옷 → 새 옷 추천</a:t>
            </a:r>
            <a:r>
              <a:rPr lang="ko-KR" sz="900" b="1" i="0">
                <a:solidFill>
                  <a:srgbClr val="7B1E2B"/>
                </a:solidFill>
                <a:latin typeface="Georgia"/>
                <a:ea typeface="Malgun Gothic"/>
              </a:rPr>
              <a:t>   NEW</a:t>
            </a:r>
          </a:p>
        </p:txBody>
      </p:sp>
      <p:sp>
        <p:nvSpPr>
          <p:cNvPr id="104" name="Shape 104"/>
          <p:cNvSpPr/>
          <p:nvPr/>
        </p:nvSpPr>
        <p:spPr>
          <a:xfrm>
            <a:off x="960120" y="4572000"/>
            <a:ext cx="1371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5"/>
          <p:cNvSpPr txBox="1"/>
          <p:nvPr/>
        </p:nvSpPr>
        <p:spPr>
          <a:xfrm>
            <a:off x="960120" y="4590288"/>
            <a:ext cx="13716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ko-KR" sz="750" b="1" i="0">
                <a:solidFill>
                  <a:srgbClr val="7B1E2B"/>
                </a:solidFill>
                <a:latin typeface="Georgia"/>
                <a:ea typeface="Malgun Gothic"/>
              </a:rPr>
              <a:t>MY CLOSET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960120" y="4773168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ko-KR" sz="1050" b="1" i="0">
                <a:solidFill>
                  <a:srgbClr val="111111"/>
                </a:solidFill>
                <a:latin typeface="Malgun Gothic"/>
                <a:ea typeface="Malgun Gothic"/>
              </a:rPr>
              <a:t>스커트 선택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2331720" y="4663440"/>
            <a:ext cx="2926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ko-KR" sz="1200" b="1" i="0">
                <a:solidFill>
                  <a:srgbClr val="7B1E2B"/>
                </a:solidFill>
                <a:latin typeface="Georgia"/>
                <a:ea typeface="Malgun Gothic"/>
              </a:rPr>
              <a:t>→</a:t>
            </a:r>
          </a:p>
        </p:txBody>
      </p:sp>
      <p:sp>
        <p:nvSpPr>
          <p:cNvPr id="108" name="Shape 108"/>
          <p:cNvSpPr/>
          <p:nvPr/>
        </p:nvSpPr>
        <p:spPr>
          <a:xfrm>
            <a:off x="2624328" y="4572000"/>
            <a:ext cx="1371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9"/>
          <p:cNvSpPr txBox="1"/>
          <p:nvPr/>
        </p:nvSpPr>
        <p:spPr>
          <a:xfrm>
            <a:off x="2624328" y="4590288"/>
            <a:ext cx="13716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ko-KR" sz="750" b="1" i="0">
                <a:solidFill>
                  <a:srgbClr val="7B1E2B"/>
                </a:solidFill>
                <a:latin typeface="Georgia"/>
                <a:ea typeface="Malgun Gothic"/>
              </a:rPr>
              <a:t>AI 매칭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2624328" y="4773168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ko-KR" sz="1050" b="1" i="0">
                <a:solidFill>
                  <a:srgbClr val="111111"/>
                </a:solidFill>
                <a:latin typeface="Malgun Gothic"/>
                <a:ea typeface="Malgun Gothic"/>
              </a:rPr>
              <a:t>스타일 분석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3995928" y="4663440"/>
            <a:ext cx="2926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ko-KR" sz="1200" b="1" i="0">
                <a:solidFill>
                  <a:srgbClr val="7B1E2B"/>
                </a:solidFill>
                <a:latin typeface="Georgia"/>
                <a:ea typeface="Malgun Gothic"/>
              </a:rPr>
              <a:t>→</a:t>
            </a:r>
          </a:p>
        </p:txBody>
      </p:sp>
      <p:sp>
        <p:nvSpPr>
          <p:cNvPr id="112" name="Shape 112"/>
          <p:cNvSpPr/>
          <p:nvPr/>
        </p:nvSpPr>
        <p:spPr>
          <a:xfrm>
            <a:off x="4288536" y="4572000"/>
            <a:ext cx="1371600" cy="5029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3"/>
          <p:cNvSpPr txBox="1"/>
          <p:nvPr/>
        </p:nvSpPr>
        <p:spPr>
          <a:xfrm>
            <a:off x="4288536" y="4590288"/>
            <a:ext cx="13716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ko-KR" sz="750" b="1" i="0">
                <a:solidFill>
                  <a:srgbClr val="D5B990"/>
                </a:solidFill>
                <a:latin typeface="Georgia"/>
                <a:ea typeface="Malgun Gothic"/>
              </a:rPr>
              <a:t>NEW PICK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4288536" y="4773168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ko-KR" sz="1050" b="1" i="0">
                <a:solidFill>
                  <a:srgbClr val="FFFFFF"/>
                </a:solidFill>
                <a:latin typeface="Malgun Gothic"/>
                <a:ea typeface="Malgun Gothic"/>
              </a:rPr>
              <a:t>어울리는 상의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914400" y="5138928"/>
            <a:ext cx="4800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00" b="0" i="0">
                <a:solidFill>
                  <a:srgbClr val="5C5C5C"/>
                </a:solidFill>
                <a:latin typeface="Malgun Gothic"/>
                <a:ea typeface="Malgun Gothic"/>
              </a:rPr>
              <a:t>옷장 아이템에 어울리는 새 옷 제안 — 꼭 필요한 한 벌만</a:t>
            </a:r>
          </a:p>
        </p:txBody>
      </p:sp>
      <p:sp>
        <p:nvSpPr>
          <p:cNvPr id="116" name="Shape 116"/>
          <p:cNvSpPr/>
          <p:nvPr/>
        </p:nvSpPr>
        <p:spPr>
          <a:xfrm>
            <a:off x="6263640" y="4069080"/>
            <a:ext cx="5166360" cy="1417320"/>
          </a:xfrm>
          <a:prstGeom prst="rect">
            <a:avLst/>
          </a:prstGeom>
          <a:solidFill>
            <a:srgbClr val="EEEBE0"/>
          </a:solidFill>
          <a:ln>
            <a:solidFill>
              <a:srgbClr val="D5B9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TextBox 117"/>
          <p:cNvSpPr txBox="1"/>
          <p:nvPr/>
        </p:nvSpPr>
        <p:spPr>
          <a:xfrm>
            <a:off x="6428232" y="4206240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000" b="1" i="0">
                <a:solidFill>
                  <a:srgbClr val="7B1E2B"/>
                </a:solidFill>
                <a:latin typeface="Georgia"/>
                <a:ea typeface="Malgun Gothic"/>
              </a:rPr>
              <a:t>06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6830568" y="4169664"/>
            <a:ext cx="4389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500" b="1" i="0">
                <a:solidFill>
                  <a:srgbClr val="111111"/>
                </a:solidFill>
                <a:latin typeface="Malgun Gothic"/>
                <a:ea typeface="Malgun Gothic"/>
              </a:rPr>
              <a:t>새 옷 → 내 옷장 코디 미리보기</a:t>
            </a:r>
            <a:r>
              <a:rPr lang="ko-KR" sz="900" b="1" i="0">
                <a:solidFill>
                  <a:srgbClr val="7B1E2B"/>
                </a:solidFill>
                <a:latin typeface="Georgia"/>
                <a:ea typeface="Malgun Gothic"/>
              </a:rPr>
              <a:t>   NEW</a:t>
            </a:r>
          </a:p>
        </p:txBody>
      </p:sp>
      <p:sp>
        <p:nvSpPr>
          <p:cNvPr id="119" name="Shape 119"/>
          <p:cNvSpPr/>
          <p:nvPr/>
        </p:nvSpPr>
        <p:spPr>
          <a:xfrm>
            <a:off x="6492240" y="4572000"/>
            <a:ext cx="1371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20"/>
          <p:cNvSpPr txBox="1"/>
          <p:nvPr/>
        </p:nvSpPr>
        <p:spPr>
          <a:xfrm>
            <a:off x="6492240" y="4590288"/>
            <a:ext cx="13716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ko-KR" sz="750" b="1" i="0">
                <a:solidFill>
                  <a:srgbClr val="7B1E2B"/>
                </a:solidFill>
                <a:latin typeface="Georgia"/>
                <a:ea typeface="Malgun Gothic"/>
              </a:rPr>
              <a:t>NEW ITEM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6492240" y="4773168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ko-KR" sz="1050" b="1" i="0">
                <a:solidFill>
                  <a:srgbClr val="111111"/>
                </a:solidFill>
                <a:latin typeface="Malgun Gothic"/>
                <a:ea typeface="Malgun Gothic"/>
              </a:rPr>
              <a:t>새 신발 사진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7863840" y="4663440"/>
            <a:ext cx="2926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ko-KR" sz="1200" b="1" i="0">
                <a:solidFill>
                  <a:srgbClr val="7B1E2B"/>
                </a:solidFill>
                <a:latin typeface="Georgia"/>
                <a:ea typeface="Malgun Gothic"/>
              </a:rPr>
              <a:t>→</a:t>
            </a:r>
          </a:p>
        </p:txBody>
      </p:sp>
      <p:sp>
        <p:nvSpPr>
          <p:cNvPr id="123" name="Shape 123"/>
          <p:cNvSpPr/>
          <p:nvPr/>
        </p:nvSpPr>
        <p:spPr>
          <a:xfrm>
            <a:off x="8156448" y="4572000"/>
            <a:ext cx="1371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4"/>
          <p:cNvSpPr txBox="1"/>
          <p:nvPr/>
        </p:nvSpPr>
        <p:spPr>
          <a:xfrm>
            <a:off x="8156448" y="4590288"/>
            <a:ext cx="13716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ko-KR" sz="750" b="1" i="0">
                <a:solidFill>
                  <a:srgbClr val="7B1E2B"/>
                </a:solidFill>
                <a:latin typeface="Georgia"/>
                <a:ea typeface="Malgun Gothic"/>
              </a:rPr>
              <a:t>AI 매칭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8156448" y="4773168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ko-KR" sz="1050" b="1" i="0">
                <a:solidFill>
                  <a:srgbClr val="111111"/>
                </a:solidFill>
                <a:latin typeface="Malgun Gothic"/>
                <a:ea typeface="Malgun Gothic"/>
              </a:rPr>
              <a:t>내 옷장 매칭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9528048" y="4663440"/>
            <a:ext cx="2926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ko-KR" sz="1200" b="1" i="0">
                <a:solidFill>
                  <a:srgbClr val="7B1E2B"/>
                </a:solidFill>
                <a:latin typeface="Georgia"/>
                <a:ea typeface="Malgun Gothic"/>
              </a:rPr>
              <a:t>→</a:t>
            </a:r>
          </a:p>
        </p:txBody>
      </p:sp>
      <p:sp>
        <p:nvSpPr>
          <p:cNvPr id="127" name="Shape 127"/>
          <p:cNvSpPr/>
          <p:nvPr/>
        </p:nvSpPr>
        <p:spPr>
          <a:xfrm>
            <a:off x="9820656" y="4572000"/>
            <a:ext cx="1371600" cy="5029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8"/>
          <p:cNvSpPr txBox="1"/>
          <p:nvPr/>
        </p:nvSpPr>
        <p:spPr>
          <a:xfrm>
            <a:off x="9820656" y="4590288"/>
            <a:ext cx="13716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ko-KR" sz="750" b="1" i="0">
                <a:solidFill>
                  <a:srgbClr val="D5B990"/>
                </a:solidFill>
                <a:latin typeface="Georgia"/>
                <a:ea typeface="Malgun Gothic"/>
              </a:rPr>
              <a:t>PREVIEW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9820656" y="4773168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ko-KR" sz="1050" b="1" i="0">
                <a:solidFill>
                  <a:srgbClr val="FFFFFF"/>
                </a:solidFill>
                <a:latin typeface="Malgun Gothic"/>
                <a:ea typeface="Malgun Gothic"/>
              </a:rPr>
              <a:t>코디 미리보기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6446520" y="5138928"/>
            <a:ext cx="4800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00" b="0" i="0">
                <a:solidFill>
                  <a:srgbClr val="5C5C5C"/>
                </a:solidFill>
                <a:latin typeface="Malgun Gothic"/>
                <a:ea typeface="Malgun Gothic"/>
              </a:rPr>
              <a:t>구매 전, 내 옷과 만들 수 있는 코디를 확인하고 결정</a:t>
            </a:r>
          </a:p>
        </p:txBody>
      </p:sp>
      <p:sp>
        <p:nvSpPr>
          <p:cNvPr id="501" name="TextBox 501"/>
          <p:cNvSpPr txBox="1"/>
          <p:nvPr/>
        </p:nvSpPr>
        <p:spPr>
          <a:xfrm>
            <a:off x="7680960" y="320040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B1E2B"/>
                </a:solidFill>
                <a:latin typeface="Georgia"/>
              </a:rPr>
              <a:t>N°02  </a:t>
            </a:r>
            <a:r>
              <a:rPr lang="en-US" sz="900" b="0" i="1">
                <a:solidFill>
                  <a:srgbClr val="7B1E2B"/>
                </a:solidFill>
                <a:latin typeface="Georgia"/>
              </a:rPr>
              <a:t>Service</a:t>
            </a:r>
            <a:r>
              <a:rPr lang="ko-KR" sz="900" b="0" i="0">
                <a:solidFill>
                  <a:srgbClr val="8E8E8E"/>
                </a:solidFill>
                <a:latin typeface="Malgun Gothic"/>
              </a:rPr>
              <a:t>   |   제품 범위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Malgun Gothic"/>
              </a:rPr>
              <a:t xml:space="preserve">MVP 범위와 </a:t>
            </a:r>
            <a:r>
              <a:rPr sz="3000" b="1" i="0">
                <a:solidFill>
                  <a:srgbClr val="7B1E2B"/>
                </a:solidFill>
                <a:latin typeface="Malgun Gothic"/>
              </a:rPr>
              <a:t xml:space="preserve">우선순위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첫 출시에서는 </a:t>
            </a:r>
            <a:r>
              <a:rPr sz="1100" b="1" i="0">
                <a:solidFill>
                  <a:srgbClr val="7B1E2B"/>
                </a:solidFill>
                <a:latin typeface="Malgun Gothic"/>
              </a:rPr>
              <a:t xml:space="preserve">핵심 사용 흐름을 완성</a:t>
            </a: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하고, 확장 기능은 검증 후 추가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510528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1">
                <a:solidFill>
                  <a:srgbClr val="5C5C5C"/>
                </a:solidFill>
                <a:latin typeface="Georgia"/>
              </a:rPr>
              <a:t>—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520440" cy="3611880"/>
          </a:xfrm>
          <a:prstGeom prst="rect">
            <a:avLst/>
          </a:prstGeom>
          <a:solidFill>
            <a:srgbClr val="EEEBE0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75104"/>
            <a:ext cx="31729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P0 · 1차 출시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3154680" cy="28986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회원가입·로그인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옷·신발·가방·액세서리 등록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AI 종류·색상 분석 및 수정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옷장 목록·상세·수정·삭제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출근 코디 3개 추천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아이템 교체·코디 저장·피드백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PWA 설치·모바일 최적화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520440" cy="361188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75104"/>
            <a:ext cx="31729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P1 · 사용성 개선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450592"/>
            <a:ext cx="3154680" cy="28986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날씨 API 연동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회의·외근·회식 상황별 추천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예정일 코디 추천 (컨셉·상황·날씨 입력)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주간 코디 캘린더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내일·모레 코디 미리보기 (예보 기반)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착용 기록 및 반복 추천 방지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데일리 코디·만족도 기록 · 일별 진단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개인 선호 스타일 · 근무 패턴 설정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내 옷 바로 진단 (로컬 · 비회원)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화면 설정 (포인트 색 · 글자 크기)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28800"/>
            <a:ext cx="3520440" cy="361188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975104"/>
            <a:ext cx="31729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P2 · 고도화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450592"/>
            <a:ext cx="3154680" cy="28986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AI 스타일 상담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체형·핏 선호도 반영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주간·월간 코디 진단 · 처방 리포트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옷장 스타일 분석 · 추천·제안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구매 연계·프리미엄 구독 (등급 정책 p.33)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C5C5C"/>
                </a:solidFill>
                <a:latin typeface="Malgun Gothic"/>
              </a:rPr>
              <a:t>WEARLY  ·  The Daily Stylist  ·  기획 초안 2026</a:t>
            </a:r>
          </a:p>
        </p:txBody>
      </p:sp>
      <p:sp>
        <p:nvSpPr>
          <p:cNvPr id="501" name="TextBox 501"/>
          <p:cNvSpPr txBox="1"/>
          <p:nvPr/>
        </p:nvSpPr>
        <p:spPr>
          <a:xfrm>
            <a:off x="7680960" y="320040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B1E2B"/>
                </a:solidFill>
                <a:latin typeface="Georgia"/>
              </a:rPr>
              <a:t>N°03  </a:t>
            </a:r>
            <a:r>
              <a:rPr lang="en-US" sz="900" b="0" i="1">
                <a:solidFill>
                  <a:srgbClr val="7B1E2B"/>
                </a:solidFill>
                <a:latin typeface="Georgia"/>
              </a:rPr>
              <a:t>UX &amp; Screens</a:t>
            </a:r>
            <a:r>
              <a:rPr lang="ko-KR" sz="900" b="0" i="0">
                <a:solidFill>
                  <a:srgbClr val="8E8E8E"/>
                </a:solidFill>
                <a:latin typeface="Malgun Gothic"/>
              </a:rPr>
              <a:t>   |   UX·화면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7B1E2B"/>
                </a:solidFill>
                <a:latin typeface="Malgun Gothic"/>
              </a:rPr>
              <a:t xml:space="preserve">메뉴 구조</a:t>
            </a:r>
            <a:r>
              <a:rPr sz="3000" b="1" i="0">
                <a:solidFill>
                  <a:srgbClr val="111111"/>
                </a:solidFill>
                <a:latin typeface="Malgun Gothic"/>
              </a:rPr>
              <a:t xml:space="preserve">(IA)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하단 메뉴 5개, 핵심 동선은 </a:t>
            </a:r>
            <a:r>
              <a:rPr sz="1100" b="1" i="0">
                <a:solidFill>
                  <a:srgbClr val="7B1E2B"/>
                </a:solidFill>
                <a:latin typeface="Malgun Gothic"/>
              </a:rPr>
              <a:t xml:space="preserve">홈 → 옷장 → AI 코디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510528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1">
                <a:solidFill>
                  <a:srgbClr val="5C5C5C"/>
                </a:solidFill>
                <a:latin typeface="Georgia"/>
              </a:rPr>
              <a:t>—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2057400" cy="1965960"/>
          </a:xfrm>
          <a:prstGeom prst="rect">
            <a:avLst/>
          </a:prstGeom>
          <a:solidFill>
            <a:srgbClr val="ECE9E4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17830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Malgun Gothic"/>
              </a:rPr>
              <a:t>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127248"/>
            <a:ext cx="17830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Malgun Gothic"/>
              </a:rPr>
              <a:t>오늘의 추천
날씨·빠른 코디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5768" y="2880360"/>
            <a:ext cx="2560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7B1E2B"/>
                </a:solidFill>
                <a:latin typeface="Malgun Gothic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240280"/>
            <a:ext cx="205740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542032"/>
            <a:ext cx="17830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Malgun Gothic"/>
              </a:rPr>
              <a:t>내 옷장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127248"/>
            <a:ext cx="17830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Malgun Gothic"/>
              </a:rPr>
              <a:t>목록·등록·수정
옷장 스타일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880360"/>
            <a:ext cx="2560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7B1E2B"/>
                </a:solidFill>
                <a:latin typeface="Malgun Gothic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85231" y="2240280"/>
            <a:ext cx="2057400" cy="1965960"/>
          </a:xfrm>
          <a:prstGeom prst="rect">
            <a:avLst/>
          </a:prstGeom>
          <a:solidFill>
            <a:srgbClr val="EEEBE0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22392" y="2542032"/>
            <a:ext cx="17830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Malgun Gothic"/>
              </a:rPr>
              <a:t>AI 코디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2392" y="3127248"/>
            <a:ext cx="17830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Malgun Gothic"/>
              </a:rPr>
              <a:t>오늘 · 예정일 추천
아이템 교체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2631" y="2880360"/>
            <a:ext cx="2560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7B1E2B"/>
                </a:solidFill>
                <a:latin typeface="Malgun Gothic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98664" y="2240280"/>
            <a:ext cx="205740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4" y="2542032"/>
            <a:ext cx="17830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Malgun Gothic"/>
              </a:rPr>
              <a:t>코디 캘린더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35824" y="3127248"/>
            <a:ext cx="17830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Malgun Gothic"/>
              </a:rPr>
              <a:t>예정일 코디
기록·만족도·진단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56064" y="2880360"/>
            <a:ext cx="2560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7B1E2B"/>
                </a:solidFill>
                <a:latin typeface="Malgun Gothic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12096" y="2240280"/>
            <a:ext cx="205740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2542032"/>
            <a:ext cx="17830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Malgun Gothic"/>
              </a:rPr>
              <a:t>마이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9256" y="3127248"/>
            <a:ext cx="17830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Malgun Gothic"/>
              </a:rPr>
              <a:t>스타일·화면 설정
계정·개인정보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754880"/>
            <a:ext cx="10561320" cy="822960"/>
          </a:xfrm>
          <a:prstGeom prst="rect">
            <a:avLst/>
          </a:prstGeom>
          <a:solidFill>
            <a:srgbClr val="EEEBE0"/>
          </a:solidFill>
          <a:ln>
            <a:solidFill>
              <a:srgbClr val="EE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956048"/>
            <a:ext cx="100126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Malgun Gothic"/>
              </a:rPr>
              <a:t>핵심 화면은 ‘오늘의 코디’와 ‘옷 사진 등록’ — 추천 경험을 빠르게 제공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C5C5C"/>
                </a:solidFill>
                <a:latin typeface="Malgun Gothic"/>
              </a:rPr>
              <a:t>WEARLY  ·  The Daily Stylist  ·  기획 초안 2026</a:t>
            </a:r>
          </a:p>
        </p:txBody>
      </p:sp>
      <p:sp>
        <p:nvSpPr>
          <p:cNvPr id="501" name="TextBox 501"/>
          <p:cNvSpPr txBox="1"/>
          <p:nvPr/>
        </p:nvSpPr>
        <p:spPr>
          <a:xfrm>
            <a:off x="7680960" y="320040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B1E2B"/>
                </a:solidFill>
                <a:latin typeface="Georgia"/>
              </a:rPr>
              <a:t>N°03  </a:t>
            </a:r>
            <a:r>
              <a:rPr lang="en-US" sz="900" b="0" i="1">
                <a:solidFill>
                  <a:srgbClr val="7B1E2B"/>
                </a:solidFill>
                <a:latin typeface="Georgia"/>
              </a:rPr>
              <a:t>UX &amp; Screens</a:t>
            </a:r>
            <a:r>
              <a:rPr lang="ko-KR" sz="900" b="0" i="0">
                <a:solidFill>
                  <a:srgbClr val="8E8E8E"/>
                </a:solidFill>
                <a:latin typeface="Malgun Gothic"/>
              </a:rPr>
              <a:t>   |   UX·화면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Malgun Gothic"/>
              </a:rPr>
              <a:t xml:space="preserve">화면 설계 ① 홈 — </a:t>
            </a:r>
            <a:r>
              <a:rPr sz="3000" b="1" i="0">
                <a:solidFill>
                  <a:srgbClr val="7B1E2B"/>
                </a:solidFill>
                <a:latin typeface="Malgun Gothic"/>
              </a:rPr>
              <a:t xml:space="preserve">오늘 · 내일의 코디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앱을 열면 근무일 · 날씨 기준 추천을 먼저 보고, 오늘과 내일 입을 옷을 </a:t>
            </a:r>
            <a:r>
              <a:rPr sz="1100" b="1" i="0">
                <a:solidFill>
                  <a:srgbClr val="7B1E2B"/>
                </a:solidFill>
                <a:latin typeface="Malgun Gothic"/>
              </a:rPr>
              <a:t xml:space="preserve">바로 결정 · 교체</a:t>
            </a: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할 수 있도록 구성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510528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1">
                <a:solidFill>
                  <a:srgbClr val="5C5C5C"/>
                </a:solidFill>
                <a:latin typeface="Georgia"/>
              </a:rPr>
              <a:t>— 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C5C5C"/>
                </a:solidFill>
                <a:latin typeface="Malgun Gothic"/>
              </a:rPr>
              <a:t>WEARLY  ·  The Daily Stylist  ·  기획 초안 2026</a:t>
            </a:r>
          </a:p>
        </p:txBody>
      </p:sp>
      <p:sp>
        <p:nvSpPr>
          <p:cNvPr id="501" name="TextBox 501"/>
          <p:cNvSpPr txBox="1"/>
          <p:nvPr/>
        </p:nvSpPr>
        <p:spPr>
          <a:xfrm>
            <a:off x="7680960" y="320040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pic>
        <p:nvPicPr>
          <p:cNvPr id="101" name="홈 · 오늘의 코디" descr="홈 · 오늘의 코디"/>
          <p:cNvPicPr>
            <a:picLocks noChangeAspect="1"/>
          </p:cNvPicPr>
          <p:nvPr/>
        </p:nvPicPr>
        <p:blipFill>
          <a:blip r:embed="rIdH1"/>
          <a:stretch>
            <a:fillRect/>
          </a:stretch>
        </p:blipFill>
        <p:spPr>
          <a:xfrm>
            <a:off x="621792" y="1783080"/>
            <a:ext cx="1957526" cy="4114800"/>
          </a:xfrm>
          <a:prstGeom prst="rect">
            <a:avLst/>
          </a:prstGeom>
        </p:spPr>
      </p:pic>
      <p:sp>
        <p:nvSpPr>
          <p:cNvPr id="102" name="TextBox 102"/>
          <p:cNvSpPr txBox="1"/>
          <p:nvPr/>
        </p:nvSpPr>
        <p:spPr>
          <a:xfrm>
            <a:off x="621792" y="5989320"/>
            <a:ext cx="223184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홈 · 오늘의 코디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21792" y="6217920"/>
            <a:ext cx="223184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3일 탭 · 근무일 · 추천</a:t>
            </a:r>
          </a:p>
        </p:txBody>
      </p:sp>
      <p:pic>
        <p:nvPicPr>
          <p:cNvPr id="104" name="아이템 교체 시트" descr="아이템 교체 시트"/>
          <p:cNvPicPr>
            <a:picLocks noChangeAspect="1"/>
          </p:cNvPicPr>
          <p:nvPr/>
        </p:nvPicPr>
        <p:blipFill>
          <a:blip r:embed="rIdH2"/>
          <a:stretch>
            <a:fillRect/>
          </a:stretch>
        </p:blipFill>
        <p:spPr>
          <a:xfrm>
            <a:off x="2945078" y="1783080"/>
            <a:ext cx="1957526" cy="4114800"/>
          </a:xfrm>
          <a:prstGeom prst="rect">
            <a:avLst/>
          </a:prstGeom>
        </p:spPr>
      </p:pic>
      <p:sp>
        <p:nvSpPr>
          <p:cNvPr id="105" name="TextBox 105"/>
          <p:cNvSpPr txBox="1"/>
          <p:nvPr/>
        </p:nvSpPr>
        <p:spPr>
          <a:xfrm>
            <a:off x="2945078" y="5989320"/>
            <a:ext cx="223184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아이템 교체 시트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2945078" y="6217920"/>
            <a:ext cx="223184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내 옷장 후보로 한 벌만 교체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405524" y="1783080"/>
            <a:ext cx="61707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100">
                <a:solidFill>
                  <a:srgbClr val="7B1E2B"/>
                </a:solidFill>
                <a:latin typeface="Georgia"/>
                <a:ea typeface="Malgun Gothic"/>
              </a:rPr>
              <a:t xml:space="preserve">LAYOUT · </a:t>
            </a:r>
            <a:r>
              <a:rPr lang="ko-KR" sz="9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화면 구성 (위 → 아래)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405524" y="21031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1" spc="0">
                <a:solidFill>
                  <a:srgbClr val="7B1E2B"/>
                </a:solidFill>
                <a:latin typeface="Georgia"/>
                <a:ea typeface="Malgun Gothic"/>
              </a:rPr>
              <a:t xml:space="preserve">01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5862724" y="2084832"/>
            <a:ext cx="57135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2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3일 탭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5862724" y="2331720"/>
            <a:ext cx="57135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오늘 · 내일 · 모레의 날짜 · 날씨 · 근무/휴무, 누르면 그날 코디로 전환 (→ p.21)</a:t>
            </a:r>
          </a:p>
        </p:txBody>
      </p:sp>
      <p:cxnSp>
        <p:nvCxnSpPr>
          <p:cNvPr id="111" name="Connector 111"/>
          <p:cNvCxnSpPr/>
          <p:nvPr/>
        </p:nvCxnSpPr>
        <p:spPr>
          <a:xfrm>
            <a:off x="5405524" y="2596896"/>
            <a:ext cx="6170780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12" name="TextBox 112"/>
          <p:cNvSpPr txBox="1"/>
          <p:nvPr/>
        </p:nvSpPr>
        <p:spPr>
          <a:xfrm>
            <a:off x="5405524" y="2670048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1" spc="0">
                <a:solidFill>
                  <a:srgbClr val="7B1E2B"/>
                </a:solidFill>
                <a:latin typeface="Georgia"/>
                <a:ea typeface="Malgun Gothic"/>
              </a:rPr>
              <a:t xml:space="preserve">02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5862724" y="2651760"/>
            <a:ext cx="57135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2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근무일 배지 · 헤드라인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5862724" y="2898648"/>
            <a:ext cx="57135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“근무일 · 출근 코디로 추천했어요” — 근무 패턴 반영 (→ p.20)</a:t>
            </a:r>
          </a:p>
        </p:txBody>
      </p:sp>
      <p:cxnSp>
        <p:nvCxnSpPr>
          <p:cNvPr id="115" name="Connector 115"/>
          <p:cNvCxnSpPr/>
          <p:nvPr/>
        </p:nvCxnSpPr>
        <p:spPr>
          <a:xfrm>
            <a:off x="5405524" y="3163824"/>
            <a:ext cx="6170780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16" name="TextBox 116"/>
          <p:cNvSpPr txBox="1"/>
          <p:nvPr/>
        </p:nvSpPr>
        <p:spPr>
          <a:xfrm>
            <a:off x="5405524" y="323697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1" spc="0">
                <a:solidFill>
                  <a:srgbClr val="7B1E2B"/>
                </a:solidFill>
                <a:latin typeface="Georgia"/>
                <a:ea typeface="Malgun Gothic"/>
              </a:rPr>
              <a:t xml:space="preserve">03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5862724" y="3218688"/>
            <a:ext cx="57135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2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날씨 카드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5862724" y="3465576"/>
            <a:ext cx="57135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기온 · 최저/최고 · 강수확률 + 상황 배지(출근)</a:t>
            </a:r>
          </a:p>
        </p:txBody>
      </p:sp>
      <p:cxnSp>
        <p:nvCxnSpPr>
          <p:cNvPr id="119" name="Connector 119"/>
          <p:cNvCxnSpPr/>
          <p:nvPr/>
        </p:nvCxnSpPr>
        <p:spPr>
          <a:xfrm>
            <a:off x="5405524" y="3730752"/>
            <a:ext cx="6170780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20" name="TextBox 120"/>
          <p:cNvSpPr txBox="1"/>
          <p:nvPr/>
        </p:nvSpPr>
        <p:spPr>
          <a:xfrm>
            <a:off x="5405524" y="380390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1" spc="0">
                <a:solidFill>
                  <a:srgbClr val="7B1E2B"/>
                </a:solidFill>
                <a:latin typeface="Georgia"/>
                <a:ea typeface="Malgun Gothic"/>
              </a:rPr>
              <a:t xml:space="preserve">04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5862724" y="3785616"/>
            <a:ext cx="57135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2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오늘의 추천 코디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5862724" y="4032504"/>
            <a:ext cx="57135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TOP · BOTTOM · OUTER · 신발 · 가방, 대표 1개 + 후보 2개 “전체 바꾸기”</a:t>
            </a:r>
          </a:p>
        </p:txBody>
      </p:sp>
      <p:cxnSp>
        <p:nvCxnSpPr>
          <p:cNvPr id="123" name="Connector 123"/>
          <p:cNvCxnSpPr/>
          <p:nvPr/>
        </p:nvCxnSpPr>
        <p:spPr>
          <a:xfrm>
            <a:off x="5405524" y="4297680"/>
            <a:ext cx="6170780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24" name="TextBox 124"/>
          <p:cNvSpPr txBox="1"/>
          <p:nvPr/>
        </p:nvSpPr>
        <p:spPr>
          <a:xfrm>
            <a:off x="5405524" y="437083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1" spc="0">
                <a:solidFill>
                  <a:srgbClr val="7B1E2B"/>
                </a:solidFill>
                <a:latin typeface="Georgia"/>
                <a:ea typeface="Malgun Gothic"/>
              </a:rPr>
              <a:t xml:space="preserve">05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5862724" y="4352544"/>
            <a:ext cx="57135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2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추천 이유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5862724" y="4599432"/>
            <a:ext cx="57135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“왜 이 코디?” — 일교차 · 근무일 등 근거를 한 줄로</a:t>
            </a:r>
          </a:p>
        </p:txBody>
      </p:sp>
      <p:cxnSp>
        <p:nvCxnSpPr>
          <p:cNvPr id="127" name="Connector 127"/>
          <p:cNvCxnSpPr/>
          <p:nvPr/>
        </p:nvCxnSpPr>
        <p:spPr>
          <a:xfrm>
            <a:off x="5405524" y="4864608"/>
            <a:ext cx="6170780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28" name="TextBox 128"/>
          <p:cNvSpPr txBox="1"/>
          <p:nvPr/>
        </p:nvSpPr>
        <p:spPr>
          <a:xfrm>
            <a:off x="5405524" y="493776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1" spc="0">
                <a:solidFill>
                  <a:srgbClr val="7B1E2B"/>
                </a:solidFill>
                <a:latin typeface="Georgia"/>
                <a:ea typeface="Malgun Gothic"/>
              </a:rPr>
              <a:t xml:space="preserve">06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5862724" y="4919472"/>
            <a:ext cx="57135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2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아이템 교체 시트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5862724" y="5166360"/>
            <a:ext cx="57135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내 옷장 후보에서 한 벌만 교체, 고정 아이템 · 세탁 중 옷 제외</a:t>
            </a:r>
          </a:p>
        </p:txBody>
      </p:sp>
      <p:cxnSp>
        <p:nvCxnSpPr>
          <p:cNvPr id="131" name="Connector 131"/>
          <p:cNvCxnSpPr/>
          <p:nvPr/>
        </p:nvCxnSpPr>
        <p:spPr>
          <a:xfrm>
            <a:off x="5405524" y="5431536"/>
            <a:ext cx="6170780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32" name="Shape 132"/>
          <p:cNvSpPr/>
          <p:nvPr/>
        </p:nvSpPr>
        <p:spPr>
          <a:xfrm>
            <a:off x="5405524" y="5596128"/>
            <a:ext cx="6170780" cy="566928"/>
          </a:xfrm>
          <a:prstGeom prst="rect">
            <a:avLst/>
          </a:prstGeom>
          <a:solidFill>
            <a:srgbClr val="EEE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TextBox 133"/>
          <p:cNvSpPr txBox="1"/>
          <p:nvPr/>
        </p:nvSpPr>
        <p:spPr>
          <a:xfrm>
            <a:off x="5588404" y="5669280"/>
            <a:ext cx="58050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UX 원칙: 추천 결과를 먼저 보여주고, 설정은 필요할 때만</a:t>
            </a:r>
          </a:p>
          <a:p>
            <a:pPr algn="l">
              <a:spcAft>
                <a:spcPts val="0"/>
              </a:spcAft>
            </a:pPr>
            <a:r>
              <a:rPr lang="ko-KR" sz="95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저장한 오늘 · 내일 코디는 재접속해도 유지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B1E2B"/>
                </a:solidFill>
                <a:latin typeface="Georgia"/>
              </a:rPr>
              <a:t>N°03  </a:t>
            </a:r>
            <a:r>
              <a:rPr lang="en-US" sz="900" b="0" i="1">
                <a:solidFill>
                  <a:srgbClr val="7B1E2B"/>
                </a:solidFill>
                <a:latin typeface="Georgia"/>
              </a:rPr>
              <a:t>UX &amp; Screens</a:t>
            </a:r>
            <a:r>
              <a:rPr lang="ko-KR" sz="900" b="0" i="0">
                <a:solidFill>
                  <a:srgbClr val="8E8E8E"/>
                </a:solidFill>
                <a:latin typeface="Malgun Gothic"/>
              </a:rPr>
              <a:t>   |   UX·화면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Malgun Gothic"/>
              </a:rPr>
              <a:t xml:space="preserve">화면 설계 ② </a:t>
            </a:r>
            <a:r>
              <a:rPr sz="3000" b="1" i="0">
                <a:solidFill>
                  <a:srgbClr val="7B1E2B"/>
                </a:solidFill>
                <a:latin typeface="Malgun Gothic"/>
              </a:rPr>
              <a:t xml:space="preserve">내 옷장 등록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사진 등록의 마찰을 최소화하고 AI 분석 결과는 </a:t>
            </a:r>
            <a:r>
              <a:rPr sz="1100" b="1" i="0">
                <a:solidFill>
                  <a:srgbClr val="7B1E2B"/>
                </a:solidFill>
                <a:latin typeface="Malgun Gothic"/>
              </a:rPr>
              <a:t xml:space="preserve">사용자가 수정 가능</a:t>
            </a: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하게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510528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1">
                <a:solidFill>
                  <a:srgbClr val="5C5C5C"/>
                </a:solidFill>
                <a:latin typeface="Georgia"/>
              </a:rPr>
              <a:t>—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4231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B1E2B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70048"/>
            <a:ext cx="2057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Malgun Gothic"/>
              </a:rPr>
              <a:t>사진 선택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Malgun Gothic"/>
              </a:rPr>
              <a:t>카메라 또는 앨범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2670048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7B1E2B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148840"/>
            <a:ext cx="24231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331720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B1E2B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670048"/>
            <a:ext cx="2057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Malgun Gothic"/>
              </a:rPr>
              <a:t>AI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108960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Malgun Gothic"/>
              </a:rPr>
              <a:t>종류·색상·패턴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2670048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7B1E2B"/>
                </a:solidFill>
                <a:latin typeface="Malgun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148840"/>
            <a:ext cx="24231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331720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B1E2B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670048"/>
            <a:ext cx="2057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Malgun Gothic"/>
              </a:rPr>
              <a:t>정보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108960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Malgun Gothic"/>
              </a:rPr>
              <a:t>계절·스타일 수정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7" y="2670048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7B1E2B"/>
                </a:solidFill>
                <a:latin typeface="Malgun 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2148840"/>
            <a:ext cx="24231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2331720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B1E2B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670048"/>
            <a:ext cx="2057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Malgun Gothic"/>
              </a:rPr>
              <a:t>저장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108960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Malgun Gothic"/>
              </a:rPr>
              <a:t>옷장에 추가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160520"/>
            <a:ext cx="4846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주요 필드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526280"/>
            <a:ext cx="4937760" cy="1417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종류 · 주요 색상 · 패턴</a:t>
            </a:r>
          </a:p>
          <a:p>
            <a:pPr>
              <a:spcAft>
                <a:spcPts val="6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계절 · 스타일 · 보유 상태</a:t>
            </a:r>
          </a:p>
          <a:p>
            <a:pPr>
              <a:spcAft>
                <a:spcPts val="6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사진 및 대표 이미지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160520"/>
            <a:ext cx="4846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설계 원칙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526280"/>
            <a:ext cx="4937760" cy="1417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브랜드·가격·소재는 선택 항목</a:t>
            </a:r>
          </a:p>
          <a:p>
            <a:pPr>
              <a:spcAft>
                <a:spcPts val="6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AI 분석값은 제안값으로 제공</a:t>
            </a:r>
          </a:p>
          <a:p>
            <a:pPr>
              <a:spcAft>
                <a:spcPts val="6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분석 실패 시 수동 등록 지원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C5C5C"/>
                </a:solidFill>
                <a:latin typeface="Malgun Gothic"/>
              </a:rPr>
              <a:t>WEARLY  ·  The Daily Stylist  ·  기획 초안 2026</a:t>
            </a:r>
          </a:p>
        </p:txBody>
      </p:sp>
      <p:sp>
        <p:nvSpPr>
          <p:cNvPr id="501" name="TextBox 501"/>
          <p:cNvSpPr txBox="1"/>
          <p:nvPr/>
        </p:nvSpPr>
        <p:spPr>
          <a:xfrm>
            <a:off x="7680960" y="320040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B1E2B"/>
                </a:solidFill>
                <a:latin typeface="Georgia"/>
              </a:rPr>
              <a:t>N°03  </a:t>
            </a:r>
            <a:r>
              <a:rPr lang="en-US" sz="900" b="0" i="1">
                <a:solidFill>
                  <a:srgbClr val="7B1E2B"/>
                </a:solidFill>
                <a:latin typeface="Georgia"/>
              </a:rPr>
              <a:t>UX &amp; Screens</a:t>
            </a:r>
            <a:r>
              <a:rPr lang="ko-KR" sz="900" b="0" i="0">
                <a:solidFill>
                  <a:srgbClr val="8E8E8E"/>
                </a:solidFill>
                <a:latin typeface="Malgun Gothic"/>
              </a:rPr>
              <a:t>   |   UX·화면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Malgun Gothic"/>
              </a:rPr>
              <a:t xml:space="preserve">화면 설계 ③ </a:t>
            </a:r>
            <a:r>
              <a:rPr sz="3000" b="1" i="0">
                <a:solidFill>
                  <a:srgbClr val="7B1E2B"/>
                </a:solidFill>
                <a:latin typeface="Malgun Gothic"/>
              </a:rPr>
              <a:t xml:space="preserve">AI 코디 추천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상황을 선택하고, 보유 아이템 기반으로 </a:t>
            </a:r>
            <a:r>
              <a:rPr sz="1100" b="1" i="0">
                <a:solidFill>
                  <a:srgbClr val="7B1E2B"/>
                </a:solidFill>
                <a:latin typeface="Malgun Gothic"/>
              </a:rPr>
              <a:t xml:space="preserve">3개 후보를 제안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510528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1">
                <a:solidFill>
                  <a:srgbClr val="5C5C5C"/>
                </a:solidFill>
                <a:latin typeface="Georgia"/>
              </a:rPr>
              <a:t>—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75104"/>
            <a:ext cx="30358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추천 조건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3017520" cy="276148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상황: 출근 / 회의 / 외근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분위기: 단정 / 편안 / 세련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격식: 비즈니스 캐주얼 / 포멀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중심 아이템 선택(선택)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최근 착용 아이템 제외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3474720"/>
          </a:xfrm>
          <a:prstGeom prst="rect">
            <a:avLst/>
          </a:prstGeom>
          <a:solidFill>
            <a:srgbClr val="EEEBE0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75104"/>
            <a:ext cx="30358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추천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50592"/>
            <a:ext cx="3017520" cy="276148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코디 후보 3개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각 코디의 추천 이유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아이템별 상세 정보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특정 아이템만 교체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저장 및 피드백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975104"/>
            <a:ext cx="30358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추천 제약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50592"/>
            <a:ext cx="3017520" cy="276148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실제 보유 아이템만 사용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세탁 중 아이템 기본 제외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제외한 색상·아이템 반영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고정 아이템은 교체하지 않음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추천 품질·다양성 균형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C5C5C"/>
                </a:solidFill>
                <a:latin typeface="Malgun Gothic"/>
              </a:rPr>
              <a:t>WEARLY  ·  The Daily Stylist  ·  기획 초안 2026</a:t>
            </a:r>
          </a:p>
        </p:txBody>
      </p:sp>
      <p:sp>
        <p:nvSpPr>
          <p:cNvPr id="501" name="TextBox 501"/>
          <p:cNvSpPr txBox="1"/>
          <p:nvPr/>
        </p:nvSpPr>
        <p:spPr>
          <a:xfrm>
            <a:off x="7680960" y="320040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B1E2B"/>
                </a:solidFill>
                <a:latin typeface="Georgia"/>
              </a:rPr>
              <a:t>N°03  </a:t>
            </a:r>
            <a:r>
              <a:rPr lang="en-US" sz="900" b="0" i="1">
                <a:solidFill>
                  <a:srgbClr val="7B1E2B"/>
                </a:solidFill>
                <a:latin typeface="Georgia"/>
              </a:rPr>
              <a:t>UX &amp; Screens</a:t>
            </a:r>
            <a:r>
              <a:rPr lang="ko-KR" sz="900" b="0" i="0">
                <a:solidFill>
                  <a:srgbClr val="8E8E8E"/>
                </a:solidFill>
                <a:latin typeface="Malgun Gothic"/>
              </a:rPr>
              <a:t>   |   UX·화면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7B1E2B"/>
                </a:solidFill>
                <a:latin typeface="Malgun Gothic"/>
              </a:rPr>
              <a:t xml:space="preserve">핵심 사용자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신규 사용자와 반복 사용자의 </a:t>
            </a:r>
            <a:r>
              <a:rPr sz="1100" b="1" i="0">
                <a:solidFill>
                  <a:srgbClr val="7B1E2B"/>
                </a:solidFill>
                <a:latin typeface="Malgun Gothic"/>
              </a:rPr>
              <a:t xml:space="preserve">흐름을 분리해 설계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510528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1">
                <a:solidFill>
                  <a:srgbClr val="5C5C5C"/>
                </a:solidFill>
                <a:latin typeface="Georgia"/>
              </a:rPr>
              <a:t>—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7B1E2B"/>
                </a:solidFill>
                <a:latin typeface="Malgun Gothic"/>
              </a:rPr>
              <a:t>A. 신규 사용자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15087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542032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Malgun Gothic"/>
              </a:rPr>
              <a:t>가입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5144" y="2542032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7B1E2B"/>
                </a:solidFill>
                <a:latin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24328" y="2331720"/>
            <a:ext cx="15087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2542032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Malgun Gothic"/>
              </a:rPr>
              <a:t>스타일 설정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2232" y="2542032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7B1E2B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1416" y="2331720"/>
            <a:ext cx="15087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2542032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Malgun Gothic"/>
              </a:rPr>
              <a:t>옷 등록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542032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7B1E2B"/>
                </a:solidFill>
                <a:latin typeface="Malgun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8504" y="2331720"/>
            <a:ext cx="15087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2542032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Malgun Gothic"/>
              </a:rPr>
              <a:t>AI 분석·수정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2542032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7B1E2B"/>
                </a:solidFill>
                <a:latin typeface="Malgun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65592" y="2331720"/>
            <a:ext cx="15087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2542032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Malgun Gothic"/>
              </a:rPr>
              <a:t>첫 코디 추천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3496" y="2542032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7B1E2B"/>
                </a:solidFill>
                <a:latin typeface="Malgun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12680" y="2331720"/>
            <a:ext cx="15087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85832" y="2542032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Malgun Gothic"/>
              </a:rPr>
              <a:t>저장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657600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7B1E2B"/>
                </a:solidFill>
                <a:latin typeface="Malgun Gothic"/>
              </a:rPr>
              <a:t>B. 매일 아침 사용자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160520"/>
            <a:ext cx="15087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370832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Malgun Gothic"/>
              </a:rPr>
              <a:t>홈 접속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95144" y="4370832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7B1E2B"/>
                </a:solidFill>
                <a:latin typeface="Malgun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24328" y="4160520"/>
            <a:ext cx="1508760" cy="731520"/>
          </a:xfrm>
          <a:prstGeom prst="rect">
            <a:avLst/>
          </a:prstGeom>
          <a:solidFill>
            <a:srgbClr val="EEEBE0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97480" y="4370832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Malgun Gothic"/>
              </a:rPr>
              <a:t>오늘 코디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42232" y="4370832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7B1E2B"/>
                </a:solidFill>
                <a:latin typeface="Malgun Gothic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71416" y="4160520"/>
            <a:ext cx="15087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44568" y="4370832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Malgun Gothic"/>
              </a:rPr>
              <a:t>마음에 드나?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4370832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7B1E2B"/>
                </a:solidFill>
                <a:latin typeface="Malgun Gothic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18504" y="4160520"/>
            <a:ext cx="15087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91656" y="4370832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Malgun Gothic"/>
              </a:rPr>
              <a:t>아이템 교체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36408" y="4370832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7B1E2B"/>
                </a:solidFill>
                <a:latin typeface="Malgun Gothic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65592" y="4160520"/>
            <a:ext cx="1508760" cy="731520"/>
          </a:xfrm>
          <a:prstGeom prst="rect">
            <a:avLst/>
          </a:prstGeom>
          <a:solidFill>
            <a:srgbClr val="EEEBE0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38744" y="4370832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Malgun Gothic"/>
              </a:rPr>
              <a:t>저장·착용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4370832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7B1E2B"/>
                </a:solidFill>
                <a:latin typeface="Malgun Gothic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12680" y="4160520"/>
            <a:ext cx="15087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85832" y="4370832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Malgun Gothic"/>
              </a:rPr>
              <a:t>피드백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349240"/>
            <a:ext cx="10607040" cy="502920"/>
          </a:xfrm>
          <a:prstGeom prst="rect">
            <a:avLst/>
          </a:prstGeom>
          <a:solidFill>
            <a:srgbClr val="ECE9E4"/>
          </a:solidFill>
          <a:ln>
            <a:solidFill>
              <a:srgbClr val="EC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477256"/>
            <a:ext cx="10332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Malgun Gothic"/>
              </a:rPr>
              <a:t>첫 경험에서는 적은 아이템으로 시작하고, 사용자의 선택을 다음 추천에 반영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C5C5C"/>
                </a:solidFill>
                <a:latin typeface="Malgun Gothic"/>
              </a:rPr>
              <a:t>WEARLY  ·  The Daily Stylist  ·  기획 초안 2026</a:t>
            </a:r>
          </a:p>
        </p:txBody>
      </p:sp>
      <p:sp>
        <p:nvSpPr>
          <p:cNvPr id="501" name="TextBox 501"/>
          <p:cNvSpPr txBox="1"/>
          <p:nvPr/>
        </p:nvSpPr>
        <p:spPr>
          <a:xfrm>
            <a:off x="7680960" y="320040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B1E2B"/>
                </a:solidFill>
                <a:latin typeface="Georgia"/>
              </a:rPr>
              <a:t>N°04  </a:t>
            </a:r>
            <a:r>
              <a:rPr lang="en-US" sz="900" b="0" i="1">
                <a:solidFill>
                  <a:srgbClr val="7B1E2B"/>
                </a:solidFill>
                <a:latin typeface="Georgia"/>
              </a:rPr>
              <a:t>Recommendation</a:t>
            </a:r>
            <a:r>
              <a:rPr lang="ko-KR" sz="900" b="0" i="0">
                <a:solidFill>
                  <a:srgbClr val="8E8E8E"/>
                </a:solidFill>
                <a:latin typeface="Malgun Gothic"/>
              </a:rPr>
              <a:t>   |   추천 로직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7B1E2B"/>
                </a:solidFill>
                <a:latin typeface="Malgun Gothic"/>
              </a:rPr>
              <a:t xml:space="preserve">추천 엔진</a:t>
            </a:r>
            <a:r>
              <a:rPr sz="3000" b="1" i="0">
                <a:solidFill>
                  <a:srgbClr val="111111"/>
                </a:solidFill>
                <a:latin typeface="Malgun Gothic"/>
              </a:rPr>
              <a:t xml:space="preserve">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AI 이미지 분석 + </a:t>
            </a:r>
            <a:r>
              <a:rPr sz="1100" b="1" i="0">
                <a:solidFill>
                  <a:srgbClr val="7B1E2B"/>
                </a:solidFill>
                <a:latin typeface="Malgun Gothic"/>
              </a:rPr>
              <a:t xml:space="preserve">규칙 기반 조합 평가</a:t>
            </a: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 + 생성형 AI 설명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510528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1">
                <a:solidFill>
                  <a:srgbClr val="5C5C5C"/>
                </a:solidFill>
                <a:latin typeface="Georgia"/>
              </a:rPr>
              <a:t>—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1627632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212848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42032"/>
            <a:ext cx="14447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Malgun Gothic"/>
              </a:rPr>
              <a:t>조건 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C5C5C"/>
                </a:solidFill>
                <a:latin typeface="Malgun Gothic"/>
              </a:rPr>
              <a:t>상황·스타일·근무일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542032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7B1E2B"/>
                </a:solidFill>
                <a:latin typeface="Malgun Gothic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41448" y="2057400"/>
            <a:ext cx="1627632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2888" y="2212848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8" y="2542032"/>
            <a:ext cx="14447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Malgun Gothic"/>
              </a:rPr>
              <a:t>옷장 조회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2888" y="2880360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C5C5C"/>
                </a:solidFill>
                <a:latin typeface="Malgun Gothic"/>
              </a:rPr>
              <a:t>사용자 소유 아이템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9935" y="2542032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7B1E2B"/>
                </a:solidFill>
                <a:latin typeface="Malgun Gothic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9976" y="2057400"/>
            <a:ext cx="1627632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1416" y="2212848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2542032"/>
            <a:ext cx="14447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Malgun Gothic"/>
              </a:rPr>
              <a:t>후보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2880360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C5C5C"/>
                </a:solidFill>
                <a:latin typeface="Malgun Gothic"/>
              </a:rPr>
              <a:t>카테고리별 조합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98464" y="2542032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7B1E2B"/>
                </a:solidFill>
                <a:latin typeface="Malgun Gothic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18504" y="2057400"/>
            <a:ext cx="1627632" cy="1234440"/>
          </a:xfrm>
          <a:prstGeom prst="rect">
            <a:avLst/>
          </a:prstGeom>
          <a:solidFill>
            <a:srgbClr val="EEEBE0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2212848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542032"/>
            <a:ext cx="14447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Malgun Gothic"/>
              </a:rPr>
              <a:t>점수 평가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2880360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C5C5C"/>
                </a:solidFill>
                <a:latin typeface="Malgun Gothic"/>
              </a:rPr>
              <a:t>색상·상황·취향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542032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7B1E2B"/>
                </a:solidFill>
                <a:latin typeface="Malgun Gothic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2" y="2057400"/>
            <a:ext cx="1627632" cy="1234440"/>
          </a:xfrm>
          <a:prstGeom prst="rect">
            <a:avLst/>
          </a:prstGeom>
          <a:solidFill>
            <a:srgbClr val="EEEBE0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2" y="2212848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2542032"/>
            <a:ext cx="14447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Malgun Gothic"/>
              </a:rPr>
              <a:t>상위 선정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2880360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C5C5C"/>
                </a:solidFill>
                <a:latin typeface="Malgun Gothic"/>
              </a:rPr>
              <a:t>중복·착용 이력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542032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7B1E2B"/>
                </a:solidFill>
                <a:latin typeface="Malgun Gothic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95560" y="2057400"/>
            <a:ext cx="1627632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87000" y="2212848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2542032"/>
            <a:ext cx="14447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Malgun Gothic"/>
              </a:rPr>
              <a:t>설명 생성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2880360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C5C5C"/>
                </a:solidFill>
                <a:latin typeface="Malgun Gothic"/>
              </a:rPr>
              <a:t>추천 이유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840480"/>
            <a:ext cx="4114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Malgun Gothic"/>
              </a:rPr>
              <a:t>초기 점수 모델(실험용)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297680"/>
            <a:ext cx="19659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434840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C5C5C"/>
                </a:solidFill>
                <a:latin typeface="Malgun Gothic"/>
              </a:rPr>
              <a:t>색상 조화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4407408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7B1E2B"/>
                </a:solidFill>
                <a:latin typeface="Malgun Gothic"/>
              </a:rPr>
              <a:t>30%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71800" y="4297680"/>
            <a:ext cx="19659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63240" y="4434840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C5C5C"/>
                </a:solidFill>
                <a:latin typeface="Malgun Gothic"/>
              </a:rPr>
              <a:t>상황 적합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1960" y="4407408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7B1E2B"/>
                </a:solidFill>
                <a:latin typeface="Malgun Gothic"/>
              </a:rPr>
              <a:t>25%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12080" y="4297680"/>
            <a:ext cx="19659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0" y="4434840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C5C5C"/>
                </a:solidFill>
                <a:latin typeface="Malgun Gothic"/>
              </a:rPr>
              <a:t>날씨 적합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4407408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7B1E2B"/>
                </a:solidFill>
                <a:latin typeface="Malgun Gothic"/>
              </a:rPr>
              <a:t>20%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52360" y="4297680"/>
            <a:ext cx="19659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43800" y="4434840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C5C5C"/>
                </a:solidFill>
                <a:latin typeface="Malgun Gothic"/>
              </a:rPr>
              <a:t>개인 취향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407408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7B1E2B"/>
                </a:solidFill>
                <a:latin typeface="Malgun Gothic"/>
              </a:rPr>
              <a:t>15%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92640" y="4297680"/>
            <a:ext cx="19659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84080" y="4434840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C5C5C"/>
                </a:solidFill>
                <a:latin typeface="Malgun Gothic"/>
              </a:rPr>
              <a:t>다양성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4407408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7B1E2B"/>
                </a:solidFill>
                <a:latin typeface="Malgun Gothic"/>
              </a:rPr>
              <a:t>10%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5440680"/>
            <a:ext cx="106070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Malgun Gothic"/>
              </a:rPr>
              <a:t>※ 가중치는 초기 가설이며, 날씨 데이터가 없으면 제외 후 재조정. 베타 피드백으로 튜닝.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C5C5C"/>
                </a:solidFill>
                <a:latin typeface="Malgun Gothic"/>
              </a:rPr>
              <a:t>WEARLY  ·  The Daily Stylist  ·  기획 초안 2026</a:t>
            </a:r>
          </a:p>
        </p:txBody>
      </p:sp>
      <p:sp>
        <p:nvSpPr>
          <p:cNvPr id="501" name="TextBox 501"/>
          <p:cNvSpPr txBox="1"/>
          <p:nvPr/>
        </p:nvSpPr>
        <p:spPr>
          <a:xfrm>
            <a:off x="7680960" y="320040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B1E2B"/>
                </a:solidFill>
                <a:latin typeface="Georgia"/>
              </a:rPr>
              <a:t>N°05  </a:t>
            </a:r>
            <a:r>
              <a:rPr lang="en-US" sz="900" b="0" i="1">
                <a:solidFill>
                  <a:srgbClr val="7B1E2B"/>
                </a:solidFill>
                <a:latin typeface="Georgia"/>
              </a:rPr>
              <a:t>Architecture</a:t>
            </a:r>
            <a:r>
              <a:rPr lang="ko-KR" sz="900" b="0" i="0">
                <a:solidFill>
                  <a:srgbClr val="8E8E8E"/>
                </a:solidFill>
                <a:latin typeface="Malgun Gothic"/>
              </a:rPr>
              <a:t>   |   데이터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7B1E2B"/>
                </a:solidFill>
                <a:latin typeface="Malgun Gothic"/>
              </a:rPr>
              <a:t xml:space="preserve">데이터베이스</a:t>
            </a:r>
            <a:r>
              <a:rPr sz="3000" b="1" i="0">
                <a:solidFill>
                  <a:srgbClr val="111111"/>
                </a:solidFill>
                <a:latin typeface="Malgun Gothic"/>
              </a:rPr>
              <a:t xml:space="preserve">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Malgun Gothic"/>
              </a:rPr>
              <a:t>아이템·이미지·코디·피드백·데일리 기록·진단 결과를 분리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510528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1">
                <a:solidFill>
                  <a:srgbClr val="5C5C5C"/>
                </a:solidFill>
                <a:latin typeface="Georgia"/>
              </a:rPr>
              <a:t>—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606040" cy="1298448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65960"/>
            <a:ext cx="23774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TB_USER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86000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Malgun Gothic"/>
              </a:rPr>
              <a:t>사용자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24328"/>
            <a:ext cx="23774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C5C5C"/>
                </a:solidFill>
                <a:latin typeface="Malgun Gothic"/>
              </a:rPr>
              <a:t>USER_ID, EMAIL, STYLE_TYPE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828800"/>
            <a:ext cx="2606040" cy="1298448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965960"/>
            <a:ext cx="23774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TB_WARDROBE_ITEM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286000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Malgun Gothic"/>
              </a:rPr>
              <a:t>옷장 아이템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624328"/>
            <a:ext cx="23774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C5C5C"/>
                </a:solidFill>
                <a:latin typeface="Malgun Gothic"/>
              </a:rPr>
              <a:t>ITEM_ID, USER_ID, CATEGORY, COLOR,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2606040" cy="1298448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1965960"/>
            <a:ext cx="23774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TB_ITEM_IMAGE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286000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Malgun Gothic"/>
              </a:rPr>
              <a:t>아이템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624328"/>
            <a:ext cx="23774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C5C5C"/>
                </a:solidFill>
                <a:latin typeface="Malgun Gothic"/>
              </a:rPr>
              <a:t>IMAGE_ID, ITEM_ID, IMAGE_URL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59" y="1828800"/>
            <a:ext cx="2606040" cy="1298448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7" y="1965960"/>
            <a:ext cx="23774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TB_OUTFIT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7" y="2286000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Malgun Gothic"/>
              </a:rPr>
              <a:t>코디 헤더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7" y="2624328"/>
            <a:ext cx="23774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C5C5C"/>
                </a:solidFill>
                <a:latin typeface="Malgun Gothic"/>
              </a:rPr>
              <a:t>OUTFIT_ID, USER_ID, OCCASION, SCORE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474720"/>
            <a:ext cx="2606040" cy="1298448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11879"/>
            <a:ext cx="23774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TB_OUTFIT_ITEM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931920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Malgun Gothic"/>
              </a:rPr>
              <a:t>코디 구성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270248"/>
            <a:ext cx="23774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C5C5C"/>
                </a:solidFill>
                <a:latin typeface="Malgun Gothic"/>
              </a:rPr>
              <a:t>OUTFIT_ID, ITEM_ID, ITEM_ROLE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39" y="3474720"/>
            <a:ext cx="2606040" cy="1298448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0168" y="3611879"/>
            <a:ext cx="23774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TB_OUTFIT_FEEDBACK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0168" y="3931920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Malgun Gothic"/>
              </a:rPr>
              <a:t>피드백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0168" y="4270248"/>
            <a:ext cx="23774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C5C5C"/>
                </a:solidFill>
                <a:latin typeface="Malgun Gothic"/>
              </a:rPr>
              <a:t>OUTFIT_ID, USER_ID, FEEDBACK_TYPE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474720"/>
            <a:ext cx="2606040" cy="1298448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3611879"/>
            <a:ext cx="23774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TB_DAILY_LOOK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3931920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Malgun Gothic"/>
              </a:rPr>
              <a:t>데일리 코디 기록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4270248"/>
            <a:ext cx="23774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C5C5C"/>
                </a:solidFill>
                <a:latin typeface="Malgun Gothic"/>
              </a:rPr>
              <a:t>LOOK_ID, WORN_DATE, PHOTO_URL, SELF_SCORE, OTHERS_SCORE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81159" y="3474720"/>
            <a:ext cx="2606040" cy="1298448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90887" y="3611879"/>
            <a:ext cx="23774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TB_USER_STYLE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90887" y="3931920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Malgun Gothic"/>
              </a:rPr>
              <a:t>사용자 취향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90887" y="4270248"/>
            <a:ext cx="23774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C5C5C"/>
                </a:solidFill>
                <a:latin typeface="Malgun Gothic"/>
              </a:rPr>
              <a:t>USER_ID, STYLE_CODE, PREFERENCE_SCORE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349240"/>
            <a:ext cx="10835640" cy="502920"/>
          </a:xfrm>
          <a:prstGeom prst="rect">
            <a:avLst/>
          </a:prstGeom>
          <a:solidFill>
            <a:srgbClr val="EEEBE0"/>
          </a:solidFill>
          <a:ln>
            <a:solidFill>
              <a:srgbClr val="EE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477256"/>
            <a:ext cx="10469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Malgun Gothic"/>
              </a:rPr>
              <a:t>+ TB_LOOK_DIAGNOSIS (진단·처방) · TB_PLANNED_OUTFIT (예정일 코디) · TB_WARDROBE_REPORT (옷장 분석)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C5C5C"/>
                </a:solidFill>
                <a:latin typeface="Malgun Gothic"/>
              </a:rPr>
              <a:t>WEARLY  ·  The Daily Stylist  ·  기획 초안 2026</a:t>
            </a:r>
          </a:p>
        </p:txBody>
      </p:sp>
      <p:sp>
        <p:nvSpPr>
          <p:cNvPr id="501" name="TextBox 501"/>
          <p:cNvSpPr txBox="1"/>
          <p:nvPr/>
        </p:nvSpPr>
        <p:spPr>
          <a:xfrm>
            <a:off x="7680960" y="320040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B1E2B"/>
                </a:solidFill>
                <a:latin typeface="Georgia"/>
              </a:rPr>
              <a:t>N°05  </a:t>
            </a:r>
            <a:r>
              <a:rPr lang="en-US" sz="900" b="0" i="1">
                <a:solidFill>
                  <a:srgbClr val="7B1E2B"/>
                </a:solidFill>
                <a:latin typeface="Georgia"/>
              </a:rPr>
              <a:t>Architecture</a:t>
            </a:r>
            <a:r>
              <a:rPr lang="ko-KR" sz="900" b="0" i="0">
                <a:solidFill>
                  <a:srgbClr val="8E8E8E"/>
                </a:solidFill>
                <a:latin typeface="Malgun Gothic"/>
              </a:rPr>
              <a:t>   |   백엔드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7B1E2B"/>
                </a:solidFill>
                <a:latin typeface="Malgun Gothic"/>
              </a:rPr>
              <a:t xml:space="preserve">REST API</a:t>
            </a:r>
            <a:r>
              <a:rPr sz="3000" b="1" i="0">
                <a:solidFill>
                  <a:srgbClr val="111111"/>
                </a:solidFill>
                <a:latin typeface="Malgun Gothic"/>
              </a:rPr>
              <a:t xml:space="preserve">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기본 경로 /api/v1 · 인증·옷장·이미지·코디 기능을 </a:t>
            </a:r>
            <a:r>
              <a:rPr sz="1100" b="1" i="0">
                <a:solidFill>
                  <a:srgbClr val="7B1E2B"/>
                </a:solidFill>
                <a:latin typeface="Malgun Gothic"/>
              </a:rPr>
              <a:t xml:space="preserve">도메인별 분리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510528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1">
                <a:solidFill>
                  <a:srgbClr val="5C5C5C"/>
                </a:solidFill>
                <a:latin typeface="Georgia"/>
              </a:rPr>
              <a:t>—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10512"/>
            <a:ext cx="10744200" cy="393192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Georgia"/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901952"/>
            <a:ext cx="4572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Georgia"/>
              </a:rPr>
              <a:t>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901952"/>
            <a:ext cx="35661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algun Gothic"/>
              </a:rPr>
              <a:t>설명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03704"/>
            <a:ext cx="107442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95144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295144"/>
            <a:ext cx="5440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Georgia"/>
              </a:rPr>
              <a:t>/api/v1/wardrobe/items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295144"/>
            <a:ext cx="3566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Malgun Gothic"/>
              </a:rPr>
              <a:t>옷장 목록·검색·필터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42616"/>
            <a:ext cx="10744200" cy="420624"/>
          </a:xfrm>
          <a:prstGeom prst="rect">
            <a:avLst/>
          </a:prstGeom>
          <a:solidFill>
            <a:srgbClr val="F4F3F0"/>
          </a:solidFill>
          <a:ln>
            <a:solidFill>
              <a:srgbClr val="F4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734056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734056"/>
            <a:ext cx="5440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Georgia"/>
              </a:rPr>
              <a:t>/api/v1/wardrobe/items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734056"/>
            <a:ext cx="3566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Malgun Gothic"/>
              </a:rPr>
              <a:t>아이템 등록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081528"/>
            <a:ext cx="107442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172968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C5C5C"/>
                </a:solidFill>
                <a:latin typeface="Georgia"/>
              </a:rPr>
              <a:t>PATCH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72968"/>
            <a:ext cx="5440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Georgia"/>
              </a:rPr>
              <a:t>/api/v1/wardrobe/items/{id}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172968"/>
            <a:ext cx="3566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Malgun Gothic"/>
              </a:rPr>
              <a:t>아이템 수정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520440"/>
            <a:ext cx="10744200" cy="420624"/>
          </a:xfrm>
          <a:prstGeom prst="rect">
            <a:avLst/>
          </a:prstGeom>
          <a:solidFill>
            <a:srgbClr val="F4F3F0"/>
          </a:solidFill>
          <a:ln>
            <a:solidFill>
              <a:srgbClr val="F4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611880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C5C5C"/>
                </a:solidFill>
                <a:latin typeface="Georgia"/>
              </a:rPr>
              <a:t>DELETE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3611880"/>
            <a:ext cx="5440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Georgia"/>
              </a:rPr>
              <a:t>/api/v1/wardrobe/items/{id}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611880"/>
            <a:ext cx="3566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Malgun Gothic"/>
              </a:rPr>
              <a:t>아이템 삭제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959352"/>
            <a:ext cx="107442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050791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050791"/>
            <a:ext cx="5440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Georgia"/>
              </a:rPr>
              <a:t>/api/v1/images/upload-url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050791"/>
            <a:ext cx="3566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Malgun Gothic"/>
              </a:rPr>
              <a:t>업로드 URL 발급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398264"/>
            <a:ext cx="10744200" cy="420624"/>
          </a:xfrm>
          <a:prstGeom prst="rect">
            <a:avLst/>
          </a:prstGeom>
          <a:solidFill>
            <a:srgbClr val="F4F3F0"/>
          </a:solidFill>
          <a:ln>
            <a:solidFill>
              <a:srgbClr val="F4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489704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POST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4489704"/>
            <a:ext cx="5440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Georgia"/>
              </a:rPr>
              <a:t>/api/v1/wardrobe/items/analyze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4489704"/>
            <a:ext cx="3566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Malgun Gothic"/>
              </a:rPr>
              <a:t>AI 이미지 분석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837176"/>
            <a:ext cx="107442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928616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POST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4928616"/>
            <a:ext cx="5440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Georgia"/>
              </a:rPr>
              <a:t>/api/v1/outfits/recommendations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928616"/>
            <a:ext cx="3566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Malgun Gothic"/>
              </a:rPr>
              <a:t>코디 추천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276088"/>
            <a:ext cx="10744200" cy="420624"/>
          </a:xfrm>
          <a:prstGeom prst="rect">
            <a:avLst/>
          </a:prstGeom>
          <a:solidFill>
            <a:srgbClr val="F4F3F0"/>
          </a:solidFill>
          <a:ln>
            <a:solidFill>
              <a:srgbClr val="F4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367527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4519" y="5367527"/>
            <a:ext cx="5440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Georgia"/>
              </a:rPr>
              <a:t>/api/v1/outfits/{id}/feedback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5367527"/>
            <a:ext cx="3566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Malgun Gothic"/>
              </a:rPr>
              <a:t>추천 피드백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C5C5C"/>
                </a:solidFill>
                <a:latin typeface="Malgun Gothic"/>
              </a:rPr>
              <a:t>WEARLY  ·  The Daily Stylist  ·  기획 초안 2026</a:t>
            </a:r>
          </a:p>
        </p:txBody>
      </p:sp>
      <p:sp>
        <p:nvSpPr>
          <p:cNvPr id="501" name="TextBox 501"/>
          <p:cNvSpPr txBox="1"/>
          <p:nvPr/>
        </p:nvSpPr>
        <p:spPr>
          <a:xfrm>
            <a:off x="7680960" y="320040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B1E2B"/>
                </a:solidFill>
                <a:latin typeface="Georgia"/>
              </a:rPr>
              <a:t>N°05  </a:t>
            </a:r>
            <a:r>
              <a:rPr lang="en-US" sz="900" b="0" i="1">
                <a:solidFill>
                  <a:srgbClr val="7B1E2B"/>
                </a:solidFill>
                <a:latin typeface="Georgia"/>
              </a:rPr>
              <a:t>Architecture</a:t>
            </a:r>
            <a:r>
              <a:rPr lang="ko-KR" sz="900" b="0" i="0">
                <a:solidFill>
                  <a:srgbClr val="8E8E8E"/>
                </a:solidFill>
                <a:latin typeface="Malgun Gothic"/>
              </a:rPr>
              <a:t>   |   개발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7B1E2B"/>
                </a:solidFill>
                <a:latin typeface="Malgun Gothic"/>
              </a:rPr>
              <a:t xml:space="preserve">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React PWA와 Spring Boot API를 중심으로 </a:t>
            </a:r>
            <a:r>
              <a:rPr sz="1100" b="1" i="0">
                <a:solidFill>
                  <a:srgbClr val="7B1E2B"/>
                </a:solidFill>
                <a:latin typeface="Malgun Gothic"/>
              </a:rPr>
              <a:t xml:space="preserve">이미지·AI 서비스를 분리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510528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1">
                <a:solidFill>
                  <a:srgbClr val="5C5C5C"/>
                </a:solidFill>
                <a:latin typeface="Georgia"/>
              </a:rPr>
              <a:t>—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2331720" cy="960120"/>
          </a:xfrm>
          <a:prstGeom prst="rect">
            <a:avLst/>
          </a:prstGeom>
          <a:solidFill>
            <a:srgbClr val="EEEBE0"/>
          </a:solidFill>
          <a:ln>
            <a:solidFill>
              <a:srgbClr val="EE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1965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Malgun Gothic"/>
              </a:rPr>
              <a:t>React +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78608"/>
            <a:ext cx="1965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Malgun Gothic"/>
              </a:rPr>
              <a:t>PWA · React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286000"/>
            <a:ext cx="594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Malgun Gothic"/>
              </a:rPr>
              <a:t>HTTPS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286000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7B1E2B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965960"/>
            <a:ext cx="24231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212848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Malgun Gothic"/>
              </a:rPr>
              <a:t>Spring Boot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578608"/>
            <a:ext cx="2057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C5C5C"/>
                </a:solidFill>
                <a:latin typeface="Malgun Gothic"/>
              </a:rPr>
              <a:t>Security · Service · Mapper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0" y="2450592"/>
            <a:ext cx="548640" cy="0"/>
          </a:xfrm>
          <a:prstGeom prst="line">
            <a:avLst/>
          </a:prstGeom>
          <a:ln w="19050">
            <a:solidFill>
              <a:srgbClr val="7B1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56832" y="2121408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7B1E2B"/>
                </a:solidFill>
                <a:latin typeface="Malgun Gothic"/>
              </a:rPr>
              <a:t>연동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737360"/>
            <a:ext cx="1874519" cy="868680"/>
          </a:xfrm>
          <a:prstGeom prst="rect">
            <a:avLst/>
          </a:prstGeom>
          <a:solidFill>
            <a:srgbClr val="EEEBE0"/>
          </a:solidFill>
          <a:ln>
            <a:solidFill>
              <a:srgbClr val="EE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975104"/>
            <a:ext cx="1600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Malgun Gothic"/>
              </a:rPr>
              <a:t>MySQL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304288"/>
            <a:ext cx="1600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C5C5C"/>
                </a:solidFill>
                <a:latin typeface="Malgun Gothic"/>
              </a:rPr>
              <a:t>메타데이터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1737360"/>
            <a:ext cx="1874519" cy="868680"/>
          </a:xfrm>
          <a:prstGeom prst="rect">
            <a:avLst/>
          </a:prstGeom>
          <a:solidFill>
            <a:srgbClr val="EEEBE0"/>
          </a:solidFill>
          <a:ln>
            <a:solidFill>
              <a:srgbClr val="EE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1975104"/>
            <a:ext cx="1600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Malgun Gothic"/>
              </a:rPr>
              <a:t>Object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304288"/>
            <a:ext cx="1600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C5C5C"/>
                </a:solidFill>
                <a:latin typeface="Malgun Gothic"/>
              </a:rPr>
              <a:t>이미지 파일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0" y="2926080"/>
            <a:ext cx="0" cy="777240"/>
          </a:xfrm>
          <a:prstGeom prst="line">
            <a:avLst/>
          </a:prstGeom>
          <a:ln w="19050">
            <a:solidFill>
              <a:srgbClr val="7B1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743200" y="3703320"/>
            <a:ext cx="2743200" cy="0"/>
          </a:xfrm>
          <a:prstGeom prst="line">
            <a:avLst/>
          </a:prstGeom>
          <a:ln w="19050">
            <a:solidFill>
              <a:srgbClr val="7B1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743200" y="3703320"/>
            <a:ext cx="0" cy="274319"/>
          </a:xfrm>
          <a:prstGeom prst="line">
            <a:avLst/>
          </a:prstGeom>
          <a:ln w="19050">
            <a:solidFill>
              <a:srgbClr val="7B1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97280" y="3977639"/>
            <a:ext cx="32918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4224528"/>
            <a:ext cx="2926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Malgun Gothic"/>
              </a:rPr>
              <a:t>AI 이미지 분석 / 추천 엔진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572000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C5C5C"/>
                </a:solidFill>
                <a:latin typeface="Malgun Gothic"/>
              </a:rPr>
              <a:t>의류 속성 추출 · 조합 평가 · 설명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4160520"/>
            <a:ext cx="6126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설계 원칙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572000"/>
            <a:ext cx="6126480" cy="10058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5C5C5C"/>
                </a:solidFill>
                <a:latin typeface="Malgun Gothic"/>
              </a:defRPr>
            </a:pPr>
            <a:r>
              <a:t>• 이미지 파일과 DB 메타데이터 분리</a:t>
            </a:r>
          </a:p>
          <a:p>
            <a:pPr>
              <a:spcAft>
                <a:spcPts val="500"/>
              </a:spcAft>
              <a:defRPr sz="1100">
                <a:solidFill>
                  <a:srgbClr val="5C5C5C"/>
                </a:solidFill>
                <a:latin typeface="Malgun Gothic"/>
              </a:defRPr>
            </a:pPr>
            <a:r>
              <a:t>• AI 분석과 추천 비즈니스 로직 분리</a:t>
            </a:r>
          </a:p>
          <a:p>
            <a:pPr>
              <a:spcAft>
                <a:spcPts val="500"/>
              </a:spcAft>
              <a:defRPr sz="1100">
                <a:solidFill>
                  <a:srgbClr val="5C5C5C"/>
                </a:solidFill>
                <a:latin typeface="Malgun Gothic"/>
              </a:defRPr>
            </a:pPr>
            <a:r>
              <a:t>• 업로드 URL 만료·사용자 권한·비용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C5C5C"/>
                </a:solidFill>
                <a:latin typeface="Malgun Gothic"/>
              </a:rPr>
              <a:t>WEARLY  ·  The Daily Stylist  ·  기획 초안 2026</a:t>
            </a:r>
          </a:p>
        </p:txBody>
      </p:sp>
      <p:sp>
        <p:nvSpPr>
          <p:cNvPr id="501" name="TextBox 501"/>
          <p:cNvSpPr txBox="1"/>
          <p:nvPr/>
        </p:nvSpPr>
        <p:spPr>
          <a:xfrm>
            <a:off x="7680960" y="320040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B1E2B"/>
                </a:solidFill>
                <a:latin typeface="Georgia"/>
              </a:rPr>
              <a:t>N°05  </a:t>
            </a:r>
            <a:r>
              <a:rPr lang="en-US" sz="900" b="0" i="1">
                <a:solidFill>
                  <a:srgbClr val="7B1E2B"/>
                </a:solidFill>
                <a:latin typeface="Georgia"/>
              </a:rPr>
              <a:t>Architecture</a:t>
            </a:r>
            <a:r>
              <a:rPr lang="ko-KR" sz="900" b="0" i="0">
                <a:solidFill>
                  <a:srgbClr val="8E8E8E"/>
                </a:solidFill>
                <a:latin typeface="Malgun Gothic"/>
              </a:rPr>
              <a:t>   |   개발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Malgun Gothic"/>
              </a:rPr>
              <a:t xml:space="preserve">PWA·</a:t>
            </a:r>
            <a:r>
              <a:rPr sz="3000" b="1" i="0">
                <a:solidFill>
                  <a:srgbClr val="7B1E2B"/>
                </a:solidFill>
                <a:latin typeface="Malgun Gothic"/>
              </a:rPr>
              <a:t xml:space="preserve">보안</a:t>
            </a:r>
            <a:r>
              <a:rPr sz="3000" b="1" i="0">
                <a:solidFill>
                  <a:srgbClr val="111111"/>
                </a:solidFill>
                <a:latin typeface="Malgun Gothic"/>
              </a:rPr>
              <a:t xml:space="preserve">·운영 고려사항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앱처럼 설치되는 경험과 </a:t>
            </a:r>
            <a:r>
              <a:rPr sz="1100" b="1" i="0">
                <a:solidFill>
                  <a:srgbClr val="7B1E2B"/>
                </a:solidFill>
                <a:latin typeface="Malgun Gothic"/>
              </a:rPr>
              <a:t xml:space="preserve">사용자 사진 보호</a:t>
            </a: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를 함께 설계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510528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1">
                <a:solidFill>
                  <a:srgbClr val="5C5C5C"/>
                </a:solidFill>
                <a:latin typeface="Georgia"/>
              </a:rPr>
              <a:t>— 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42900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20824"/>
            <a:ext cx="308152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PWA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96312"/>
            <a:ext cx="3063240" cy="262432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웹 앱 매니페스트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HTTPS 및 서비스 워커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아이콘·시작 화면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모바일 반응형 UI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오프라인에서는 캐시 화면만 제공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74519"/>
            <a:ext cx="342900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20824"/>
            <a:ext cx="308152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개인정보·보안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96312"/>
            <a:ext cx="3063240" cy="262432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사용자별 소유권 검사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이미지 비공개 저장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업로드 URL 만료 및 파일 검증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EXIF 위치정보 등 제거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탈퇴 시 데이터 삭제 정책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42900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20824"/>
            <a:ext cx="30815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운영·비용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96312"/>
            <a:ext cx="3063240" cy="262432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AI 요청 중복 방지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분석 결과 캐싱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오류율·응답 시간 모니터링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요청 제한 및 비용 추적</a:t>
            </a:r>
          </a:p>
          <a:p>
            <a:pPr>
              <a:spcAft>
                <a:spcPts val="500"/>
              </a:spcAft>
              <a:defRPr sz="1200">
                <a:solidFill>
                  <a:srgbClr val="5C5C5C"/>
                </a:solidFill>
                <a:latin typeface="Malgun Gothic"/>
              </a:defRPr>
            </a:pPr>
            <a:r>
              <a:t>• 분석 실패 시 수동 등록 지원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C5C5C"/>
                </a:solidFill>
                <a:latin typeface="Malgun Gothic"/>
              </a:rPr>
              <a:t>WEARLY  ·  The Daily Stylist  ·  기획 초안 2026</a:t>
            </a:r>
          </a:p>
        </p:txBody>
      </p:sp>
      <p:sp>
        <p:nvSpPr>
          <p:cNvPr id="501" name="TextBox 501"/>
          <p:cNvSpPr txBox="1"/>
          <p:nvPr/>
        </p:nvSpPr>
        <p:spPr>
          <a:xfrm>
            <a:off x="7680960" y="320040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B1E2B"/>
                </a:solidFill>
                <a:latin typeface="Georgia"/>
              </a:rPr>
              <a:t>N°06  </a:t>
            </a:r>
            <a:r>
              <a:rPr lang="en-US" sz="900" b="0" i="1">
                <a:solidFill>
                  <a:srgbClr val="7B1E2B"/>
                </a:solidFill>
                <a:latin typeface="Georgia"/>
              </a:rPr>
              <a:t>Roadmap</a:t>
            </a:r>
            <a:r>
              <a:rPr lang="ko-KR" sz="900" b="0" i="0">
                <a:solidFill>
                  <a:srgbClr val="8E8E8E"/>
                </a:solidFill>
                <a:latin typeface="Malgun Gothic"/>
              </a:rPr>
              <a:t>   |   실행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7B1E2B"/>
                </a:solidFill>
                <a:latin typeface="Malgun Gothic"/>
              </a:rPr>
              <a:t xml:space="preserve">개발 로드맵</a:t>
            </a:r>
            <a:r>
              <a:rPr sz="3000" b="1" i="0">
                <a:solidFill>
                  <a:srgbClr val="111111"/>
                </a:solidFill>
                <a:latin typeface="Malgun Gothic"/>
              </a:rPr>
              <a:t xml:space="preserve"> 및 산출물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핵심 기능을 단계적으로 구현하고 </a:t>
            </a:r>
            <a:r>
              <a:rPr sz="1100" b="1" i="0">
                <a:solidFill>
                  <a:srgbClr val="7B1E2B"/>
                </a:solidFill>
                <a:latin typeface="Malgun Gothic"/>
              </a:rPr>
              <a:t xml:space="preserve">베타 데이터</a:t>
            </a: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를 통해 우선순위를 조정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510528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1">
                <a:solidFill>
                  <a:srgbClr val="5C5C5C"/>
                </a:solidFill>
                <a:latin typeface="Georgia"/>
              </a:rPr>
              <a:t>— 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169164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1508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7B1E2B"/>
                </a:solidFill>
                <a:latin typeface="Malgun Gothic"/>
              </a:rPr>
              <a:t>1주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Malgun Gothic"/>
              </a:rPr>
              <a:t>기획·설계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82112"/>
            <a:ext cx="14173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Malgun Gothic"/>
              </a:rPr>
              <a:t>IA·화면 명세
DB/API 계약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87168" y="2057400"/>
            <a:ext cx="169164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2240280"/>
            <a:ext cx="1508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7B1E2B"/>
                </a:solidFill>
                <a:latin typeface="Malgun Gothic"/>
              </a:rPr>
              <a:t>1주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2651760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Malgun Gothic"/>
              </a:rPr>
              <a:t>기반 구축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3182112"/>
            <a:ext cx="14173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Malgun Gothic"/>
              </a:rPr>
              <a:t>React·Spring Boot
MySQL·PWA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2057400"/>
            <a:ext cx="1691640" cy="2057400"/>
          </a:xfrm>
          <a:prstGeom prst="rect">
            <a:avLst/>
          </a:prstGeom>
          <a:solidFill>
            <a:srgbClr val="EEEBE0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2240280"/>
            <a:ext cx="1508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7B1E2B"/>
                </a:solidFill>
                <a:latin typeface="Malgun Gothic"/>
              </a:rPr>
              <a:t>1~2주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651760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Malgun Gothic"/>
              </a:rPr>
              <a:t>옷장 기능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3182112"/>
            <a:ext cx="14173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Malgun Gothic"/>
              </a:rPr>
              <a:t>사진 업로드
CRUD·AI 분류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64224" y="2057400"/>
            <a:ext cx="1691640" cy="2057400"/>
          </a:xfrm>
          <a:prstGeom prst="rect">
            <a:avLst/>
          </a:prstGeom>
          <a:solidFill>
            <a:srgbClr val="EEEBE0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2240280"/>
            <a:ext cx="1508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7B1E2B"/>
                </a:solidFill>
                <a:latin typeface="Malgun Gothic"/>
              </a:rPr>
              <a:t>2주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651760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Malgun Gothic"/>
              </a:rPr>
              <a:t>코디 추천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3182112"/>
            <a:ext cx="14173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Malgun Gothic"/>
              </a:rPr>
              <a:t>후보 생성
교체·저장·피드백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2752" y="2057400"/>
            <a:ext cx="169164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2" y="2240280"/>
            <a:ext cx="1508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7B1E2B"/>
                </a:solidFill>
                <a:latin typeface="Malgun Gothic"/>
              </a:rPr>
              <a:t>1주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651760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Malgun Gothic"/>
              </a:rPr>
              <a:t>통합 테스트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2" y="3182112"/>
            <a:ext cx="14173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Malgun Gothic"/>
              </a:rPr>
              <a:t>모바일·보안
오류 수정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0" y="2057400"/>
            <a:ext cx="169164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2240280"/>
            <a:ext cx="1508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7B1E2B"/>
                </a:solidFill>
                <a:latin typeface="Malgun Gothic"/>
              </a:rPr>
              <a:t>1~2주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2651760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Malgun Gothic"/>
              </a:rPr>
              <a:t>베타 운영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78440" y="3182112"/>
            <a:ext cx="14173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Malgun Gothic"/>
              </a:rPr>
              <a:t>사용자 반응
추천 품질 개선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800600"/>
            <a:ext cx="10698480" cy="822960"/>
          </a:xfrm>
          <a:prstGeom prst="rect">
            <a:avLst/>
          </a:prstGeom>
          <a:solidFill>
            <a:srgbClr val="ECE9E4"/>
          </a:solidFill>
          <a:ln>
            <a:solidFill>
              <a:srgbClr val="EC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010912"/>
            <a:ext cx="10241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Malgun Gothic"/>
              </a:rPr>
              <a:t>총 7~9주 추정 — 개발 인원·AI 연동 난이도·디자인 수준에 따라 조정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C5C5C"/>
                </a:solidFill>
                <a:latin typeface="Malgun Gothic"/>
              </a:rPr>
              <a:t>WEARLY  ·  The Daily Stylist  ·  기획 초안 2026</a:t>
            </a:r>
          </a:p>
        </p:txBody>
      </p:sp>
      <p:sp>
        <p:nvSpPr>
          <p:cNvPr id="501" name="TextBox 501"/>
          <p:cNvSpPr txBox="1"/>
          <p:nvPr/>
        </p:nvSpPr>
        <p:spPr>
          <a:xfrm>
            <a:off x="7680960" y="320040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B1E2B"/>
                </a:solidFill>
                <a:latin typeface="Georgia"/>
              </a:rPr>
              <a:t>N°06  </a:t>
            </a:r>
            <a:r>
              <a:rPr lang="en-US" sz="900" b="0" i="1">
                <a:solidFill>
                  <a:srgbClr val="7B1E2B"/>
                </a:solidFill>
                <a:latin typeface="Georgia"/>
              </a:rPr>
              <a:t>Roadmap</a:t>
            </a:r>
            <a:r>
              <a:rPr lang="ko-KR" sz="900" b="0" i="0">
                <a:solidFill>
                  <a:srgbClr val="8E8E8E"/>
                </a:solidFill>
                <a:latin typeface="Malgun Gothic"/>
              </a:rPr>
              <a:t>   |   실행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Malgun Gothic"/>
              </a:rPr>
              <a:t xml:space="preserve">베타 출시 후 </a:t>
            </a:r>
            <a:r>
              <a:rPr sz="3000" b="1" i="0">
                <a:solidFill>
                  <a:srgbClr val="7B1E2B"/>
                </a:solidFill>
                <a:latin typeface="Malgun Gothic"/>
              </a:rPr>
              <a:t xml:space="preserve">검증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임의의 목표치를 먼저 정하기보다 </a:t>
            </a:r>
            <a:r>
              <a:rPr sz="1100" b="1" i="0">
                <a:solidFill>
                  <a:srgbClr val="7B1E2B"/>
                </a:solidFill>
                <a:latin typeface="Malgun Gothic"/>
              </a:rPr>
              <a:t xml:space="preserve">기준선을 수집</a:t>
            </a: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하고 개선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510528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1">
                <a:solidFill>
                  <a:srgbClr val="5C5C5C"/>
                </a:solidFill>
                <a:latin typeface="Georgia"/>
              </a:rPr>
              <a:t>—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8328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20824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20824"/>
            <a:ext cx="26517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첫 옷 등록 완료율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96312"/>
            <a:ext cx="3017520" cy="52120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5C5C5C"/>
                </a:solidFill>
                <a:latin typeface="Malgun Gothic"/>
              </a:defRPr>
            </a:pPr>
            <a:r>
              <a:t>• 초기 진입 장벽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74519"/>
            <a:ext cx="338328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2020824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768" y="2020824"/>
            <a:ext cx="26517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첫 코디 추천 성공률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96312"/>
            <a:ext cx="3017520" cy="52120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5C5C5C"/>
                </a:solidFill>
                <a:latin typeface="Malgun Gothic"/>
              </a:defRPr>
            </a:pPr>
            <a:r>
              <a:t>• 핵심 경험 전달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74519"/>
            <a:ext cx="338328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020824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2020824"/>
            <a:ext cx="26517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추천 코디 저장률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96312"/>
            <a:ext cx="3017520" cy="52120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5C5C5C"/>
                </a:solidFill>
                <a:latin typeface="Malgun Gothic"/>
              </a:defRPr>
            </a:pPr>
            <a:r>
              <a:t>• 결과의 유용성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74720"/>
            <a:ext cx="338328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621024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621024"/>
            <a:ext cx="26517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아이템 교체율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096511"/>
            <a:ext cx="3017520" cy="52120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5C5C5C"/>
                </a:solidFill>
                <a:latin typeface="Malgun Gothic"/>
              </a:defRPr>
            </a:pPr>
            <a:r>
              <a:t>• 추천 적합성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474720"/>
            <a:ext cx="338328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1" y="3621024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1768" y="3621024"/>
            <a:ext cx="26517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주간 재방문율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096511"/>
            <a:ext cx="3017520" cy="52120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5C5C5C"/>
                </a:solidFill>
                <a:latin typeface="Malgun Gothic"/>
              </a:defRPr>
            </a:pPr>
            <a:r>
              <a:t>• 반복 사용 가치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474720"/>
            <a:ext cx="338328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3621024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5088" y="3621024"/>
            <a:ext cx="26517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Malgun Gothic"/>
              </a:rPr>
              <a:t>코디당 AI 비용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096511"/>
            <a:ext cx="3017520" cy="52120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5C5C5C"/>
                </a:solidFill>
                <a:latin typeface="Malgun Gothic"/>
              </a:defRPr>
            </a:pPr>
            <a:r>
              <a:t>• 운영 경제성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394960"/>
            <a:ext cx="105156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7B1E2B"/>
                </a:solidFill>
                <a:latin typeface="Malgun Gothic"/>
              </a:rPr>
              <a:t>피드백은 ‘좋아요/별로예요’뿐 아니라 비선호 이유와 아이템 교체 행동까지 수집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C5C5C"/>
                </a:solidFill>
                <a:latin typeface="Malgun Gothic"/>
              </a:rPr>
              <a:t>WEARLY  ·  The Daily Stylist  ·  기획 초안 2026</a:t>
            </a:r>
          </a:p>
        </p:txBody>
      </p:sp>
      <p:sp>
        <p:nvSpPr>
          <p:cNvPr id="501" name="TextBox 501"/>
          <p:cNvSpPr txBox="1"/>
          <p:nvPr/>
        </p:nvSpPr>
        <p:spPr>
          <a:xfrm>
            <a:off x="7680960" y="320040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B1E2B"/>
                </a:solidFill>
                <a:latin typeface="Georgia"/>
              </a:rPr>
              <a:t>N°06  </a:t>
            </a:r>
            <a:r>
              <a:rPr lang="en-US" sz="900" b="0" i="1">
                <a:solidFill>
                  <a:srgbClr val="7B1E2B"/>
                </a:solidFill>
                <a:latin typeface="Georgia"/>
              </a:rPr>
              <a:t>Roadmap</a:t>
            </a:r>
            <a:r>
              <a:rPr lang="ko-KR" sz="900" b="0" i="0">
                <a:solidFill>
                  <a:srgbClr val="8E8E8E"/>
                </a:solidFill>
                <a:latin typeface="Malgun Gothic"/>
              </a:rPr>
              <a:t>   |   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Malgun Gothic"/>
              </a:rPr>
              <a:t xml:space="preserve">권장 </a:t>
            </a:r>
            <a:r>
              <a:rPr sz="3000" b="1" i="0">
                <a:solidFill>
                  <a:srgbClr val="7B1E2B"/>
                </a:solidFill>
                <a:latin typeface="Malgun Gothic"/>
              </a:rPr>
              <a:t xml:space="preserve">실행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Malgun Gothic"/>
              </a:rPr>
              <a:t xml:space="preserve">기획과 개발이 같은 기준을 보도록 먼저 </a:t>
            </a:r>
            <a:r>
              <a:rPr sz="1100" b="1" i="0">
                <a:solidFill>
                  <a:srgbClr val="7B1E2B"/>
                </a:solidFill>
                <a:latin typeface="Malgun Gothic"/>
              </a:rPr>
              <a:t xml:space="preserve">계약과 범위를 고정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510528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1">
                <a:solidFill>
                  <a:srgbClr val="5C5C5C"/>
                </a:solidFill>
                <a:latin typeface="Georgia"/>
              </a:rPr>
              <a:t>— 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502920" cy="438912"/>
          </a:xfrm>
          <a:prstGeom prst="rect">
            <a:avLst/>
          </a:prstGeom>
          <a:solidFill>
            <a:srgbClr val="ECE9E4"/>
          </a:solidFill>
          <a:ln>
            <a:solidFill>
              <a:srgbClr val="EC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84248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01951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Malgun Gothic"/>
              </a:rPr>
              <a:t>화면 설계서 확정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938527"/>
            <a:ext cx="6675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Malgun Gothic"/>
              </a:rPr>
              <a:t>홈·옷장 등록·코디 결과의 상태와 예외 정의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24327"/>
            <a:ext cx="502920" cy="438912"/>
          </a:xfrm>
          <a:prstGeom prst="rect">
            <a:avLst/>
          </a:prstGeom>
          <a:solidFill>
            <a:srgbClr val="ECE9E4"/>
          </a:solidFill>
          <a:ln>
            <a:solidFill>
              <a:srgbClr val="EC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734056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51759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Malgun Gothic"/>
              </a:rPr>
              <a:t>DB DDL 확정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688335"/>
            <a:ext cx="6675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Malgun Gothic"/>
              </a:rPr>
              <a:t>사용자·아이템·이미지·코디 관계와 삭제 정책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374135"/>
            <a:ext cx="502920" cy="438912"/>
          </a:xfrm>
          <a:prstGeom prst="rect">
            <a:avLst/>
          </a:prstGeom>
          <a:solidFill>
            <a:srgbClr val="ECE9E4"/>
          </a:solidFill>
          <a:ln>
            <a:solidFill>
              <a:srgbClr val="EC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483863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401567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Malgun Gothic"/>
              </a:rPr>
              <a:t>API 계약 확정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438143"/>
            <a:ext cx="6675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Malgun Gothic"/>
              </a:rPr>
              <a:t>요청/응답 DTO, 인증, 오류 형식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123944"/>
            <a:ext cx="502920" cy="438912"/>
          </a:xfrm>
          <a:prstGeom prst="rect">
            <a:avLst/>
          </a:prstGeom>
          <a:solidFill>
            <a:srgbClr val="ECE9E4"/>
          </a:solidFill>
          <a:ln>
            <a:solidFill>
              <a:srgbClr val="EC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233672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513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Malgun Gothic"/>
              </a:rPr>
              <a:t>옷장 MVP 개발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4187952"/>
            <a:ext cx="6675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Malgun Gothic"/>
              </a:rPr>
              <a:t>사진 등록과 아이템 CRUD부터 구현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873752"/>
            <a:ext cx="502920" cy="438912"/>
          </a:xfrm>
          <a:prstGeom prst="rect">
            <a:avLst/>
          </a:prstGeom>
          <a:solidFill>
            <a:srgbClr val="ECE9E4"/>
          </a:solidFill>
          <a:ln>
            <a:solidFill>
              <a:srgbClr val="EC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983480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7B1E2B"/>
                </a:solidFill>
                <a:latin typeface="Georgia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901184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Malgun Gothic"/>
              </a:rPr>
              <a:t>추천 엔진 연결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4937760"/>
            <a:ext cx="6675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Malgun Gothic"/>
              </a:rPr>
              <a:t>규칙 기반 후보 생성 후 AI 분석·설명 연결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806440"/>
            <a:ext cx="10424160" cy="384048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897880"/>
            <a:ext cx="10149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목표: ‘내 옷 등록 → 출근 코디 추천 → 저장’의 핵심 흐름을 먼저 완성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C5C5C"/>
                </a:solidFill>
                <a:latin typeface="Malgun Gothic"/>
              </a:rPr>
              <a:t>WEARLY  ·  The Daily Stylist  ·  기획 초안 2026</a:t>
            </a:r>
          </a:p>
        </p:txBody>
      </p:sp>
      <p:sp>
        <p:nvSpPr>
          <p:cNvPr id="501" name="TextBox 501"/>
          <p:cNvSpPr txBox="1"/>
          <p:nvPr/>
        </p:nvSpPr>
        <p:spPr>
          <a:xfrm>
            <a:off x="7680960" y="320040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94360" y="320040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900" b="1" i="0">
                <a:solidFill>
                  <a:srgbClr val="7B1E2B"/>
                </a:solidFill>
                <a:latin typeface="Georgia"/>
                <a:ea typeface="Malgun Gothic"/>
              </a:rPr>
              <a:t>N°01  </a:t>
            </a:r>
            <a:r>
              <a:rPr lang="en-US" sz="900" b="0" i="1">
                <a:solidFill>
                  <a:srgbClr val="7B1E2B"/>
                </a:solidFill>
                <a:latin typeface="Georgia"/>
              </a:rPr>
              <a:t>Brand Concept</a:t>
            </a:r>
            <a:r>
              <a:rPr lang="ko-KR" sz="900" b="0" i="0">
                <a:solidFill>
                  <a:srgbClr val="8E8E8E"/>
                </a:solidFill>
                <a:latin typeface="Malgun Gothic"/>
              </a:rPr>
              <a:t>   |   브랜드 컨셉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3000" b="1" i="0">
                <a:solidFill>
                  <a:srgbClr val="111111"/>
                </a:solidFill>
                <a:latin typeface="Malgun Gothic"/>
                <a:ea typeface="Malgun Gothic"/>
              </a:rPr>
              <a:t xml:space="preserve">Wearly </a:t>
            </a:r>
            <a:r>
              <a:rPr lang="ko-KR" sz="3000" b="1" i="0">
                <a:solidFill>
                  <a:srgbClr val="7B1E2B"/>
                </a:solidFill>
                <a:latin typeface="Malgun Gothic"/>
                <a:ea typeface="Malgun Gothic"/>
              </a:rPr>
              <a:t xml:space="preserve">브랜드 컨셉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1792" y="1243584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00" b="0" i="0">
                <a:solidFill>
                  <a:srgbClr val="5C5C5C"/>
                </a:solidFill>
                <a:latin typeface="Malgun Gothic"/>
                <a:ea typeface="Malgun Gothic"/>
              </a:rPr>
              <a:t xml:space="preserve">‘오늘 뭐 입지?’의 고민을 새 옷이 아닌 </a:t>
            </a:r>
            <a:r>
              <a:rPr lang="ko-KR" sz="1100" b="1" i="0">
                <a:solidFill>
                  <a:srgbClr val="7B1E2B"/>
                </a:solidFill>
                <a:latin typeface="Malgun Gothic"/>
                <a:ea typeface="Malgun Gothic"/>
              </a:rPr>
              <a:t xml:space="preserve">내 옷장 안에서 해결</a:t>
            </a:r>
            <a:r>
              <a:rPr lang="ko-KR" sz="1100" b="0" i="0">
                <a:solidFill>
                  <a:srgbClr val="5C5C5C"/>
                </a:solidFill>
                <a:latin typeface="Malgun Gothic"/>
                <a:ea typeface="Malgun Gothic"/>
              </a:rPr>
              <a:t xml:space="preserve">하는 데일리 스타일리스트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6" name="TextBox 6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800" b="0" i="0">
                <a:solidFill>
                  <a:srgbClr val="5C5C5C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89920" y="6510528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lang="ko-KR" sz="900" b="0" i="1">
                <a:solidFill>
                  <a:srgbClr val="5C5C5C"/>
                </a:solidFill>
                <a:latin typeface="Georgia"/>
                <a:ea typeface="Malgun Gothic"/>
              </a:rPr>
              <a:t>— 03</a:t>
            </a:r>
          </a:p>
        </p:txBody>
      </p:sp>
      <p:sp>
        <p:nvSpPr>
          <p:cNvPr id="8" name="Shape 8"/>
          <p:cNvSpPr/>
          <p:nvPr/>
        </p:nvSpPr>
        <p:spPr>
          <a:xfrm>
            <a:off x="731520" y="1828800"/>
            <a:ext cx="10725912" cy="1600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9"/>
          <p:cNvSpPr txBox="1"/>
          <p:nvPr/>
        </p:nvSpPr>
        <p:spPr>
          <a:xfrm>
            <a:off x="1097280" y="2029968"/>
            <a:ext cx="4572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000" b="1" i="0">
                <a:solidFill>
                  <a:srgbClr val="D5B990"/>
                </a:solidFill>
                <a:latin typeface="Georgia"/>
                <a:ea typeface="Malgun Gothic"/>
              </a:rPr>
              <a:t>MAIN SLOGAN · 메인 슬로건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7280" y="2331720"/>
            <a:ext cx="74980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2800" b="1" i="0">
                <a:solidFill>
                  <a:srgbClr val="FFFFFF"/>
                </a:solidFill>
                <a:latin typeface="Malgun Gothic"/>
                <a:ea typeface="Malgun Gothic"/>
              </a:rPr>
              <a:t>오늘 뭐 입지? 이제 고민 끝.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97280" y="2880360"/>
            <a:ext cx="74980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700" b="0" i="0">
                <a:solidFill>
                  <a:srgbClr val="ECE9E4"/>
                </a:solidFill>
                <a:latin typeface="Malgun Gothic"/>
                <a:ea typeface="Malgun Gothic"/>
              </a:rPr>
              <a:t>내 옷으로 완성하는 오늘의 코디.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03920" y="2331720"/>
            <a:ext cx="26517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lang="ko-KR" sz="3400" b="1" i="0">
                <a:solidFill>
                  <a:srgbClr val="D5B990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03920" y="2907792"/>
            <a:ext cx="2651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lang="ko-KR" sz="1300" b="0" i="0">
                <a:solidFill>
                  <a:srgbClr val="ECE9E4"/>
                </a:solidFill>
                <a:latin typeface="Malgun Gothic"/>
                <a:ea typeface="Malgun Gothic"/>
              </a:rPr>
              <a:t>웨어리</a:t>
            </a:r>
          </a:p>
        </p:txBody>
      </p:sp>
      <p:sp>
        <p:nvSpPr>
          <p:cNvPr id="14" name="Shape 14"/>
          <p:cNvSpPr/>
          <p:nvPr/>
        </p:nvSpPr>
        <p:spPr>
          <a:xfrm>
            <a:off x="731520" y="3703320"/>
            <a:ext cx="3374136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5"/>
          <p:cNvSpPr txBox="1"/>
          <p:nvPr/>
        </p:nvSpPr>
        <p:spPr>
          <a:xfrm>
            <a:off x="960120" y="3867912"/>
            <a:ext cx="291693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000" b="1" i="0">
                <a:solidFill>
                  <a:srgbClr val="7B1E2B"/>
                </a:solidFill>
                <a:latin typeface="Georgia"/>
                <a:ea typeface="Malgun Gothic"/>
              </a:rPr>
              <a:t>01  </a:t>
            </a:r>
            <a:r>
              <a:rPr lang="ko-KR" sz="1000" b="1" i="0">
                <a:solidFill>
                  <a:srgbClr val="7B1E2B"/>
                </a:solidFill>
                <a:latin typeface="Malgun Gothic"/>
                <a:ea typeface="Malgun Gothic"/>
              </a:rPr>
              <a:t>공감 메시지</a:t>
            </a:r>
            <a:r>
              <a:rPr lang="ko-KR" sz="900" b="0" i="0">
                <a:solidFill>
                  <a:srgbClr val="8E8E8E"/>
                </a:solidFill>
                <a:latin typeface="Georgia"/>
                <a:ea typeface="Malgun Gothic"/>
              </a:rPr>
              <a:t>  ·  EMPATHY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0120" y="4178808"/>
            <a:ext cx="2916936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600" b="1" i="0">
                <a:solidFill>
                  <a:srgbClr val="111111"/>
                </a:solidFill>
                <a:latin typeface="Malgun Gothic"/>
                <a:ea typeface="Malgun Gothic"/>
              </a:rPr>
              <a:t>옷장은 가득한데,</a:t>
            </a:r>
          </a:p>
          <a:p>
            <a:pPr algn="l">
              <a:spcAft>
                <a:spcPts val="300"/>
              </a:spcAft>
            </a:pPr>
            <a:r>
              <a:rPr lang="ko-KR" sz="1600" b="1" i="0">
                <a:solidFill>
                  <a:srgbClr val="111111"/>
                </a:solidFill>
                <a:latin typeface="Malgun Gothic"/>
                <a:ea typeface="Malgun Gothic"/>
              </a:rPr>
              <a:t>입을 옷은 없다?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0120" y="4965192"/>
            <a:ext cx="291693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250" b="1" i="0">
                <a:solidFill>
                  <a:srgbClr val="7B1E2B"/>
                </a:solidFill>
                <a:latin typeface="Malgun Gothic"/>
                <a:ea typeface="Malgun Gothic"/>
              </a:rPr>
              <a:t>웨어리가 오늘 입을 옷을 찾아드려요.</a:t>
            </a:r>
          </a:p>
        </p:txBody>
      </p:sp>
      <p:cxnSp>
        <p:nvCxnSpPr>
          <p:cNvPr id="18" name="Connector 18"/>
          <p:cNvCxnSpPr/>
          <p:nvPr/>
        </p:nvCxnSpPr>
        <p:spPr>
          <a:xfrm>
            <a:off x="1005840" y="5367528"/>
            <a:ext cx="2825496" cy="0"/>
          </a:xfrm>
          <a:prstGeom prst="line">
            <a:avLst/>
          </a:prstGeom>
          <a:ln w="12700">
            <a:solidFill>
              <a:srgbClr val="E2DFDA"/>
            </a:solidFill>
          </a:ln>
        </p:spPr>
      </p:cxnSp>
      <p:sp>
        <p:nvSpPr>
          <p:cNvPr id="19" name="TextBox 19"/>
          <p:cNvSpPr txBox="1"/>
          <p:nvPr/>
        </p:nvSpPr>
        <p:spPr>
          <a:xfrm>
            <a:off x="960120" y="5440680"/>
            <a:ext cx="2916936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00" b="0" i="0">
                <a:solidFill>
                  <a:srgbClr val="5C5C5C"/>
                </a:solidFill>
                <a:latin typeface="Malgun Gothic"/>
                <a:ea typeface="Malgun Gothic"/>
              </a:rPr>
              <a:t>모두가 겪는 아침의 고민을 질문으로 꺼내고, 웨어리가 해답을 제시</a:t>
            </a:r>
          </a:p>
        </p:txBody>
      </p:sp>
      <p:sp>
        <p:nvSpPr>
          <p:cNvPr id="20" name="Shape 20"/>
          <p:cNvSpPr/>
          <p:nvPr/>
        </p:nvSpPr>
        <p:spPr>
          <a:xfrm>
            <a:off x="4407408" y="3703320"/>
            <a:ext cx="3374136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1"/>
          <p:cNvSpPr txBox="1"/>
          <p:nvPr/>
        </p:nvSpPr>
        <p:spPr>
          <a:xfrm>
            <a:off x="4636008" y="3867912"/>
            <a:ext cx="291693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000" b="1" i="0">
                <a:solidFill>
                  <a:srgbClr val="7B1E2B"/>
                </a:solidFill>
                <a:latin typeface="Georgia"/>
                <a:ea typeface="Malgun Gothic"/>
              </a:rPr>
              <a:t>02  </a:t>
            </a:r>
            <a:r>
              <a:rPr lang="ko-KR" sz="1000" b="1" i="0">
                <a:solidFill>
                  <a:srgbClr val="7B1E2B"/>
                </a:solidFill>
                <a:latin typeface="Malgun Gothic"/>
                <a:ea typeface="Malgun Gothic"/>
              </a:rPr>
              <a:t>가치 메시지</a:t>
            </a:r>
            <a:r>
              <a:rPr lang="ko-KR" sz="900" b="0" i="0">
                <a:solidFill>
                  <a:srgbClr val="8E8E8E"/>
                </a:solidFill>
                <a:latin typeface="Georgia"/>
                <a:ea typeface="Malgun Gothic"/>
              </a:rPr>
              <a:t>  ·  VALUE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36008" y="4178808"/>
            <a:ext cx="2916936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600" b="1" i="0">
                <a:solidFill>
                  <a:srgbClr val="111111"/>
                </a:solidFill>
                <a:latin typeface="Malgun Gothic"/>
                <a:ea typeface="Malgun Gothic"/>
              </a:rPr>
              <a:t>새 옷을 사기 전에,</a:t>
            </a:r>
          </a:p>
          <a:p>
            <a:pPr algn="l">
              <a:spcAft>
                <a:spcPts val="300"/>
              </a:spcAft>
            </a:pPr>
            <a:r>
              <a:rPr lang="ko-KR" sz="1600" b="1" i="0">
                <a:solidFill>
                  <a:srgbClr val="111111"/>
                </a:solidFill>
                <a:latin typeface="Malgun Gothic"/>
                <a:ea typeface="Malgun Gothic"/>
              </a:rPr>
              <a:t>내 옷장부터.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36008" y="4965192"/>
            <a:ext cx="291693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250" b="1" i="0">
                <a:solidFill>
                  <a:srgbClr val="7B1E2B"/>
                </a:solidFill>
                <a:latin typeface="Malgun Gothic"/>
                <a:ea typeface="Malgun Gothic"/>
              </a:rPr>
              <a:t>있는 옷으로 발견하는 새로운 나.</a:t>
            </a:r>
          </a:p>
        </p:txBody>
      </p:sp>
      <p:cxnSp>
        <p:nvCxnSpPr>
          <p:cNvPr id="24" name="Connector 24"/>
          <p:cNvCxnSpPr/>
          <p:nvPr/>
        </p:nvCxnSpPr>
        <p:spPr>
          <a:xfrm>
            <a:off x="4681728" y="5367528"/>
            <a:ext cx="2825496" cy="0"/>
          </a:xfrm>
          <a:prstGeom prst="line">
            <a:avLst/>
          </a:prstGeom>
          <a:ln w="12700">
            <a:solidFill>
              <a:srgbClr val="E2DFDA"/>
            </a:solidFill>
          </a:ln>
        </p:spPr>
      </p:cxnSp>
      <p:sp>
        <p:nvSpPr>
          <p:cNvPr id="25" name="TextBox 25"/>
          <p:cNvSpPr txBox="1"/>
          <p:nvPr/>
        </p:nvSpPr>
        <p:spPr>
          <a:xfrm>
            <a:off x="4636008" y="5440680"/>
            <a:ext cx="2916936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00" b="0" i="0">
                <a:solidFill>
                  <a:srgbClr val="5C5C5C"/>
                </a:solidFill>
                <a:latin typeface="Malgun Gothic"/>
                <a:ea typeface="Malgun Gothic"/>
              </a:rPr>
              <a:t>소비보다 활용 — 보유 옷의 새로운 조합으로 나다운 스타일 발견</a:t>
            </a:r>
          </a:p>
        </p:txBody>
      </p:sp>
      <p:sp>
        <p:nvSpPr>
          <p:cNvPr id="26" name="Shape 26"/>
          <p:cNvSpPr/>
          <p:nvPr/>
        </p:nvSpPr>
        <p:spPr>
          <a:xfrm>
            <a:off x="8083296" y="3703320"/>
            <a:ext cx="3374136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7"/>
          <p:cNvSpPr txBox="1"/>
          <p:nvPr/>
        </p:nvSpPr>
        <p:spPr>
          <a:xfrm>
            <a:off x="8311896" y="3867912"/>
            <a:ext cx="291693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000" b="1" i="0">
                <a:solidFill>
                  <a:srgbClr val="7B1E2B"/>
                </a:solidFill>
                <a:latin typeface="Georgia"/>
                <a:ea typeface="Malgun Gothic"/>
              </a:rPr>
              <a:t>03  </a:t>
            </a:r>
            <a:r>
              <a:rPr lang="ko-KR" sz="1000" b="1" i="0">
                <a:solidFill>
                  <a:srgbClr val="7B1E2B"/>
                </a:solidFill>
                <a:latin typeface="Malgun Gothic"/>
                <a:ea typeface="Malgun Gothic"/>
              </a:rPr>
              <a:t>네이밍</a:t>
            </a:r>
            <a:r>
              <a:rPr lang="ko-KR" sz="900" b="0" i="0">
                <a:solidFill>
                  <a:srgbClr val="8E8E8E"/>
                </a:solidFill>
                <a:latin typeface="Georgia"/>
                <a:ea typeface="Malgun Gothic"/>
              </a:rPr>
              <a:t>  ·  NAMING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11896" y="4178808"/>
            <a:ext cx="2916936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600" b="1" i="0">
                <a:solidFill>
                  <a:srgbClr val="111111"/>
                </a:solidFill>
                <a:latin typeface="Georgia"/>
                <a:ea typeface="Malgun Gothic"/>
              </a:rPr>
              <a:t>Wear + Daily</a:t>
            </a:r>
          </a:p>
          <a:p>
            <a:pPr algn="l">
              <a:spcAft>
                <a:spcPts val="300"/>
              </a:spcAft>
            </a:pPr>
            <a:r>
              <a:rPr lang="ko-KR" sz="1600" b="1" i="0">
                <a:solidFill>
                  <a:srgbClr val="111111"/>
                </a:solidFill>
                <a:latin typeface="Georgia"/>
                <a:ea typeface="Malgun Gothic"/>
              </a:rPr>
              <a:t>= Wearly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11896" y="4965192"/>
            <a:ext cx="291693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250" b="1" i="0">
                <a:solidFill>
                  <a:srgbClr val="7B1E2B"/>
                </a:solidFill>
                <a:latin typeface="Malgun Gothic"/>
                <a:ea typeface="Malgun Gothic"/>
              </a:rPr>
              <a:t>매일 입는 옷을, 매일 새롭게.</a:t>
            </a:r>
          </a:p>
        </p:txBody>
      </p:sp>
      <p:cxnSp>
        <p:nvCxnSpPr>
          <p:cNvPr id="30" name="Connector 30"/>
          <p:cNvCxnSpPr/>
          <p:nvPr/>
        </p:nvCxnSpPr>
        <p:spPr>
          <a:xfrm>
            <a:off x="8357616" y="5367528"/>
            <a:ext cx="2825496" cy="0"/>
          </a:xfrm>
          <a:prstGeom prst="line">
            <a:avLst/>
          </a:prstGeom>
          <a:ln w="12700">
            <a:solidFill>
              <a:srgbClr val="E2DFDA"/>
            </a:solidFill>
          </a:ln>
        </p:spPr>
      </p:cxnSp>
      <p:sp>
        <p:nvSpPr>
          <p:cNvPr id="31" name="TextBox 31"/>
          <p:cNvSpPr txBox="1"/>
          <p:nvPr/>
        </p:nvSpPr>
        <p:spPr>
          <a:xfrm>
            <a:off x="8311896" y="5440680"/>
            <a:ext cx="2916936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00" b="0" i="0">
                <a:solidFill>
                  <a:srgbClr val="5C5C5C"/>
                </a:solidFill>
                <a:latin typeface="Malgun Gothic"/>
                <a:ea typeface="Malgun Gothic"/>
              </a:rPr>
              <a:t>‘입다(Wear)’와 ‘매일(-ly)’을 결합해 데일리 코디 습관을 표현</a:t>
            </a:r>
          </a:p>
        </p:txBody>
      </p:sp>
      <p:sp>
        <p:nvSpPr>
          <p:cNvPr id="501" name="TextBox 501"/>
          <p:cNvSpPr txBox="1"/>
          <p:nvPr/>
        </p:nvSpPr>
        <p:spPr>
          <a:xfrm>
            <a:off x="7680960" y="320040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94360" y="320040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900" b="1" i="0">
                <a:solidFill>
                  <a:srgbClr val="7B1E2B"/>
                </a:solidFill>
                <a:latin typeface="Georgia"/>
                <a:ea typeface="Malgun Gothic"/>
              </a:rPr>
              <a:t>N°01  </a:t>
            </a:r>
            <a:r>
              <a:rPr lang="en-US" sz="900" b="0" i="1">
                <a:solidFill>
                  <a:srgbClr val="7B1E2B"/>
                </a:solidFill>
                <a:latin typeface="Georgia"/>
              </a:rPr>
              <a:t>Brand Concept</a:t>
            </a:r>
            <a:r>
              <a:rPr lang="ko-KR" sz="900" b="0" i="0">
                <a:solidFill>
                  <a:srgbClr val="8E8E8E"/>
                </a:solidFill>
                <a:latin typeface="Malgun Gothic"/>
              </a:rPr>
              <a:t>   |   브랜드 컨셉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3000" b="1" i="0">
                <a:solidFill>
                  <a:srgbClr val="111111"/>
                </a:solidFill>
                <a:latin typeface="Malgun Gothic"/>
                <a:ea typeface="Malgun Gothic"/>
              </a:rPr>
              <a:t xml:space="preserve">브랜드 메시지 </a:t>
            </a:r>
            <a:r>
              <a:rPr lang="ko-KR" sz="3000" b="1" i="0">
                <a:solidFill>
                  <a:srgbClr val="7B1E2B"/>
                </a:solidFill>
                <a:latin typeface="Malgun Gothic"/>
                <a:ea typeface="Malgun Gothic"/>
              </a:rPr>
              <a:t xml:space="preserve">적용 계획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1792" y="1243584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00" b="0" i="0">
                <a:solidFill>
                  <a:srgbClr val="5C5C5C"/>
                </a:solidFill>
                <a:latin typeface="Malgun Gothic"/>
                <a:ea typeface="Malgun Gothic"/>
              </a:rPr>
              <a:t xml:space="preserve">사용자 여정의 각 접점에서 같은 이야기를 일관되게 전달 — </a:t>
            </a:r>
            <a:r>
              <a:rPr lang="ko-KR" sz="1100" b="1" i="0">
                <a:solidFill>
                  <a:srgbClr val="7B1E2B"/>
                </a:solidFill>
                <a:latin typeface="Malgun Gothic"/>
                <a:ea typeface="Malgun Gothic"/>
              </a:rPr>
              <a:t xml:space="preserve">공감 → 해결 → 습관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6" name="TextBox 6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800" b="0" i="0">
                <a:solidFill>
                  <a:srgbClr val="5C5C5C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89920" y="6510528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lang="ko-KR" sz="900" b="0" i="1">
                <a:solidFill>
                  <a:srgbClr val="5C5C5C"/>
                </a:solidFill>
                <a:latin typeface="Georgia"/>
                <a:ea typeface="Malgun Gothic"/>
              </a:rPr>
              <a:t>— 05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8680" y="1755648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900" b="1" i="0">
                <a:solidFill>
                  <a:srgbClr val="7B1E2B"/>
                </a:solidFill>
                <a:latin typeface="Georgia"/>
                <a:ea typeface="Malgun Gothic"/>
              </a:rPr>
              <a:t>STEP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20240" y="175564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900" b="1" i="0">
                <a:solidFill>
                  <a:srgbClr val="7B1E2B"/>
                </a:solidFill>
                <a:latin typeface="Malgun Gothic"/>
                <a:ea typeface="Malgun Gothic"/>
              </a:rPr>
              <a:t>접점 · 화면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69080" y="1755648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900" b="1" i="0">
                <a:solidFill>
                  <a:srgbClr val="7B1E2B"/>
                </a:solidFill>
                <a:latin typeface="Malgun Gothic"/>
                <a:ea typeface="Malgun Gothic"/>
              </a:rPr>
              <a:t>노출 문구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66760" y="1755648"/>
            <a:ext cx="3017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900" b="1" i="0">
                <a:solidFill>
                  <a:srgbClr val="7B1E2B"/>
                </a:solidFill>
                <a:latin typeface="Malgun Gothic"/>
                <a:ea typeface="Malgun Gothic"/>
              </a:rPr>
              <a:t>목적</a:t>
            </a:r>
          </a:p>
        </p:txBody>
      </p:sp>
      <p:sp>
        <p:nvSpPr>
          <p:cNvPr id="12" name="Shape 12"/>
          <p:cNvSpPr/>
          <p:nvPr/>
        </p:nvSpPr>
        <p:spPr>
          <a:xfrm>
            <a:off x="731520" y="2084832"/>
            <a:ext cx="10725912" cy="603504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hape 13"/>
          <p:cNvSpPr/>
          <p:nvPr/>
        </p:nvSpPr>
        <p:spPr>
          <a:xfrm>
            <a:off x="868680" y="2231136"/>
            <a:ext cx="868680" cy="310896"/>
          </a:xfrm>
          <a:prstGeom prst="rect">
            <a:avLst/>
          </a:prstGeom>
          <a:solidFill>
            <a:srgbClr val="ECE9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4"/>
          <p:cNvSpPr txBox="1"/>
          <p:nvPr/>
        </p:nvSpPr>
        <p:spPr>
          <a:xfrm>
            <a:off x="868680" y="2231136"/>
            <a:ext cx="8686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ko-KR" sz="1000" b="1" i="0">
                <a:solidFill>
                  <a:srgbClr val="111111"/>
                </a:solidFill>
                <a:latin typeface="Malgun Gothic"/>
                <a:ea typeface="Malgun Gothic"/>
              </a:rPr>
              <a:t>발견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20240" y="2084832"/>
            <a:ext cx="210312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50" b="0" i="0">
                <a:solidFill>
                  <a:srgbClr val="5C5C5C"/>
                </a:solidFill>
                <a:latin typeface="Malgun Gothic"/>
                <a:ea typeface="Malgun Gothic"/>
              </a:rPr>
              <a:t>앱스토어 · SNS 광고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69080" y="2084832"/>
            <a:ext cx="420624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400" b="1" i="0">
                <a:solidFill>
                  <a:srgbClr val="111111"/>
                </a:solidFill>
                <a:latin typeface="Malgun Gothic"/>
                <a:ea typeface="Malgun Gothic"/>
              </a:rPr>
              <a:t>“옷장은 가득한데, 입을 옷은 없다?”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66760" y="2084832"/>
            <a:ext cx="301752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00" b="0" i="0">
                <a:solidFill>
                  <a:srgbClr val="5C5C5C"/>
                </a:solidFill>
                <a:latin typeface="Malgun Gothic"/>
                <a:ea typeface="Malgun Gothic"/>
              </a:rPr>
              <a:t>공감형 질문으로 관심 유도, 설치 전환</a:t>
            </a:r>
          </a:p>
        </p:txBody>
      </p:sp>
      <p:sp>
        <p:nvSpPr>
          <p:cNvPr id="18" name="Shape 18"/>
          <p:cNvSpPr/>
          <p:nvPr/>
        </p:nvSpPr>
        <p:spPr>
          <a:xfrm>
            <a:off x="731520" y="2779776"/>
            <a:ext cx="10725912" cy="603504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hape 19"/>
          <p:cNvSpPr/>
          <p:nvPr/>
        </p:nvSpPr>
        <p:spPr>
          <a:xfrm>
            <a:off x="868680" y="2926080"/>
            <a:ext cx="868680" cy="310896"/>
          </a:xfrm>
          <a:prstGeom prst="rect">
            <a:avLst/>
          </a:prstGeom>
          <a:solidFill>
            <a:srgbClr val="ECE9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20"/>
          <p:cNvSpPr txBox="1"/>
          <p:nvPr/>
        </p:nvSpPr>
        <p:spPr>
          <a:xfrm>
            <a:off x="868680" y="2926080"/>
            <a:ext cx="8686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ko-KR" sz="1000" b="1" i="0">
                <a:solidFill>
                  <a:srgbClr val="111111"/>
                </a:solidFill>
                <a:latin typeface="Malgun Gothic"/>
                <a:ea typeface="Malgun Gothic"/>
              </a:rPr>
              <a:t>첫 실행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20240" y="2779776"/>
            <a:ext cx="210312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50" b="0" i="0">
                <a:solidFill>
                  <a:srgbClr val="5C5C5C"/>
                </a:solidFill>
                <a:latin typeface="Malgun Gothic"/>
                <a:ea typeface="Malgun Gothic"/>
              </a:rPr>
              <a:t>스플래시 · 로그인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069080" y="2779776"/>
            <a:ext cx="420624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400" b="1" i="0">
                <a:solidFill>
                  <a:srgbClr val="111111"/>
                </a:solidFill>
                <a:latin typeface="Malgun Gothic"/>
                <a:ea typeface="Malgun Gothic"/>
              </a:rPr>
              <a:t>“오늘 뭐 입지? 이제 고민 끝.”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66760" y="2779776"/>
            <a:ext cx="301752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00" b="0" i="0">
                <a:solidFill>
                  <a:srgbClr val="5C5C5C"/>
                </a:solidFill>
                <a:latin typeface="Malgun Gothic"/>
                <a:ea typeface="Malgun Gothic"/>
              </a:rPr>
              <a:t>메인 슬로건으로 서비스 약속 각인</a:t>
            </a:r>
          </a:p>
        </p:txBody>
      </p:sp>
      <p:sp>
        <p:nvSpPr>
          <p:cNvPr id="24" name="Shape 24"/>
          <p:cNvSpPr/>
          <p:nvPr/>
        </p:nvSpPr>
        <p:spPr>
          <a:xfrm>
            <a:off x="731520" y="3474720"/>
            <a:ext cx="10725912" cy="603504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hape 25"/>
          <p:cNvSpPr/>
          <p:nvPr/>
        </p:nvSpPr>
        <p:spPr>
          <a:xfrm>
            <a:off x="868680" y="3621024"/>
            <a:ext cx="868680" cy="310896"/>
          </a:xfrm>
          <a:prstGeom prst="rect">
            <a:avLst/>
          </a:prstGeom>
          <a:solidFill>
            <a:srgbClr val="ECE9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6"/>
          <p:cNvSpPr txBox="1"/>
          <p:nvPr/>
        </p:nvSpPr>
        <p:spPr>
          <a:xfrm>
            <a:off x="868680" y="3621024"/>
            <a:ext cx="8686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ko-KR" sz="1000" b="1" i="0">
                <a:solidFill>
                  <a:srgbClr val="111111"/>
                </a:solidFill>
                <a:latin typeface="Malgun Gothic"/>
                <a:ea typeface="Malgun Gothic"/>
              </a:rPr>
              <a:t>온보딩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20240" y="3474720"/>
            <a:ext cx="210312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50" b="0" i="0">
                <a:solidFill>
                  <a:srgbClr val="5C5C5C"/>
                </a:solidFill>
                <a:latin typeface="Malgun Gothic"/>
                <a:ea typeface="Malgun Gothic"/>
              </a:rPr>
              <a:t>옷 등록 안내 · 빈 옷장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069080" y="3474720"/>
            <a:ext cx="420624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400" b="1" i="0">
                <a:solidFill>
                  <a:srgbClr val="111111"/>
                </a:solidFill>
                <a:latin typeface="Malgun Gothic"/>
                <a:ea typeface="Malgun Gothic"/>
              </a:rPr>
              <a:t>“새 옷을 사기 전에, 내 옷장부터.”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66760" y="3474720"/>
            <a:ext cx="301752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00" b="0" i="0">
                <a:solidFill>
                  <a:srgbClr val="5C5C5C"/>
                </a:solidFill>
                <a:latin typeface="Malgun Gothic"/>
                <a:ea typeface="Malgun Gothic"/>
              </a:rPr>
              <a:t>첫 옷 등록 동기 부여, 등록 완료율 개선</a:t>
            </a:r>
          </a:p>
        </p:txBody>
      </p:sp>
      <p:sp>
        <p:nvSpPr>
          <p:cNvPr id="30" name="Shape 30"/>
          <p:cNvSpPr/>
          <p:nvPr/>
        </p:nvSpPr>
        <p:spPr>
          <a:xfrm>
            <a:off x="731520" y="4169664"/>
            <a:ext cx="10725912" cy="603504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hape 31"/>
          <p:cNvSpPr/>
          <p:nvPr/>
        </p:nvSpPr>
        <p:spPr>
          <a:xfrm>
            <a:off x="868680" y="4315968"/>
            <a:ext cx="868680" cy="310896"/>
          </a:xfrm>
          <a:prstGeom prst="rect">
            <a:avLst/>
          </a:prstGeom>
          <a:solidFill>
            <a:srgbClr val="ECE9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2"/>
          <p:cNvSpPr txBox="1"/>
          <p:nvPr/>
        </p:nvSpPr>
        <p:spPr>
          <a:xfrm>
            <a:off x="868680" y="4315968"/>
            <a:ext cx="8686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ko-KR" sz="1000" b="1" i="0">
                <a:solidFill>
                  <a:srgbClr val="111111"/>
                </a:solidFill>
                <a:latin typeface="Malgun Gothic"/>
                <a:ea typeface="Malgun Gothic"/>
              </a:rPr>
              <a:t>매일 사용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920240" y="4169664"/>
            <a:ext cx="210312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50" b="0" i="0">
                <a:solidFill>
                  <a:srgbClr val="5C5C5C"/>
                </a:solidFill>
                <a:latin typeface="Malgun Gothic"/>
                <a:ea typeface="Malgun Gothic"/>
              </a:rPr>
              <a:t>홈 · 오늘의 코디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069080" y="4169664"/>
            <a:ext cx="420624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400" b="1" i="0">
                <a:solidFill>
                  <a:srgbClr val="111111"/>
                </a:solidFill>
                <a:latin typeface="Malgun Gothic"/>
                <a:ea typeface="Malgun Gothic"/>
              </a:rPr>
              <a:t>“내 옷으로 완성하는 오늘의 코디.”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66760" y="4169664"/>
            <a:ext cx="301752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00" b="0" i="0">
                <a:solidFill>
                  <a:srgbClr val="5C5C5C"/>
                </a:solidFill>
                <a:latin typeface="Malgun Gothic"/>
                <a:ea typeface="Malgun Gothic"/>
              </a:rPr>
              <a:t>추천 결과 헤더 — ‘내 옷’ 기반임을 강조</a:t>
            </a:r>
          </a:p>
        </p:txBody>
      </p:sp>
      <p:sp>
        <p:nvSpPr>
          <p:cNvPr id="36" name="Shape 36"/>
          <p:cNvSpPr/>
          <p:nvPr/>
        </p:nvSpPr>
        <p:spPr>
          <a:xfrm>
            <a:off x="731520" y="4864608"/>
            <a:ext cx="10725912" cy="603504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Shape 37"/>
          <p:cNvSpPr/>
          <p:nvPr/>
        </p:nvSpPr>
        <p:spPr>
          <a:xfrm>
            <a:off x="868680" y="5010912"/>
            <a:ext cx="868680" cy="310896"/>
          </a:xfrm>
          <a:prstGeom prst="rect">
            <a:avLst/>
          </a:prstGeom>
          <a:solidFill>
            <a:srgbClr val="ECE9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8"/>
          <p:cNvSpPr txBox="1"/>
          <p:nvPr/>
        </p:nvSpPr>
        <p:spPr>
          <a:xfrm>
            <a:off x="868680" y="5010912"/>
            <a:ext cx="8686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ko-KR" sz="1000" b="1" i="0">
                <a:solidFill>
                  <a:srgbClr val="111111"/>
                </a:solidFill>
                <a:latin typeface="Malgun Gothic"/>
                <a:ea typeface="Malgun Gothic"/>
              </a:rPr>
              <a:t>재방문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920240" y="4864608"/>
            <a:ext cx="210312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50" b="0" i="0">
                <a:solidFill>
                  <a:srgbClr val="5C5C5C"/>
                </a:solidFill>
                <a:latin typeface="Malgun Gothic"/>
                <a:ea typeface="Malgun Gothic"/>
              </a:rPr>
              <a:t>아침 푸시 · 월간 리포트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069080" y="4864608"/>
            <a:ext cx="420624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400" b="1" i="0">
                <a:solidFill>
                  <a:srgbClr val="111111"/>
                </a:solidFill>
                <a:latin typeface="Malgun Gothic"/>
                <a:ea typeface="Malgun Gothic"/>
              </a:rPr>
              <a:t>“웨어리가 오늘 입을 옷을 찾아드려요.”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66760" y="4864608"/>
            <a:ext cx="301752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00" b="0" i="0">
                <a:solidFill>
                  <a:srgbClr val="5C5C5C"/>
                </a:solidFill>
                <a:latin typeface="Malgun Gothic"/>
                <a:ea typeface="Malgun Gothic"/>
              </a:rPr>
              <a:t>매일 아침 습관 형성, 재방문율 개선</a:t>
            </a:r>
          </a:p>
        </p:txBody>
      </p:sp>
      <p:sp>
        <p:nvSpPr>
          <p:cNvPr id="42" name="Shape 42"/>
          <p:cNvSpPr/>
          <p:nvPr/>
        </p:nvSpPr>
        <p:spPr>
          <a:xfrm>
            <a:off x="731520" y="5559552"/>
            <a:ext cx="10725912" cy="603504"/>
          </a:xfrm>
          <a:prstGeom prst="rect">
            <a:avLst/>
          </a:prstGeom>
          <a:solidFill>
            <a:srgbClr val="FFFFFF"/>
          </a:solidFill>
          <a:ln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Shape 43"/>
          <p:cNvSpPr/>
          <p:nvPr/>
        </p:nvSpPr>
        <p:spPr>
          <a:xfrm>
            <a:off x="868680" y="5705856"/>
            <a:ext cx="868680" cy="310896"/>
          </a:xfrm>
          <a:prstGeom prst="rect">
            <a:avLst/>
          </a:prstGeom>
          <a:solidFill>
            <a:srgbClr val="ECE9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4"/>
          <p:cNvSpPr txBox="1"/>
          <p:nvPr/>
        </p:nvSpPr>
        <p:spPr>
          <a:xfrm>
            <a:off x="868680" y="5705856"/>
            <a:ext cx="8686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ko-KR" sz="1000" b="1" i="0">
                <a:solidFill>
                  <a:srgbClr val="111111"/>
                </a:solidFill>
                <a:latin typeface="Malgun Gothic"/>
                <a:ea typeface="Malgun Gothic"/>
              </a:rPr>
              <a:t>확장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920240" y="5559552"/>
            <a:ext cx="210312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50" b="0" i="0">
                <a:solidFill>
                  <a:srgbClr val="5C5C5C"/>
                </a:solidFill>
                <a:latin typeface="Malgun Gothic"/>
                <a:ea typeface="Malgun Gothic"/>
              </a:rPr>
              <a:t>스타일 리포트 · 공유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069080" y="5559552"/>
            <a:ext cx="420624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400" b="1" i="0">
                <a:solidFill>
                  <a:srgbClr val="111111"/>
                </a:solidFill>
                <a:latin typeface="Malgun Gothic"/>
                <a:ea typeface="Malgun Gothic"/>
              </a:rPr>
              <a:t>“있는 옷으로 발견하는 새로운 나.”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366760" y="5559552"/>
            <a:ext cx="301752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00" b="0" i="0">
                <a:solidFill>
                  <a:srgbClr val="5C5C5C"/>
                </a:solidFill>
                <a:latin typeface="Malgun Gothic"/>
                <a:ea typeface="Malgun Gothic"/>
              </a:rPr>
              <a:t>새 조합 발견 경험을 공유·확산</a:t>
            </a:r>
          </a:p>
        </p:txBody>
      </p:sp>
      <p:sp>
        <p:nvSpPr>
          <p:cNvPr id="501" name="TextBox 501"/>
          <p:cNvSpPr txBox="1"/>
          <p:nvPr/>
        </p:nvSpPr>
        <p:spPr>
          <a:xfrm>
            <a:off x="7680960" y="320040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85800" y="5029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400">
                <a:solidFill>
                  <a:srgbClr val="D5B990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63840" y="5029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0" spc="300">
                <a:solidFill>
                  <a:srgbClr val="A8A8A8"/>
                </a:solidFill>
                <a:latin typeface="Georgia"/>
                <a:ea typeface="Malgun Gothic"/>
              </a:rPr>
              <a:t>CHAPTER 01 / 06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685800" y="868680"/>
            <a:ext cx="10817352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5" name="TextBox 5"/>
          <p:cNvSpPr txBox="1"/>
          <p:nvPr/>
        </p:nvSpPr>
        <p:spPr>
          <a:xfrm>
            <a:off x="502920" y="1417320"/>
            <a:ext cx="4754880" cy="3108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23000" b="0" i="1" spc="-300">
                <a:solidFill>
                  <a:srgbClr val="D5B990"/>
                </a:solidFill>
                <a:latin typeface="Georgia"/>
                <a:ea typeface="Malgun Gothic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9280" y="1463040"/>
            <a:ext cx="58338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400">
                <a:solidFill>
                  <a:srgbClr val="D5B990"/>
                </a:solidFill>
                <a:latin typeface="Georgia"/>
                <a:ea typeface="Malgun Gothic"/>
              </a:rPr>
              <a:t>CHAPTER 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69280" y="1828800"/>
            <a:ext cx="5833872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4400" b="0" i="1" spc="0">
                <a:solidFill>
                  <a:srgbClr val="FFFFFF"/>
                </a:solidFill>
                <a:latin typeface="Georgia"/>
                <a:ea typeface="Malgun Gothic"/>
              </a:rPr>
              <a:t>Brand Concept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69280" y="2697480"/>
            <a:ext cx="583387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500" b="0" i="0" spc="0">
                <a:solidFill>
                  <a:srgbClr val="A8A8A8"/>
                </a:solidFill>
                <a:latin typeface="Malgun Gothic"/>
                <a:ea typeface="Malgun Gothic"/>
              </a:rPr>
              <a:t>브랜드 컨셉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5669280" y="3246120"/>
            <a:ext cx="5833872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10" name="TextBox 10"/>
          <p:cNvSpPr txBox="1"/>
          <p:nvPr/>
        </p:nvSpPr>
        <p:spPr>
          <a:xfrm>
            <a:off x="5669280" y="3474720"/>
            <a:ext cx="583387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2200" b="1" i="0" spc="0">
                <a:solidFill>
                  <a:srgbClr val="FFFFFF"/>
                </a:solidFill>
                <a:latin typeface="Malgun Gothic"/>
                <a:ea typeface="Malgun Gothic"/>
              </a:rPr>
              <a:t>“오늘 뭐 입지? 이제 고민 끝.”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69280" y="4343400"/>
            <a:ext cx="58338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D5B990"/>
                </a:solidFill>
                <a:latin typeface="Georgia"/>
                <a:ea typeface="Malgun Gothic"/>
              </a:rPr>
              <a:t>—  </a:t>
            </a: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Wearly 브랜드 컨셉 · 지속가능성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9280" y="4636008"/>
            <a:ext cx="58338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D5B990"/>
                </a:solidFill>
                <a:latin typeface="Georgia"/>
                <a:ea typeface="Malgun Gothic"/>
              </a:rPr>
              <a:t>—  </a:t>
            </a: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브랜드 메시지 적용 계획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58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8E8E8E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66376" y="6446520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8E8E8E"/>
                </a:solidFill>
                <a:latin typeface="Georgia"/>
                <a:ea typeface="Malgun Gothic"/>
              </a:rPr>
              <a:t>— 02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85800" y="5029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400">
                <a:solidFill>
                  <a:srgbClr val="D5B990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63840" y="5029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0" spc="300">
                <a:solidFill>
                  <a:srgbClr val="A8A8A8"/>
                </a:solidFill>
                <a:latin typeface="Georgia"/>
                <a:ea typeface="Malgun Gothic"/>
              </a:rPr>
              <a:t>CHAPTER 02 / 06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685800" y="868680"/>
            <a:ext cx="10817352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5" name="TextBox 5"/>
          <p:cNvSpPr txBox="1"/>
          <p:nvPr/>
        </p:nvSpPr>
        <p:spPr>
          <a:xfrm>
            <a:off x="502920" y="1417320"/>
            <a:ext cx="4754880" cy="3108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23000" b="0" i="1" spc="-300">
                <a:solidFill>
                  <a:srgbClr val="D5B990"/>
                </a:solidFill>
                <a:latin typeface="Georgia"/>
                <a:ea typeface="Malgun Gothic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9280" y="1463040"/>
            <a:ext cx="58338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400">
                <a:solidFill>
                  <a:srgbClr val="D5B990"/>
                </a:solidFill>
                <a:latin typeface="Georgia"/>
                <a:ea typeface="Malgun Gothic"/>
              </a:rPr>
              <a:t>CHAPTER 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69280" y="1828800"/>
            <a:ext cx="5833872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4400" b="0" i="1" spc="0">
                <a:solidFill>
                  <a:srgbClr val="FFFFFF"/>
                </a:solidFill>
                <a:latin typeface="Georgia"/>
                <a:ea typeface="Malgun Gothic"/>
              </a:rPr>
              <a:t>Service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69280" y="2697480"/>
            <a:ext cx="583387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500" b="0" i="0" spc="0">
                <a:solidFill>
                  <a:srgbClr val="A8A8A8"/>
                </a:solidFill>
                <a:latin typeface="Malgun Gothic"/>
                <a:ea typeface="Malgun Gothic"/>
              </a:rPr>
              <a:t>서비스 개요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5669280" y="3246120"/>
            <a:ext cx="5833872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10" name="TextBox 10"/>
          <p:cNvSpPr txBox="1"/>
          <p:nvPr/>
        </p:nvSpPr>
        <p:spPr>
          <a:xfrm>
            <a:off x="5669280" y="3474720"/>
            <a:ext cx="583387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2200" b="1" i="0" spc="0">
                <a:solidFill>
                  <a:srgbClr val="FFFFFF"/>
                </a:solidFill>
                <a:latin typeface="Malgun Gothic"/>
                <a:ea typeface="Malgun Gothic"/>
              </a:rPr>
              <a:t>“옷장은 가득한데, 입을 옷은 없다?”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69280" y="4343400"/>
            <a:ext cx="58338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D5B990"/>
                </a:solidFill>
                <a:latin typeface="Georgia"/>
                <a:ea typeface="Malgun Gothic"/>
              </a:rPr>
              <a:t>—  </a:t>
            </a: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서비스 한눈에 보기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9280" y="4636008"/>
            <a:ext cx="58338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D5B990"/>
                </a:solidFill>
                <a:latin typeface="Georgia"/>
                <a:ea typeface="Malgun Gothic"/>
              </a:rPr>
              <a:t>—  </a:t>
            </a: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해결할 사용자 문제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9280" y="4928616"/>
            <a:ext cx="58338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D5B990"/>
                </a:solidFill>
                <a:latin typeface="Georgia"/>
                <a:ea typeface="Malgun Gothic"/>
              </a:rPr>
              <a:t>—  </a:t>
            </a: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서비스 원칙과 차별화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69280" y="5221224"/>
            <a:ext cx="58338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D5B990"/>
                </a:solidFill>
                <a:latin typeface="Georgia"/>
                <a:ea typeface="Malgun Gothic"/>
              </a:rPr>
              <a:t>—  </a:t>
            </a: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MVP 범위와 우선순위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58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8E8E8E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66376" y="6446520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8E8E8E"/>
                </a:solidFill>
                <a:latin typeface="Georgia"/>
                <a:ea typeface="Malgun Gothic"/>
              </a:rPr>
              <a:t>— 06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85800" y="5029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400">
                <a:solidFill>
                  <a:srgbClr val="D5B990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63840" y="5029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0" spc="300">
                <a:solidFill>
                  <a:srgbClr val="A8A8A8"/>
                </a:solidFill>
                <a:latin typeface="Georgia"/>
                <a:ea typeface="Malgun Gothic"/>
              </a:rPr>
              <a:t>CHAPTER 03 / 06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685800" y="868680"/>
            <a:ext cx="10817352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5" name="TextBox 5"/>
          <p:cNvSpPr txBox="1"/>
          <p:nvPr/>
        </p:nvSpPr>
        <p:spPr>
          <a:xfrm>
            <a:off x="502920" y="1417320"/>
            <a:ext cx="4754880" cy="3108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23000" b="0" i="1" spc="-300">
                <a:solidFill>
                  <a:srgbClr val="D5B990"/>
                </a:solidFill>
                <a:latin typeface="Georgia"/>
                <a:ea typeface="Malgun Gothic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9280" y="1463040"/>
            <a:ext cx="58338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400">
                <a:solidFill>
                  <a:srgbClr val="D5B990"/>
                </a:solidFill>
                <a:latin typeface="Georgia"/>
                <a:ea typeface="Malgun Gothic"/>
              </a:rPr>
              <a:t>CHAPTER 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69280" y="1828800"/>
            <a:ext cx="5833872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4400" b="0" i="1" spc="0">
                <a:solidFill>
                  <a:srgbClr val="FFFFFF"/>
                </a:solidFill>
                <a:latin typeface="Georgia"/>
                <a:ea typeface="Malgun Gothic"/>
              </a:rPr>
              <a:t>UX &amp; Screens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69280" y="2697480"/>
            <a:ext cx="583387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500" b="0" i="0" spc="0">
                <a:solidFill>
                  <a:srgbClr val="A8A8A8"/>
                </a:solidFill>
                <a:latin typeface="Malgun Gothic"/>
                <a:ea typeface="Malgun Gothic"/>
              </a:rPr>
              <a:t>UX · 화면 설계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5669280" y="3246120"/>
            <a:ext cx="5833872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10" name="TextBox 10"/>
          <p:cNvSpPr txBox="1"/>
          <p:nvPr/>
        </p:nvSpPr>
        <p:spPr>
          <a:xfrm>
            <a:off x="5669280" y="3474720"/>
            <a:ext cx="583387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2200" b="1" i="0" spc="0">
                <a:solidFill>
                  <a:srgbClr val="FFFFFF"/>
                </a:solidFill>
                <a:latin typeface="Malgun Gothic"/>
                <a:ea typeface="Malgun Gothic"/>
              </a:rPr>
              <a:t>“내 옷으로 완성하는 오늘의 코디.”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69280" y="4343400"/>
            <a:ext cx="58338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D5B990"/>
                </a:solidFill>
                <a:latin typeface="Georgia"/>
                <a:ea typeface="Malgun Gothic"/>
              </a:rPr>
              <a:t>—  </a:t>
            </a: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메뉴 구조 · 홈 · 내 옷장 등록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9280" y="4636008"/>
            <a:ext cx="58338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D5B990"/>
                </a:solidFill>
                <a:latin typeface="Georgia"/>
                <a:ea typeface="Malgun Gothic"/>
              </a:rPr>
              <a:t>—  </a:t>
            </a: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AI 코디 추천 · 예정일 코디 추천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9280" y="4928616"/>
            <a:ext cx="58338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D5B990"/>
                </a:solidFill>
                <a:latin typeface="Georgia"/>
                <a:ea typeface="Malgun Gothic"/>
              </a:rPr>
              <a:t>—  </a:t>
            </a: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데일리 코디 기록 · AI 진단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69280" y="5221224"/>
            <a:ext cx="58338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D5B990"/>
                </a:solidFill>
                <a:latin typeface="Georgia"/>
                <a:ea typeface="Malgun Gothic"/>
              </a:rPr>
              <a:t>—  </a:t>
            </a: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만족도 · 바로 진단 · 근무 패턴 · 사용자 흐름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58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8E8E8E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66376" y="6446520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8E8E8E"/>
                </a:solidFill>
                <a:latin typeface="Georgia"/>
                <a:ea typeface="Malgun Gothic"/>
              </a:rPr>
              <a:t>— 11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85800" y="5029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400">
                <a:solidFill>
                  <a:srgbClr val="D5B990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63840" y="5029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0" spc="300">
                <a:solidFill>
                  <a:srgbClr val="A8A8A8"/>
                </a:solidFill>
                <a:latin typeface="Georgia"/>
                <a:ea typeface="Malgun Gothic"/>
              </a:rPr>
              <a:t>CHAPTER 04 / 06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685800" y="868680"/>
            <a:ext cx="10817352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5" name="TextBox 5"/>
          <p:cNvSpPr txBox="1"/>
          <p:nvPr/>
        </p:nvSpPr>
        <p:spPr>
          <a:xfrm>
            <a:off x="502920" y="1417320"/>
            <a:ext cx="4754880" cy="3108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23000" b="0" i="1" spc="-300">
                <a:solidFill>
                  <a:srgbClr val="D5B990"/>
                </a:solidFill>
                <a:latin typeface="Georgia"/>
                <a:ea typeface="Malgun Gothic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9280" y="1463040"/>
            <a:ext cx="58338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400">
                <a:solidFill>
                  <a:srgbClr val="D5B990"/>
                </a:solidFill>
                <a:latin typeface="Georgia"/>
                <a:ea typeface="Malgun Gothic"/>
              </a:rPr>
              <a:t>CHAPTER 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69280" y="1828800"/>
            <a:ext cx="5833872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4400" b="0" i="1" spc="0">
                <a:solidFill>
                  <a:srgbClr val="FFFFFF"/>
                </a:solidFill>
                <a:latin typeface="Georgia"/>
                <a:ea typeface="Malgun Gothic"/>
              </a:rPr>
              <a:t>Recommendation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69280" y="2697480"/>
            <a:ext cx="583387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500" b="0" i="0" spc="0">
                <a:solidFill>
                  <a:srgbClr val="A8A8A8"/>
                </a:solidFill>
                <a:latin typeface="Malgun Gothic"/>
                <a:ea typeface="Malgun Gothic"/>
              </a:rPr>
              <a:t>추천 로직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5669280" y="3246120"/>
            <a:ext cx="5833872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10" name="TextBox 10"/>
          <p:cNvSpPr txBox="1"/>
          <p:nvPr/>
        </p:nvSpPr>
        <p:spPr>
          <a:xfrm>
            <a:off x="5669280" y="3474720"/>
            <a:ext cx="583387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2200" b="1" i="0" spc="0">
                <a:solidFill>
                  <a:srgbClr val="FFFFFF"/>
                </a:solidFill>
                <a:latin typeface="Malgun Gothic"/>
                <a:ea typeface="Malgun Gothic"/>
              </a:rPr>
              <a:t>“웨어리가 오늘 입을 옷을 찾아드려요.”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69280" y="4343400"/>
            <a:ext cx="58338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D5B990"/>
                </a:solidFill>
                <a:latin typeface="Georgia"/>
                <a:ea typeface="Malgun Gothic"/>
              </a:rPr>
              <a:t>—  </a:t>
            </a: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추천 엔진 설계 — 후보 생성 · 점수 평가 · 설명 생성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9280" y="4636008"/>
            <a:ext cx="58338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D5B990"/>
                </a:solidFill>
                <a:latin typeface="Georgia"/>
                <a:ea typeface="Malgun Gothic"/>
              </a:rPr>
              <a:t>—  </a:t>
            </a: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코디 진단 · 처방 로직 — 일별 · 주별 · 월별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9280" y="4928616"/>
            <a:ext cx="58338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D5B990"/>
                </a:solidFill>
                <a:latin typeface="Georgia"/>
                <a:ea typeface="Malgun Gothic"/>
              </a:rPr>
              <a:t>—  </a:t>
            </a: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옷장 스타일 분석 — 평가 · 추천 · 제안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58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8E8E8E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66376" y="6446520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8E8E8E"/>
                </a:solidFill>
                <a:latin typeface="Georgia"/>
                <a:ea typeface="Malgun Gothic"/>
              </a:rPr>
              <a:t>— 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85800" y="5029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400">
                <a:solidFill>
                  <a:srgbClr val="D5B990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63840" y="5029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0" spc="300">
                <a:solidFill>
                  <a:srgbClr val="A8A8A8"/>
                </a:solidFill>
                <a:latin typeface="Georgia"/>
                <a:ea typeface="Malgun Gothic"/>
              </a:rPr>
              <a:t>CHAPTER 05 / 06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685800" y="868680"/>
            <a:ext cx="10817352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5" name="TextBox 5"/>
          <p:cNvSpPr txBox="1"/>
          <p:nvPr/>
        </p:nvSpPr>
        <p:spPr>
          <a:xfrm>
            <a:off x="502920" y="1417320"/>
            <a:ext cx="4754880" cy="3108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23000" b="0" i="1" spc="-300">
                <a:solidFill>
                  <a:srgbClr val="D5B990"/>
                </a:solidFill>
                <a:latin typeface="Georgia"/>
                <a:ea typeface="Malgun Gothic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9280" y="1463040"/>
            <a:ext cx="58338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400">
                <a:solidFill>
                  <a:srgbClr val="D5B990"/>
                </a:solidFill>
                <a:latin typeface="Georgia"/>
                <a:ea typeface="Malgun Gothic"/>
              </a:rPr>
              <a:t>CHAPTER 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69280" y="1828800"/>
            <a:ext cx="5833872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4400" b="0" i="1" spc="0">
                <a:solidFill>
                  <a:srgbClr val="FFFFFF"/>
                </a:solidFill>
                <a:latin typeface="Georgia"/>
                <a:ea typeface="Malgun Gothic"/>
              </a:rPr>
              <a:t>Architecture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69280" y="2697480"/>
            <a:ext cx="583387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500" b="0" i="0" spc="0">
                <a:solidFill>
                  <a:srgbClr val="A8A8A8"/>
                </a:solidFill>
                <a:latin typeface="Malgun Gothic"/>
                <a:ea typeface="Malgun Gothic"/>
              </a:rPr>
              <a:t>데이터 · 개발 설계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5669280" y="3246120"/>
            <a:ext cx="5833872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10" name="TextBox 10"/>
          <p:cNvSpPr txBox="1"/>
          <p:nvPr/>
        </p:nvSpPr>
        <p:spPr>
          <a:xfrm>
            <a:off x="5669280" y="3474720"/>
            <a:ext cx="583387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2200" b="1" i="0" spc="0">
                <a:solidFill>
                  <a:srgbClr val="FFFFFF"/>
                </a:solidFill>
                <a:latin typeface="Malgun Gothic"/>
                <a:ea typeface="Malgun Gothic"/>
              </a:rPr>
              <a:t>“새 옷을 사기 전에, 내 옷장부터.”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69280" y="4343400"/>
            <a:ext cx="58338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D5B990"/>
                </a:solidFill>
                <a:latin typeface="Georgia"/>
                <a:ea typeface="Malgun Gothic"/>
              </a:rPr>
              <a:t>—  </a:t>
            </a: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데이터베이스 설계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9280" y="4636008"/>
            <a:ext cx="58338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D5B990"/>
                </a:solidFill>
                <a:latin typeface="Georgia"/>
                <a:ea typeface="Malgun Gothic"/>
              </a:rPr>
              <a:t>—  </a:t>
            </a: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REST API 설계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9280" y="4928616"/>
            <a:ext cx="58338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D5B990"/>
                </a:solidFill>
                <a:latin typeface="Georgia"/>
                <a:ea typeface="Malgun Gothic"/>
              </a:rPr>
              <a:t>—  </a:t>
            </a: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기술 아키텍처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69280" y="5221224"/>
            <a:ext cx="58338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D5B990"/>
                </a:solidFill>
                <a:latin typeface="Georgia"/>
                <a:ea typeface="Malgun Gothic"/>
              </a:rPr>
              <a:t>—  </a:t>
            </a: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PWA · 보안 · 운영 · 로컬 진단 설계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58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8E8E8E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66376" y="6446520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8E8E8E"/>
                </a:solidFill>
                <a:latin typeface="Georgia"/>
                <a:ea typeface="Malgun Gothic"/>
              </a:rPr>
              <a:t>—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85800" y="5029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400">
                <a:solidFill>
                  <a:srgbClr val="D5B990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63840" y="5029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0" spc="300">
                <a:solidFill>
                  <a:srgbClr val="A8A8A8"/>
                </a:solidFill>
                <a:latin typeface="Georgia"/>
                <a:ea typeface="Malgun Gothic"/>
              </a:rPr>
              <a:t>CHAPTER 06 / 06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685800" y="868680"/>
            <a:ext cx="10817352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5" name="TextBox 5"/>
          <p:cNvSpPr txBox="1"/>
          <p:nvPr/>
        </p:nvSpPr>
        <p:spPr>
          <a:xfrm>
            <a:off x="502920" y="1417320"/>
            <a:ext cx="4754880" cy="3108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23000" b="0" i="1" spc="-300">
                <a:solidFill>
                  <a:srgbClr val="D5B990"/>
                </a:solidFill>
                <a:latin typeface="Georgia"/>
                <a:ea typeface="Malgun Gothic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9280" y="1463040"/>
            <a:ext cx="58338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400">
                <a:solidFill>
                  <a:srgbClr val="D5B990"/>
                </a:solidFill>
                <a:latin typeface="Georgia"/>
                <a:ea typeface="Malgun Gothic"/>
              </a:rPr>
              <a:t>CHAPTER 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69280" y="1828800"/>
            <a:ext cx="5833872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4400" b="0" i="1" spc="0">
                <a:solidFill>
                  <a:srgbClr val="FFFFFF"/>
                </a:solidFill>
                <a:latin typeface="Georgia"/>
                <a:ea typeface="Malgun Gothic"/>
              </a:rPr>
              <a:t>Roadmap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69280" y="2697480"/>
            <a:ext cx="583387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500" b="0" i="0" spc="0">
                <a:solidFill>
                  <a:srgbClr val="A8A8A8"/>
                </a:solidFill>
                <a:latin typeface="Malgun Gothic"/>
                <a:ea typeface="Malgun Gothic"/>
              </a:rPr>
              <a:t>실행 계획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5669280" y="3246120"/>
            <a:ext cx="5833872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10" name="TextBox 10"/>
          <p:cNvSpPr txBox="1"/>
          <p:nvPr/>
        </p:nvSpPr>
        <p:spPr>
          <a:xfrm>
            <a:off x="5669280" y="3474720"/>
            <a:ext cx="583387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2200" b="1" i="0" spc="0">
                <a:solidFill>
                  <a:srgbClr val="FFFFFF"/>
                </a:solidFill>
                <a:latin typeface="Malgun Gothic"/>
                <a:ea typeface="Malgun Gothic"/>
              </a:rPr>
              <a:t>“있는 옷으로 발견하는 새로운 나.”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69280" y="4343400"/>
            <a:ext cx="58338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D5B990"/>
                </a:solidFill>
                <a:latin typeface="Georgia"/>
                <a:ea typeface="Malgun Gothic"/>
              </a:rPr>
              <a:t>—  </a:t>
            </a: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개발 로드맵 및 산출물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9280" y="4636008"/>
            <a:ext cx="58338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D5B990"/>
                </a:solidFill>
                <a:latin typeface="Georgia"/>
                <a:ea typeface="Malgun Gothic"/>
              </a:rPr>
              <a:t>—  </a:t>
            </a: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베타 출시 후 검증 지표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9280" y="4928616"/>
            <a:ext cx="58338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D5B990"/>
                </a:solidFill>
                <a:latin typeface="Georgia"/>
                <a:ea typeface="Malgun Gothic"/>
              </a:rPr>
              <a:t>—  </a:t>
            </a: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권장 실행 순서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58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8E8E8E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66376" y="6446520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8E8E8E"/>
                </a:solidFill>
                <a:latin typeface="Georgia"/>
                <a:ea typeface="Malgun Gothic"/>
              </a:rPr>
              <a:t>—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85800" y="502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400">
                <a:solidFill>
                  <a:srgbClr val="D5B990"/>
                </a:solidFill>
                <a:latin typeface="Georgia"/>
                <a:ea typeface="Malgun Gothic"/>
              </a:rPr>
              <a:t>THE DAILY STYLIST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63840" y="5029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0" spc="300">
                <a:solidFill>
                  <a:srgbClr val="A8A8A8"/>
                </a:solidFill>
                <a:latin typeface="Georgia"/>
                <a:ea typeface="Malgun Gothic"/>
              </a:rPr>
              <a:t>N°01 / 2026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685800" y="868680"/>
            <a:ext cx="10817352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5" name="TextBox 5"/>
          <p:cNvSpPr txBox="1"/>
          <p:nvPr/>
        </p:nvSpPr>
        <p:spPr>
          <a:xfrm>
            <a:off x="685800" y="1828800"/>
            <a:ext cx="10817352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11000" b="0" i="0" spc="-150">
                <a:solidFill>
                  <a:srgbClr val="FFFFFF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352044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2400" b="1" i="0" spc="0">
                <a:solidFill>
                  <a:srgbClr val="FFFFFF"/>
                </a:solidFill>
                <a:latin typeface="Malgun Gothic"/>
                <a:ea typeface="Malgun Gothic"/>
              </a:rPr>
              <a:t>있는 옷으로 발견하는 새로운 나.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411480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1500" b="0" i="0" spc="0">
                <a:solidFill>
                  <a:srgbClr val="A8A8A8"/>
                </a:solidFill>
                <a:latin typeface="Malgun Gothic"/>
                <a:ea typeface="Malgun Gothic"/>
              </a:rPr>
              <a:t>새 옷을 사기 전에, 내 옷장부터.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5641848" y="4892040"/>
            <a:ext cx="914400" cy="0"/>
          </a:xfrm>
          <a:prstGeom prst="line">
            <a:avLst/>
          </a:prstGeom>
          <a:ln w="12700">
            <a:solidFill>
              <a:srgbClr val="D5B990"/>
            </a:solidFill>
          </a:ln>
        </p:spPr>
      </p:cxnSp>
      <p:sp>
        <p:nvSpPr>
          <p:cNvPr id="9" name="TextBox 9"/>
          <p:cNvSpPr txBox="1"/>
          <p:nvPr/>
        </p:nvSpPr>
        <p:spPr>
          <a:xfrm>
            <a:off x="685800" y="5120640"/>
            <a:ext cx="1081735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1600" b="0" i="1" spc="0">
                <a:solidFill>
                  <a:srgbClr val="D5B990"/>
                </a:solidFill>
                <a:latin typeface="Georgia"/>
                <a:ea typeface="Malgun Gothic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800" y="6446520"/>
            <a:ext cx="1081735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800" b="0" i="0" spc="0">
                <a:solidFill>
                  <a:srgbClr val="8E8E8E"/>
                </a:solidFill>
                <a:latin typeface="Malgun Gothic"/>
                <a:ea typeface="Malgun Gothic"/>
              </a:rPr>
              <a:t>WEARLY  ·  웨어리 서비스 기획서  ·  기획 초안 2026.10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21792" y="3383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0">
                <a:solidFill>
                  <a:srgbClr val="7B1E2B"/>
                </a:solidFill>
                <a:latin typeface="Georgia"/>
                <a:ea typeface="Malgun Gothic"/>
              </a:rPr>
              <a:t>N°03  </a:t>
            </a:r>
            <a:r>
              <a:rPr lang="ko-KR" sz="900" b="0" i="1" spc="0">
                <a:solidFill>
                  <a:srgbClr val="7B1E2B"/>
                </a:solidFill>
                <a:latin typeface="Georgia"/>
                <a:ea typeface="Malgun Gothic"/>
              </a:rPr>
              <a:t>UX &amp; Screens</a:t>
            </a:r>
            <a:r>
              <a:rPr lang="ko-KR" sz="900" b="0" i="0" spc="0">
                <a:solidFill>
                  <a:srgbClr val="8E8E8E"/>
                </a:solidFill>
                <a:latin typeface="Malgun Gothic"/>
                <a:ea typeface="Malgun Gothic"/>
              </a:rPr>
              <a:t>   |   UX·화면 설계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80960" y="338328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3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화면 설계 ⑤ 데일리 코디 기록 · </a:t>
            </a:r>
            <a:r>
              <a:rPr lang="ko-KR" sz="3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AI 진단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124358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매일의 착장을 사진으로 남기면, AI가 일·주·월 단위로 진단하고 </a:t>
            </a:r>
            <a:r>
              <a:rPr lang="ko-KR" sz="11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내 옷장 안에서 처방</a:t>
            </a: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한다</a:t>
            </a:r>
          </a:p>
        </p:txBody>
      </p:sp>
      <p:cxnSp>
        <p:nvCxnSpPr>
          <p:cNvPr id="6" name="Connector 6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7" name="TextBox 7"/>
          <p:cNvSpPr txBox="1"/>
          <p:nvPr/>
        </p:nvSpPr>
        <p:spPr>
          <a:xfrm>
            <a:off x="640080" y="6528816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5C5C5C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15600" y="651052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5C5C5C"/>
                </a:solidFill>
                <a:latin typeface="Georgia"/>
                <a:ea typeface="Malgun Gothic"/>
              </a:rPr>
              <a:t>— 17</a:t>
            </a:r>
          </a:p>
        </p:txBody>
      </p:sp>
      <p:sp>
        <p:nvSpPr>
          <p:cNvPr id="9" name="Shape 9"/>
          <p:cNvSpPr/>
          <p:nvPr/>
        </p:nvSpPr>
        <p:spPr>
          <a:xfrm>
            <a:off x="731520" y="1810512"/>
            <a:ext cx="23774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10"/>
          <p:cNvSpPr txBox="1"/>
          <p:nvPr/>
        </p:nvSpPr>
        <p:spPr>
          <a:xfrm>
            <a:off x="914400" y="1901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1" spc="0">
                <a:solidFill>
                  <a:srgbClr val="7B1E2B"/>
                </a:solidFill>
                <a:latin typeface="Georgia"/>
                <a:ea typeface="Malgun Gothic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21031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400" b="1" i="0" spc="0">
                <a:solidFill>
                  <a:srgbClr val="111111"/>
                </a:solidFill>
                <a:latin typeface="Malgun Gothic"/>
                <a:ea typeface="Malgun Gothic"/>
              </a:rPr>
              <a:t>사진 · 만족도 기록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" y="237744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>착장 사진 + 나·주변 만족도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08960" y="2057400"/>
            <a:ext cx="405079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1400" b="0" i="0" spc="0">
                <a:solidFill>
                  <a:srgbClr val="7B1E2B"/>
                </a:solidFill>
                <a:latin typeface="Georgia"/>
                <a:ea typeface="Malgun Gothic"/>
              </a:rPr>
              <a:t>→</a:t>
            </a:r>
          </a:p>
        </p:txBody>
      </p:sp>
      <p:sp>
        <p:nvSpPr>
          <p:cNvPr id="14" name="Shape 14"/>
          <p:cNvSpPr/>
          <p:nvPr/>
        </p:nvSpPr>
        <p:spPr>
          <a:xfrm>
            <a:off x="3514039" y="1810512"/>
            <a:ext cx="23774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5"/>
          <p:cNvSpPr txBox="1"/>
          <p:nvPr/>
        </p:nvSpPr>
        <p:spPr>
          <a:xfrm>
            <a:off x="3696919" y="1901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1" spc="0">
                <a:solidFill>
                  <a:srgbClr val="7B1E2B"/>
                </a:solidFill>
                <a:latin typeface="Georgia"/>
                <a:ea typeface="Malgun Gothic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696919" y="21031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400" b="1" i="0" spc="0">
                <a:solidFill>
                  <a:srgbClr val="111111"/>
                </a:solidFill>
                <a:latin typeface="Malgun Gothic"/>
                <a:ea typeface="Malgun Gothic"/>
              </a:rPr>
              <a:t>착장 인식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696919" y="237744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>아이템 매칭·색상·실루엣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91479" y="2057400"/>
            <a:ext cx="405079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1400" b="0" i="0" spc="0">
                <a:solidFill>
                  <a:srgbClr val="7B1E2B"/>
                </a:solidFill>
                <a:latin typeface="Georgia"/>
                <a:ea typeface="Malgun Gothic"/>
              </a:rPr>
              <a:t>→</a:t>
            </a:r>
          </a:p>
        </p:txBody>
      </p:sp>
      <p:sp>
        <p:nvSpPr>
          <p:cNvPr id="19" name="Shape 19"/>
          <p:cNvSpPr/>
          <p:nvPr/>
        </p:nvSpPr>
        <p:spPr>
          <a:xfrm>
            <a:off x="6296558" y="1810512"/>
            <a:ext cx="23774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20"/>
          <p:cNvSpPr txBox="1"/>
          <p:nvPr/>
        </p:nvSpPr>
        <p:spPr>
          <a:xfrm>
            <a:off x="6479438" y="1901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1" spc="0">
                <a:solidFill>
                  <a:srgbClr val="7B1E2B"/>
                </a:solidFill>
                <a:latin typeface="Georgia"/>
                <a:ea typeface="Malgun Gothic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79438" y="21031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400" b="1" i="0" spc="0">
                <a:solidFill>
                  <a:srgbClr val="111111"/>
                </a:solidFill>
                <a:latin typeface="Malgun Gothic"/>
                <a:ea typeface="Malgun Gothic"/>
              </a:rPr>
              <a:t>AI 진단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79438" y="237744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>점수 · 강점 · 개선점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673998" y="2057400"/>
            <a:ext cx="405079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1400" b="0" i="0" spc="0">
                <a:solidFill>
                  <a:srgbClr val="7B1E2B"/>
                </a:solidFill>
                <a:latin typeface="Georgia"/>
                <a:ea typeface="Malgun Gothic"/>
              </a:rPr>
              <a:t>→</a:t>
            </a:r>
          </a:p>
        </p:txBody>
      </p:sp>
      <p:sp>
        <p:nvSpPr>
          <p:cNvPr id="24" name="Shape 24"/>
          <p:cNvSpPr/>
          <p:nvPr/>
        </p:nvSpPr>
        <p:spPr>
          <a:xfrm>
            <a:off x="9079078" y="1810512"/>
            <a:ext cx="2377440" cy="84124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5"/>
          <p:cNvSpPr txBox="1"/>
          <p:nvPr/>
        </p:nvSpPr>
        <p:spPr>
          <a:xfrm>
            <a:off x="9261958" y="1901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1" spc="0">
                <a:solidFill>
                  <a:srgbClr val="D5B990"/>
                </a:solidFill>
                <a:latin typeface="Georgia"/>
                <a:ea typeface="Malgun Gothic"/>
              </a:rPr>
              <a:t>04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61958" y="21031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400" b="1" i="0" spc="0">
                <a:solidFill>
                  <a:srgbClr val="FFFFFF"/>
                </a:solidFill>
                <a:latin typeface="Malgun Gothic"/>
                <a:ea typeface="Malgun Gothic"/>
              </a:rPr>
              <a:t>처방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61958" y="237744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BDBDBD"/>
                </a:solidFill>
                <a:latin typeface="Malgun Gothic"/>
                <a:ea typeface="Malgun Gothic"/>
              </a:rPr>
              <a:t>내 옷장 대안 코디 · 팁</a:t>
            </a:r>
          </a:p>
        </p:txBody>
      </p:sp>
      <p:sp>
        <p:nvSpPr>
          <p:cNvPr id="28" name="Shape 28"/>
          <p:cNvSpPr/>
          <p:nvPr/>
        </p:nvSpPr>
        <p:spPr>
          <a:xfrm>
            <a:off x="731520" y="2926080"/>
            <a:ext cx="339242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9"/>
          <p:cNvSpPr txBox="1"/>
          <p:nvPr/>
        </p:nvSpPr>
        <p:spPr>
          <a:xfrm>
            <a:off x="960120" y="3108960"/>
            <a:ext cx="2935224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2200" b="0" i="1" spc="0">
                <a:solidFill>
                  <a:srgbClr val="111111"/>
                </a:solidFill>
                <a:latin typeface="Georgia"/>
                <a:ea typeface="Malgun Gothic"/>
              </a:rPr>
              <a:t>Daily</a:t>
            </a: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>   일별 진단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0120" y="3172968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0" spc="0">
                <a:solidFill>
                  <a:srgbClr val="8E8E8E"/>
                </a:solidFill>
                <a:latin typeface="Malgun Gothic"/>
                <a:ea typeface="Malgun Gothic"/>
              </a:rPr>
              <a:t>매일 저녁</a:t>
            </a:r>
          </a:p>
        </p:txBody>
      </p:sp>
      <p:cxnSp>
        <p:nvCxnSpPr>
          <p:cNvPr id="31" name="Connector 31"/>
          <p:cNvCxnSpPr/>
          <p:nvPr/>
        </p:nvCxnSpPr>
        <p:spPr>
          <a:xfrm>
            <a:off x="960120" y="3611880"/>
            <a:ext cx="2935224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32" name="TextBox 32"/>
          <p:cNvSpPr txBox="1"/>
          <p:nvPr/>
        </p:nvSpPr>
        <p:spPr>
          <a:xfrm>
            <a:off x="960120" y="3749040"/>
            <a:ext cx="293522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50" b="1" i="0" spc="100">
                <a:solidFill>
                  <a:srgbClr val="7B1E2B"/>
                </a:solidFill>
                <a:latin typeface="Georgia"/>
                <a:ea typeface="Malgun Gothic"/>
              </a:rPr>
              <a:t>DIAGNOSIS · 진단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0120" y="3995928"/>
            <a:ext cx="2935224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00" b="0" i="0" spc="0">
                <a:solidFill>
                  <a:srgbClr val="111111"/>
                </a:solidFill>
                <a:latin typeface="Malgun Gothic"/>
                <a:ea typeface="Malgun Gothic"/>
              </a:rPr>
              <a:t>·  색상 조화 · 핏 밸런스</a:t>
            </a:r>
          </a:p>
          <a:p>
            <a:pPr algn="l">
              <a:spcAft>
                <a:spcPts val="300"/>
              </a:spcAft>
            </a:pPr>
            <a:r>
              <a:rPr lang="ko-KR" sz="1100" b="0" i="0" spc="0">
                <a:solidFill>
                  <a:srgbClr val="111111"/>
                </a:solidFill>
                <a:latin typeface="Malgun Gothic"/>
                <a:ea typeface="Malgun Gothic"/>
              </a:rPr>
              <a:t>·  TPO · 날씨 적합도</a:t>
            </a:r>
          </a:p>
          <a:p>
            <a:pPr algn="l">
              <a:spcAft>
                <a:spcPts val="300"/>
              </a:spcAft>
            </a:pPr>
            <a:r>
              <a:rPr lang="ko-KR" sz="1100" b="0" i="0" spc="0">
                <a:solidFill>
                  <a:srgbClr val="111111"/>
                </a:solidFill>
                <a:latin typeface="Malgun Gothic"/>
                <a:ea typeface="Malgun Gothic"/>
              </a:rPr>
              <a:t>·  AI 점수 vs 나·주변 만족도</a:t>
            </a:r>
          </a:p>
        </p:txBody>
      </p:sp>
      <p:cxnSp>
        <p:nvCxnSpPr>
          <p:cNvPr id="34" name="Connector 34"/>
          <p:cNvCxnSpPr/>
          <p:nvPr/>
        </p:nvCxnSpPr>
        <p:spPr>
          <a:xfrm>
            <a:off x="960120" y="4846320"/>
            <a:ext cx="2935224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35" name="TextBox 35"/>
          <p:cNvSpPr txBox="1"/>
          <p:nvPr/>
        </p:nvSpPr>
        <p:spPr>
          <a:xfrm>
            <a:off x="960120" y="4956048"/>
            <a:ext cx="293522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50" b="1" i="0" spc="100">
                <a:solidFill>
                  <a:srgbClr val="7B1E2B"/>
                </a:solidFill>
                <a:latin typeface="Georgia"/>
                <a:ea typeface="Malgun Gothic"/>
              </a:rPr>
              <a:t>PRESCRIPTION · 처방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60120" y="5212080"/>
            <a:ext cx="2935224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00" b="0" i="0" spc="0">
                <a:solidFill>
                  <a:srgbClr val="7B1E2B"/>
                </a:solidFill>
                <a:latin typeface="Malgun Gothic"/>
                <a:ea typeface="Malgun Gothic"/>
              </a:rPr>
              <a:t>→  “네이비 니트로 바꾸면 톤이 정리돼요”</a:t>
            </a:r>
          </a:p>
          <a:p>
            <a:pPr algn="l">
              <a:spcAft>
                <a:spcPts val="300"/>
              </a:spcAft>
            </a:pPr>
            <a:r>
              <a:rPr lang="ko-KR" sz="1100" b="0" i="0" spc="0">
                <a:solidFill>
                  <a:srgbClr val="111111"/>
                </a:solidFill>
                <a:latin typeface="Malgun Gothic"/>
                <a:ea typeface="Malgun Gothic"/>
              </a:rPr>
              <a:t>→  내 옷장 아이템으로 즉시 교체 제안</a:t>
            </a:r>
          </a:p>
        </p:txBody>
      </p:sp>
      <p:sp>
        <p:nvSpPr>
          <p:cNvPr id="37" name="Shape 37"/>
          <p:cNvSpPr/>
          <p:nvPr/>
        </p:nvSpPr>
        <p:spPr>
          <a:xfrm>
            <a:off x="4398264" y="2926080"/>
            <a:ext cx="3392424" cy="3017520"/>
          </a:xfrm>
          <a:prstGeom prst="rect">
            <a:avLst/>
          </a:prstGeom>
          <a:solidFill>
            <a:srgbClr val="EEEBE0"/>
          </a:solidFill>
          <a:ln w="9525"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8"/>
          <p:cNvSpPr txBox="1"/>
          <p:nvPr/>
        </p:nvSpPr>
        <p:spPr>
          <a:xfrm>
            <a:off x="4626864" y="3108960"/>
            <a:ext cx="2935224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2200" b="0" i="1" spc="0">
                <a:solidFill>
                  <a:srgbClr val="111111"/>
                </a:solidFill>
                <a:latin typeface="Georgia"/>
                <a:ea typeface="Malgun Gothic"/>
              </a:rPr>
              <a:t>Weekly</a:t>
            </a: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>   주별 진단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626864" y="3172968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0" spc="0">
                <a:solidFill>
                  <a:srgbClr val="8E8E8E"/>
                </a:solidFill>
                <a:latin typeface="Malgun Gothic"/>
                <a:ea typeface="Malgun Gothic"/>
              </a:rPr>
              <a:t>매주 일요일</a:t>
            </a:r>
          </a:p>
        </p:txBody>
      </p:sp>
      <p:cxnSp>
        <p:nvCxnSpPr>
          <p:cNvPr id="40" name="Connector 40"/>
          <p:cNvCxnSpPr/>
          <p:nvPr/>
        </p:nvCxnSpPr>
        <p:spPr>
          <a:xfrm>
            <a:off x="4626864" y="3611880"/>
            <a:ext cx="2935224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41" name="TextBox 41"/>
          <p:cNvSpPr txBox="1"/>
          <p:nvPr/>
        </p:nvSpPr>
        <p:spPr>
          <a:xfrm>
            <a:off x="4626864" y="3749040"/>
            <a:ext cx="293522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50" b="1" i="0" spc="100">
                <a:solidFill>
                  <a:srgbClr val="7B1E2B"/>
                </a:solidFill>
                <a:latin typeface="Georgia"/>
                <a:ea typeface="Malgun Gothic"/>
              </a:rPr>
              <a:t>DIAGNOSIS · 진단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626864" y="3995928"/>
            <a:ext cx="2935224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00" b="0" i="0" spc="0">
                <a:solidFill>
                  <a:srgbClr val="111111"/>
                </a:solidFill>
                <a:latin typeface="Malgun Gothic"/>
                <a:ea typeface="Malgun Gothic"/>
              </a:rPr>
              <a:t>·  반복 착용 · 컬러 편중</a:t>
            </a:r>
          </a:p>
          <a:p>
            <a:pPr algn="l">
              <a:spcAft>
                <a:spcPts val="300"/>
              </a:spcAft>
            </a:pPr>
            <a:r>
              <a:rPr lang="ko-KR" sz="1100" b="0" i="0" spc="0">
                <a:solidFill>
                  <a:srgbClr val="111111"/>
                </a:solidFill>
                <a:latin typeface="Malgun Gothic"/>
                <a:ea typeface="Malgun Gothic"/>
              </a:rPr>
              <a:t>·  스타일 다양성</a:t>
            </a:r>
          </a:p>
          <a:p>
            <a:pPr algn="l">
              <a:spcAft>
                <a:spcPts val="300"/>
              </a:spcAft>
            </a:pPr>
            <a:r>
              <a:rPr lang="ko-KR" sz="1100" b="0" i="0" spc="0">
                <a:solidFill>
                  <a:srgbClr val="111111"/>
                </a:solidFill>
                <a:latin typeface="Malgun Gothic"/>
                <a:ea typeface="Malgun Gothic"/>
              </a:rPr>
              <a:t>·  상황별 나·주변 만족도 추이</a:t>
            </a:r>
          </a:p>
        </p:txBody>
      </p:sp>
      <p:cxnSp>
        <p:nvCxnSpPr>
          <p:cNvPr id="43" name="Connector 43"/>
          <p:cNvCxnSpPr/>
          <p:nvPr/>
        </p:nvCxnSpPr>
        <p:spPr>
          <a:xfrm>
            <a:off x="4626864" y="4846320"/>
            <a:ext cx="2935224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44" name="TextBox 44"/>
          <p:cNvSpPr txBox="1"/>
          <p:nvPr/>
        </p:nvSpPr>
        <p:spPr>
          <a:xfrm>
            <a:off x="4626864" y="4956048"/>
            <a:ext cx="293522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50" b="1" i="0" spc="100">
                <a:solidFill>
                  <a:srgbClr val="7B1E2B"/>
                </a:solidFill>
                <a:latin typeface="Georgia"/>
                <a:ea typeface="Malgun Gothic"/>
              </a:rPr>
              <a:t>PRESCRIPTION · 처방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626864" y="5212080"/>
            <a:ext cx="2935224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00" b="0" i="0" spc="0">
                <a:solidFill>
                  <a:srgbClr val="7B1E2B"/>
                </a:solidFill>
                <a:latin typeface="Malgun Gothic"/>
                <a:ea typeface="Malgun Gothic"/>
              </a:rPr>
              <a:t>→  다음 주 5일 코디 플랜 제안</a:t>
            </a:r>
          </a:p>
          <a:p>
            <a:pPr algn="l">
              <a:spcAft>
                <a:spcPts val="300"/>
              </a:spcAft>
            </a:pPr>
            <a:r>
              <a:rPr lang="ko-KR" sz="1100" b="0" i="0" spc="0">
                <a:solidFill>
                  <a:srgbClr val="111111"/>
                </a:solidFill>
                <a:latin typeface="Malgun Gothic"/>
                <a:ea typeface="Malgun Gothic"/>
              </a:rPr>
              <a:t>→  안 입은 옷 활용 미션</a:t>
            </a:r>
          </a:p>
        </p:txBody>
      </p:sp>
      <p:sp>
        <p:nvSpPr>
          <p:cNvPr id="46" name="Shape 46"/>
          <p:cNvSpPr/>
          <p:nvPr/>
        </p:nvSpPr>
        <p:spPr>
          <a:xfrm>
            <a:off x="8065008" y="2926080"/>
            <a:ext cx="339242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7"/>
          <p:cNvSpPr txBox="1"/>
          <p:nvPr/>
        </p:nvSpPr>
        <p:spPr>
          <a:xfrm>
            <a:off x="8293608" y="3108960"/>
            <a:ext cx="2935224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2200" b="0" i="1" spc="0">
                <a:solidFill>
                  <a:srgbClr val="111111"/>
                </a:solidFill>
                <a:latin typeface="Georgia"/>
                <a:ea typeface="Malgun Gothic"/>
              </a:rPr>
              <a:t>Monthly</a:t>
            </a: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>   월별 진단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293608" y="3172968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0" spc="0">
                <a:solidFill>
                  <a:srgbClr val="8E8E8E"/>
                </a:solidFill>
                <a:latin typeface="Malgun Gothic"/>
                <a:ea typeface="Malgun Gothic"/>
              </a:rPr>
              <a:t>매월 1일</a:t>
            </a:r>
          </a:p>
        </p:txBody>
      </p:sp>
      <p:cxnSp>
        <p:nvCxnSpPr>
          <p:cNvPr id="49" name="Connector 49"/>
          <p:cNvCxnSpPr/>
          <p:nvPr/>
        </p:nvCxnSpPr>
        <p:spPr>
          <a:xfrm>
            <a:off x="8293608" y="3611880"/>
            <a:ext cx="2935224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50" name="TextBox 50"/>
          <p:cNvSpPr txBox="1"/>
          <p:nvPr/>
        </p:nvSpPr>
        <p:spPr>
          <a:xfrm>
            <a:off x="8293608" y="3749040"/>
            <a:ext cx="293522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50" b="1" i="0" spc="100">
                <a:solidFill>
                  <a:srgbClr val="7B1E2B"/>
                </a:solidFill>
                <a:latin typeface="Georgia"/>
                <a:ea typeface="Malgun Gothic"/>
              </a:rPr>
              <a:t>DIAGNOSIS · 진단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293608" y="3995928"/>
            <a:ext cx="2935224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00" b="0" i="0" spc="0">
                <a:solidFill>
                  <a:srgbClr val="111111"/>
                </a:solidFill>
                <a:latin typeface="Malgun Gothic"/>
                <a:ea typeface="Malgun Gothic"/>
              </a:rPr>
              <a:t>·  스타일 변화 추이</a:t>
            </a:r>
          </a:p>
          <a:p>
            <a:pPr algn="l">
              <a:spcAft>
                <a:spcPts val="300"/>
              </a:spcAft>
            </a:pPr>
            <a:r>
              <a:rPr lang="ko-KR" sz="1100" b="0" i="0" spc="0">
                <a:solidFill>
                  <a:srgbClr val="111111"/>
                </a:solidFill>
                <a:latin typeface="Malgun Gothic"/>
                <a:ea typeface="Malgun Gothic"/>
              </a:rPr>
              <a:t>·  옷장 활용률</a:t>
            </a:r>
          </a:p>
          <a:p>
            <a:pPr algn="l">
              <a:spcAft>
                <a:spcPts val="300"/>
              </a:spcAft>
            </a:pPr>
            <a:r>
              <a:rPr lang="ko-KR" sz="1100" b="0" i="0" spc="0">
                <a:solidFill>
                  <a:srgbClr val="111111"/>
                </a:solidFill>
                <a:latin typeface="Malgun Gothic"/>
                <a:ea typeface="Malgun Gothic"/>
              </a:rPr>
              <a:t>·  자주 입는 / 안 입는 아이템</a:t>
            </a:r>
          </a:p>
        </p:txBody>
      </p:sp>
      <p:cxnSp>
        <p:nvCxnSpPr>
          <p:cNvPr id="52" name="Connector 52"/>
          <p:cNvCxnSpPr/>
          <p:nvPr/>
        </p:nvCxnSpPr>
        <p:spPr>
          <a:xfrm>
            <a:off x="8293608" y="4846320"/>
            <a:ext cx="2935224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53" name="TextBox 53"/>
          <p:cNvSpPr txBox="1"/>
          <p:nvPr/>
        </p:nvSpPr>
        <p:spPr>
          <a:xfrm>
            <a:off x="8293608" y="4956048"/>
            <a:ext cx="293522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50" b="1" i="0" spc="100">
                <a:solidFill>
                  <a:srgbClr val="7B1E2B"/>
                </a:solidFill>
                <a:latin typeface="Georgia"/>
                <a:ea typeface="Malgun Gothic"/>
              </a:rPr>
              <a:t>PRESCRIPTION · 처방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293608" y="5212080"/>
            <a:ext cx="2935224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100" b="0" i="0" spc="0">
                <a:solidFill>
                  <a:srgbClr val="7B1E2B"/>
                </a:solidFill>
                <a:latin typeface="Malgun Gothic"/>
                <a:ea typeface="Malgun Gothic"/>
              </a:rPr>
              <a:t>→  월간 스타일 리포트 · 정리 추천</a:t>
            </a:r>
          </a:p>
          <a:p>
            <a:pPr algn="l">
              <a:spcAft>
                <a:spcPts val="300"/>
              </a:spcAft>
            </a:pPr>
            <a:r>
              <a:rPr lang="ko-KR" sz="1100" b="0" i="0" spc="0">
                <a:solidFill>
                  <a:srgbClr val="111111"/>
                </a:solidFill>
                <a:latin typeface="Malgun Gothic"/>
                <a:ea typeface="Malgun Gothic"/>
              </a:rPr>
              <a:t>→  꼭 필요한 새 아이템 제안 (06 연계)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21792" y="3383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0">
                <a:solidFill>
                  <a:srgbClr val="7B1E2B"/>
                </a:solidFill>
                <a:latin typeface="Georgia"/>
                <a:ea typeface="Malgun Gothic"/>
              </a:rPr>
              <a:t>N°04  </a:t>
            </a:r>
            <a:r>
              <a:rPr lang="ko-KR" sz="900" b="0" i="1" spc="0">
                <a:solidFill>
                  <a:srgbClr val="7B1E2B"/>
                </a:solidFill>
                <a:latin typeface="Georgia"/>
                <a:ea typeface="Malgun Gothic"/>
              </a:rPr>
              <a:t>Recommendation</a:t>
            </a:r>
            <a:r>
              <a:rPr lang="ko-KR" sz="900" b="0" i="0" spc="0">
                <a:solidFill>
                  <a:srgbClr val="8E8E8E"/>
                </a:solidFill>
                <a:latin typeface="Malgun Gothic"/>
                <a:ea typeface="Malgun Gothic"/>
              </a:rPr>
              <a:t>   |   추천 로직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80960" y="338328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3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코디 진단 · </a:t>
            </a:r>
            <a:r>
              <a:rPr lang="ko-KR" sz="3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처방 로직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124358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평가 기준을 점수화하고, 처방은 반드시 </a:t>
            </a:r>
            <a:r>
              <a:rPr lang="ko-KR" sz="11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‘내 옷장’ 아이템에서 먼저</a:t>
            </a: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 찾는다</a:t>
            </a:r>
          </a:p>
        </p:txBody>
      </p:sp>
      <p:cxnSp>
        <p:nvCxnSpPr>
          <p:cNvPr id="6" name="Connector 6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7" name="TextBox 7"/>
          <p:cNvSpPr txBox="1"/>
          <p:nvPr/>
        </p:nvSpPr>
        <p:spPr>
          <a:xfrm>
            <a:off x="640080" y="6528816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5C5C5C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15600" y="651052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5C5C5C"/>
                </a:solidFill>
                <a:latin typeface="Georgia"/>
                <a:ea typeface="Malgun Gothic"/>
              </a:rPr>
              <a:t>— 25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1520" y="18105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600" b="0" i="1" spc="0">
                <a:solidFill>
                  <a:srgbClr val="111111"/>
                </a:solidFill>
                <a:latin typeface="Georgia"/>
                <a:ea typeface="Malgun Gothic"/>
              </a:rPr>
              <a:t>Diagnosis</a:t>
            </a: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>   진단 평가 항목</a:t>
            </a:r>
          </a:p>
        </p:txBody>
      </p:sp>
      <p:cxnSp>
        <p:nvCxnSpPr>
          <p:cNvPr id="10" name="Connector 10"/>
          <p:cNvCxnSpPr/>
          <p:nvPr/>
        </p:nvCxnSpPr>
        <p:spPr>
          <a:xfrm>
            <a:off x="731520" y="2212848"/>
            <a:ext cx="5120640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1" name="TextBox 11"/>
          <p:cNvSpPr txBox="1"/>
          <p:nvPr/>
        </p:nvSpPr>
        <p:spPr>
          <a:xfrm>
            <a:off x="731520" y="233172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1" spc="0">
                <a:solidFill>
                  <a:srgbClr val="7B1E2B"/>
                </a:solidFill>
                <a:latin typeface="Georgia"/>
                <a:ea typeface="Malgun Gothic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8720" y="2304288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250" b="1" i="0" spc="0">
                <a:solidFill>
                  <a:srgbClr val="111111"/>
                </a:solidFill>
                <a:latin typeface="Malgun Gothic"/>
                <a:ea typeface="Malgun Gothic"/>
              </a:rPr>
              <a:t>색상 조화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71800" y="233172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5C5C5C"/>
                </a:solidFill>
                <a:latin typeface="Malgun Gothic"/>
                <a:ea typeface="Malgun Gothic"/>
              </a:rPr>
              <a:t>톤·대비·포인트 컬러 비율</a:t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731520" y="2715768"/>
            <a:ext cx="5120640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5" name="TextBox 15"/>
          <p:cNvSpPr txBox="1"/>
          <p:nvPr/>
        </p:nvSpPr>
        <p:spPr>
          <a:xfrm>
            <a:off x="73152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1" spc="0">
                <a:solidFill>
                  <a:srgbClr val="7B1E2B"/>
                </a:solidFill>
                <a:latin typeface="Georgia"/>
                <a:ea typeface="Malgun Gothic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8720" y="2807208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250" b="1" i="0" spc="0">
                <a:solidFill>
                  <a:srgbClr val="111111"/>
                </a:solidFill>
                <a:latin typeface="Malgun Gothic"/>
                <a:ea typeface="Malgun Gothic"/>
              </a:rPr>
              <a:t>실루엣 · 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71800" y="283464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5C5C5C"/>
                </a:solidFill>
                <a:latin typeface="Malgun Gothic"/>
                <a:ea typeface="Malgun Gothic"/>
              </a:rPr>
              <a:t>상하의 볼륨과 길이 밸런스</a:t>
            </a:r>
          </a:p>
        </p:txBody>
      </p:sp>
      <p:cxnSp>
        <p:nvCxnSpPr>
          <p:cNvPr id="18" name="Connector 18"/>
          <p:cNvCxnSpPr/>
          <p:nvPr/>
        </p:nvCxnSpPr>
        <p:spPr>
          <a:xfrm>
            <a:off x="731520" y="3218688"/>
            <a:ext cx="5120640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9" name="TextBox 19"/>
          <p:cNvSpPr txBox="1"/>
          <p:nvPr/>
        </p:nvSpPr>
        <p:spPr>
          <a:xfrm>
            <a:off x="731520" y="333756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1" spc="0">
                <a:solidFill>
                  <a:srgbClr val="7B1E2B"/>
                </a:solidFill>
                <a:latin typeface="Georgia"/>
                <a:ea typeface="Malgun Gothic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88720" y="3310128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250" b="1" i="0" spc="0">
                <a:solidFill>
                  <a:srgbClr val="111111"/>
                </a:solidFill>
                <a:latin typeface="Malgun Gothic"/>
                <a:ea typeface="Malgun Gothic"/>
              </a:rPr>
              <a:t>TPO 적합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71800" y="333756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5C5C5C"/>
                </a:solidFill>
                <a:latin typeface="Malgun Gothic"/>
                <a:ea typeface="Malgun Gothic"/>
              </a:rPr>
              <a:t>출근·회의·외근 등 상황 격식</a:t>
            </a:r>
          </a:p>
        </p:txBody>
      </p:sp>
      <p:cxnSp>
        <p:nvCxnSpPr>
          <p:cNvPr id="22" name="Connector 22"/>
          <p:cNvCxnSpPr/>
          <p:nvPr/>
        </p:nvCxnSpPr>
        <p:spPr>
          <a:xfrm>
            <a:off x="731520" y="3721608"/>
            <a:ext cx="5120640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23" name="TextBox 23"/>
          <p:cNvSpPr txBox="1"/>
          <p:nvPr/>
        </p:nvSpPr>
        <p:spPr>
          <a:xfrm>
            <a:off x="731520" y="38404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1" spc="0">
                <a:solidFill>
                  <a:srgbClr val="7B1E2B"/>
                </a:solidFill>
                <a:latin typeface="Georgia"/>
                <a:ea typeface="Malgun Gothic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88720" y="3813048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250" b="1" i="0" spc="0">
                <a:solidFill>
                  <a:srgbClr val="111111"/>
                </a:solidFill>
                <a:latin typeface="Malgun Gothic"/>
                <a:ea typeface="Malgun Gothic"/>
              </a:rPr>
              <a:t>날씨 적합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971800" y="38404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5C5C5C"/>
                </a:solidFill>
                <a:latin typeface="Malgun Gothic"/>
                <a:ea typeface="Malgun Gothic"/>
              </a:rPr>
              <a:t>기온·강수 대비 소재와 레이어</a:t>
            </a:r>
          </a:p>
        </p:txBody>
      </p:sp>
      <p:cxnSp>
        <p:nvCxnSpPr>
          <p:cNvPr id="26" name="Connector 26"/>
          <p:cNvCxnSpPr/>
          <p:nvPr/>
        </p:nvCxnSpPr>
        <p:spPr>
          <a:xfrm>
            <a:off x="731520" y="4224528"/>
            <a:ext cx="5120640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27" name="TextBox 27"/>
          <p:cNvSpPr txBox="1"/>
          <p:nvPr/>
        </p:nvSpPr>
        <p:spPr>
          <a:xfrm>
            <a:off x="731520" y="43434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1" spc="0">
                <a:solidFill>
                  <a:srgbClr val="7B1E2B"/>
                </a:solidFill>
                <a:latin typeface="Georgia"/>
                <a:ea typeface="Malgun Gothic"/>
              </a:rPr>
              <a:t>05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88720" y="4315968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250" b="1" i="0" spc="0">
                <a:solidFill>
                  <a:srgbClr val="111111"/>
                </a:solidFill>
                <a:latin typeface="Malgun Gothic"/>
                <a:ea typeface="Malgun Gothic"/>
              </a:rPr>
              <a:t>다양성 · 반복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971800" y="434340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5C5C5C"/>
                </a:solidFill>
                <a:latin typeface="Malgun Gothic"/>
                <a:ea typeface="Malgun Gothic"/>
              </a:rPr>
              <a:t>최근 착용 이력 대비 새로움</a:t>
            </a:r>
          </a:p>
        </p:txBody>
      </p:sp>
      <p:cxnSp>
        <p:nvCxnSpPr>
          <p:cNvPr id="30" name="Connector 30"/>
          <p:cNvCxnSpPr/>
          <p:nvPr/>
        </p:nvCxnSpPr>
        <p:spPr>
          <a:xfrm>
            <a:off x="731520" y="4727448"/>
            <a:ext cx="5120640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31" name="TextBox 31"/>
          <p:cNvSpPr txBox="1"/>
          <p:nvPr/>
        </p:nvSpPr>
        <p:spPr>
          <a:xfrm>
            <a:off x="731520" y="486460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8E8E8E"/>
                </a:solidFill>
                <a:latin typeface="Malgun Gothic"/>
                <a:ea typeface="Malgun Gothic"/>
              </a:rPr>
              <a:t>AI 점수와 나·주변 만족도를 비교하고, 강점 1개 · 개선점 1개 제시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355080" y="1810512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600" b="0" i="1" spc="0">
                <a:solidFill>
                  <a:srgbClr val="111111"/>
                </a:solidFill>
                <a:latin typeface="Georgia"/>
                <a:ea typeface="Malgun Gothic"/>
              </a:rPr>
              <a:t>Prescription</a:t>
            </a: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>   처방 우선순위</a:t>
            </a:r>
          </a:p>
        </p:txBody>
      </p:sp>
      <p:sp>
        <p:nvSpPr>
          <p:cNvPr id="33" name="Shape 33"/>
          <p:cNvSpPr/>
          <p:nvPr/>
        </p:nvSpPr>
        <p:spPr>
          <a:xfrm>
            <a:off x="6355080" y="2212848"/>
            <a:ext cx="510235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4"/>
          <p:cNvSpPr txBox="1"/>
          <p:nvPr/>
        </p:nvSpPr>
        <p:spPr>
          <a:xfrm>
            <a:off x="6556248" y="2322576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3000" b="0" i="1" spc="0">
                <a:solidFill>
                  <a:srgbClr val="7B1E2B"/>
                </a:solidFill>
                <a:latin typeface="Georgia"/>
                <a:ea typeface="Malgun Gothic"/>
              </a:rPr>
              <a:t>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132320" y="2350008"/>
            <a:ext cx="414223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300" b="1" i="0" spc="0">
                <a:solidFill>
                  <a:srgbClr val="111111"/>
                </a:solidFill>
                <a:latin typeface="Malgun Gothic"/>
                <a:ea typeface="Malgun Gothic"/>
              </a:rPr>
              <a:t>내 옷장에서 교체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132320" y="2670048"/>
            <a:ext cx="414223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>진단 결과 약점 아이템 1개를 보유 아이템으로 대체</a:t>
            </a:r>
          </a:p>
        </p:txBody>
      </p:sp>
      <p:sp>
        <p:nvSpPr>
          <p:cNvPr id="37" name="Shape 37"/>
          <p:cNvSpPr/>
          <p:nvPr/>
        </p:nvSpPr>
        <p:spPr>
          <a:xfrm>
            <a:off x="6355080" y="3191256"/>
            <a:ext cx="5102352" cy="868680"/>
          </a:xfrm>
          <a:prstGeom prst="rect">
            <a:avLst/>
          </a:prstGeom>
          <a:solidFill>
            <a:srgbClr val="EEEBE0"/>
          </a:solidFill>
          <a:ln w="9525"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8"/>
          <p:cNvSpPr txBox="1"/>
          <p:nvPr/>
        </p:nvSpPr>
        <p:spPr>
          <a:xfrm>
            <a:off x="6556248" y="3300984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3000" b="0" i="1" spc="0">
                <a:solidFill>
                  <a:srgbClr val="7B1E2B"/>
                </a:solidFill>
                <a:latin typeface="Georgia"/>
                <a:ea typeface="Malgun Gothic"/>
              </a:rPr>
              <a:t>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132320" y="3328416"/>
            <a:ext cx="414223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300" b="1" i="0" spc="0">
                <a:solidFill>
                  <a:srgbClr val="111111"/>
                </a:solidFill>
                <a:latin typeface="Malgun Gothic"/>
                <a:ea typeface="Malgun Gothic"/>
              </a:rPr>
              <a:t>스타일링 팁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132320" y="3648456"/>
            <a:ext cx="414223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>소매 롤업 · 레이어링 · 액세서리 등 착용 방법 개선</a:t>
            </a:r>
          </a:p>
        </p:txBody>
      </p:sp>
      <p:sp>
        <p:nvSpPr>
          <p:cNvPr id="41" name="Shape 41"/>
          <p:cNvSpPr/>
          <p:nvPr/>
        </p:nvSpPr>
        <p:spPr>
          <a:xfrm>
            <a:off x="6355080" y="4169664"/>
            <a:ext cx="5102352" cy="86868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2"/>
          <p:cNvSpPr txBox="1"/>
          <p:nvPr/>
        </p:nvSpPr>
        <p:spPr>
          <a:xfrm>
            <a:off x="6556248" y="4279392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3000" b="0" i="1" spc="0">
                <a:solidFill>
                  <a:srgbClr val="D5B990"/>
                </a:solidFill>
                <a:latin typeface="Georgia"/>
                <a:ea typeface="Malgun Gothic"/>
              </a:rPr>
              <a:t>3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132320" y="4306824"/>
            <a:ext cx="414223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300" b="1" i="0" spc="0">
                <a:solidFill>
                  <a:srgbClr val="FFFFFF"/>
                </a:solidFill>
                <a:latin typeface="Malgun Gothic"/>
                <a:ea typeface="Malgun Gothic"/>
              </a:rPr>
              <a:t>새 아이템 제안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132320" y="4626864"/>
            <a:ext cx="414223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BDBDBD"/>
                </a:solidFill>
                <a:latin typeface="Malgun Gothic"/>
                <a:ea typeface="Malgun Gothic"/>
              </a:rPr>
              <a:t>옷장 안에서 해결이 어려울 때만 — 보유 옷과 코디 수 함께 제시</a:t>
            </a:r>
          </a:p>
        </p:txBody>
      </p:sp>
      <p:sp>
        <p:nvSpPr>
          <p:cNvPr id="45" name="Shape 45"/>
          <p:cNvSpPr/>
          <p:nvPr/>
        </p:nvSpPr>
        <p:spPr>
          <a:xfrm>
            <a:off x="731520" y="5349240"/>
            <a:ext cx="10725912" cy="868680"/>
          </a:xfrm>
          <a:prstGeom prst="rect">
            <a:avLst/>
          </a:prstGeom>
          <a:solidFill>
            <a:srgbClr val="EEE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6"/>
          <p:cNvSpPr txBox="1"/>
          <p:nvPr/>
        </p:nvSpPr>
        <p:spPr>
          <a:xfrm>
            <a:off x="960120" y="5458968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7B1E2B"/>
                </a:solidFill>
                <a:latin typeface="Malgun Gothic"/>
                <a:ea typeface="Malgun Gothic"/>
              </a:rPr>
              <a:t>리포트 주기   </a:t>
            </a: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>일별 매일 저녁  ·  주별 매주 일요일  ·  월별 매월 1일 — 푸시 알림으로 전달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60120" y="57241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7B1E2B"/>
                </a:solidFill>
                <a:latin typeface="Malgun Gothic"/>
                <a:ea typeface="Malgun Gothic"/>
              </a:rPr>
              <a:t>API   </a:t>
            </a:r>
            <a:r>
              <a:rPr lang="ko-KR" sz="1000" b="0" i="0" spc="0">
                <a:solidFill>
                  <a:srgbClr val="111111"/>
                </a:solidFill>
                <a:latin typeface="Courier New"/>
                <a:ea typeface="Malgun Gothic"/>
              </a:rPr>
              <a:t>POST /api/v1/looks   ·   GET /api/v1/diagnoses?period=DAY|WEEK|MONTH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60120" y="5971032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7B1E2B"/>
                </a:solidFill>
                <a:latin typeface="Malgun Gothic"/>
                <a:ea typeface="Malgun Gothic"/>
              </a:rPr>
              <a:t>개인정보   </a:t>
            </a: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>전신 사진은 비공개 저장 · 얼굴 자동 블러 옵션 · 기록 삭제 시 진단 데이터 함께 삭제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21792" y="3383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0">
                <a:solidFill>
                  <a:srgbClr val="7B1E2B"/>
                </a:solidFill>
                <a:latin typeface="Georgia"/>
                <a:ea typeface="Malgun Gothic"/>
              </a:rPr>
              <a:t>N°03  </a:t>
            </a:r>
            <a:r>
              <a:rPr lang="ko-KR" sz="900" b="0" i="1" spc="0">
                <a:solidFill>
                  <a:srgbClr val="7B1E2B"/>
                </a:solidFill>
                <a:latin typeface="Georgia"/>
                <a:ea typeface="Malgun Gothic"/>
              </a:rPr>
              <a:t>UX &amp; Screens</a:t>
            </a:r>
            <a:r>
              <a:rPr lang="ko-KR" sz="900" b="0" i="0" spc="0">
                <a:solidFill>
                  <a:srgbClr val="8E8E8E"/>
                </a:solidFill>
                <a:latin typeface="Malgun Gothic"/>
                <a:ea typeface="Malgun Gothic"/>
              </a:rPr>
              <a:t>   |   UX·화면 설계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80960" y="338328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3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화면 설계 ④ </a:t>
            </a:r>
            <a:r>
              <a:rPr lang="ko-KR" sz="3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예정일 코디 추천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124358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오늘뿐 아니라 면접·하객·여행 등 예정된 날을 지정하고, 조건을 직접 입력해 </a:t>
            </a:r>
            <a:r>
              <a:rPr lang="ko-KR" sz="11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미리 추천받는다</a:t>
            </a:r>
          </a:p>
        </p:txBody>
      </p:sp>
      <p:cxnSp>
        <p:nvCxnSpPr>
          <p:cNvPr id="6" name="Connector 6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7" name="TextBox 7"/>
          <p:cNvSpPr txBox="1"/>
          <p:nvPr/>
        </p:nvSpPr>
        <p:spPr>
          <a:xfrm>
            <a:off x="640080" y="6528816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5C5C5C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15600" y="651052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5C5C5C"/>
                </a:solidFill>
                <a:latin typeface="Georgia"/>
                <a:ea typeface="Malgun Gothic"/>
              </a:rPr>
              <a:t>— 16</a:t>
            </a:r>
          </a:p>
        </p:txBody>
      </p:sp>
      <p:sp>
        <p:nvSpPr>
          <p:cNvPr id="9" name="Shape 9"/>
          <p:cNvSpPr/>
          <p:nvPr/>
        </p:nvSpPr>
        <p:spPr>
          <a:xfrm>
            <a:off x="868680" y="1810512"/>
            <a:ext cx="2880360" cy="4526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10"/>
          <p:cNvSpPr txBox="1"/>
          <p:nvPr/>
        </p:nvSpPr>
        <p:spPr>
          <a:xfrm>
            <a:off x="1097280" y="208483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1" i="0" spc="200">
                <a:solidFill>
                  <a:srgbClr val="7B1E2B"/>
                </a:solidFill>
                <a:latin typeface="Georgia"/>
                <a:ea typeface="Malgun Gothic"/>
              </a:rPr>
              <a:t>PLAN A LOOK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97280" y="2313432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300" b="1" i="0" spc="0">
                <a:solidFill>
                  <a:srgbClr val="111111"/>
                </a:solidFill>
                <a:latin typeface="Malgun Gothic"/>
                <a:ea typeface="Malgun Gothic"/>
              </a:rPr>
              <a:t>언제 입을 코디인가요?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7280" y="2770632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50" b="1" i="0" spc="0">
                <a:solidFill>
                  <a:srgbClr val="8E8E8E"/>
                </a:solidFill>
                <a:latin typeface="Malgun Gothic"/>
                <a:ea typeface="Malgun Gothic"/>
              </a:rPr>
              <a:t>날짜</a:t>
            </a:r>
          </a:p>
        </p:txBody>
      </p:sp>
      <p:sp>
        <p:nvSpPr>
          <p:cNvPr id="13" name="Shape 13"/>
          <p:cNvSpPr/>
          <p:nvPr/>
        </p:nvSpPr>
        <p:spPr>
          <a:xfrm>
            <a:off x="1097280" y="2971800"/>
            <a:ext cx="2423160" cy="347472"/>
          </a:xfrm>
          <a:prstGeom prst="rect">
            <a:avLst/>
          </a:prstGeom>
          <a:solidFill>
            <a:srgbClr val="EEE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4"/>
          <p:cNvSpPr txBox="1"/>
          <p:nvPr/>
        </p:nvSpPr>
        <p:spPr>
          <a:xfrm>
            <a:off x="1207008" y="3044952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>11월 8일 (토) · 오후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7280" y="342900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50" b="1" i="0" spc="0">
                <a:solidFill>
                  <a:srgbClr val="8E8E8E"/>
                </a:solidFill>
                <a:latin typeface="Malgun Gothic"/>
                <a:ea typeface="Malgun Gothic"/>
              </a:rPr>
              <a:t>컨셉</a:t>
            </a:r>
          </a:p>
        </p:txBody>
      </p:sp>
      <p:sp>
        <p:nvSpPr>
          <p:cNvPr id="16" name="Shape 16"/>
          <p:cNvSpPr/>
          <p:nvPr/>
        </p:nvSpPr>
        <p:spPr>
          <a:xfrm>
            <a:off x="1097280" y="3630168"/>
            <a:ext cx="2423160" cy="347472"/>
          </a:xfrm>
          <a:prstGeom prst="rect">
            <a:avLst/>
          </a:prstGeom>
          <a:solidFill>
            <a:srgbClr val="EEE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7"/>
          <p:cNvSpPr txBox="1"/>
          <p:nvPr/>
        </p:nvSpPr>
        <p:spPr>
          <a:xfrm>
            <a:off x="1207008" y="3703320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>미니멀  ·  클래식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97280" y="4087368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50" b="1" i="0" spc="0">
                <a:solidFill>
                  <a:srgbClr val="8E8E8E"/>
                </a:solidFill>
                <a:latin typeface="Malgun Gothic"/>
                <a:ea typeface="Malgun Gothic"/>
              </a:rPr>
              <a:t>상황</a:t>
            </a:r>
          </a:p>
        </p:txBody>
      </p:sp>
      <p:sp>
        <p:nvSpPr>
          <p:cNvPr id="19" name="Shape 19"/>
          <p:cNvSpPr/>
          <p:nvPr/>
        </p:nvSpPr>
        <p:spPr>
          <a:xfrm>
            <a:off x="1097280" y="4288536"/>
            <a:ext cx="2423160" cy="347472"/>
          </a:xfrm>
          <a:prstGeom prst="rect">
            <a:avLst/>
          </a:prstGeom>
          <a:solidFill>
            <a:srgbClr val="EEE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20"/>
          <p:cNvSpPr txBox="1"/>
          <p:nvPr/>
        </p:nvSpPr>
        <p:spPr>
          <a:xfrm>
            <a:off x="1207008" y="4361688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>결혼식 하객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7280" y="4745736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50" b="1" i="0" spc="0">
                <a:solidFill>
                  <a:srgbClr val="8E8E8E"/>
                </a:solidFill>
                <a:latin typeface="Malgun Gothic"/>
                <a:ea typeface="Malgun Gothic"/>
              </a:rPr>
              <a:t>날씨</a:t>
            </a:r>
          </a:p>
        </p:txBody>
      </p:sp>
      <p:sp>
        <p:nvSpPr>
          <p:cNvPr id="22" name="Shape 22"/>
          <p:cNvSpPr/>
          <p:nvPr/>
        </p:nvSpPr>
        <p:spPr>
          <a:xfrm>
            <a:off x="1097280" y="4946904"/>
            <a:ext cx="2423160" cy="347472"/>
          </a:xfrm>
          <a:prstGeom prst="rect">
            <a:avLst/>
          </a:prstGeom>
          <a:solidFill>
            <a:srgbClr val="EEE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3"/>
          <p:cNvSpPr txBox="1"/>
          <p:nvPr/>
        </p:nvSpPr>
        <p:spPr>
          <a:xfrm>
            <a:off x="1207008" y="5020056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>예보 자동  /  12°C · 맑음</a:t>
            </a:r>
          </a:p>
        </p:txBody>
      </p:sp>
      <p:sp>
        <p:nvSpPr>
          <p:cNvPr id="24" name="Shape 24"/>
          <p:cNvSpPr/>
          <p:nvPr/>
        </p:nvSpPr>
        <p:spPr>
          <a:xfrm>
            <a:off x="1097280" y="5586984"/>
            <a:ext cx="2423160" cy="41148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5"/>
          <p:cNvSpPr txBox="1"/>
          <p:nvPr/>
        </p:nvSpPr>
        <p:spPr>
          <a:xfrm>
            <a:off x="1097280" y="5586984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1050" b="1" i="0" spc="0">
                <a:solidFill>
                  <a:srgbClr val="FFFFFF"/>
                </a:solidFill>
                <a:latin typeface="Malgun Gothic"/>
                <a:ea typeface="Malgun Gothic"/>
              </a:rPr>
              <a:t>코디 추천 받기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206240" y="1810512"/>
            <a:ext cx="72511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600" b="0" i="1" spc="0">
                <a:solidFill>
                  <a:srgbClr val="111111"/>
                </a:solidFill>
                <a:latin typeface="Georgia"/>
                <a:ea typeface="Malgun Gothic"/>
              </a:rPr>
              <a:t>Inputs</a:t>
            </a: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>   입력 조건</a:t>
            </a:r>
          </a:p>
        </p:txBody>
      </p:sp>
      <p:cxnSp>
        <p:nvCxnSpPr>
          <p:cNvPr id="27" name="Connector 27"/>
          <p:cNvCxnSpPr/>
          <p:nvPr/>
        </p:nvCxnSpPr>
        <p:spPr>
          <a:xfrm>
            <a:off x="4206240" y="2212848"/>
            <a:ext cx="7251192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8" name="TextBox 28"/>
          <p:cNvSpPr txBox="1"/>
          <p:nvPr/>
        </p:nvSpPr>
        <p:spPr>
          <a:xfrm>
            <a:off x="4206240" y="23225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200" b="1" i="0" spc="0">
                <a:solidFill>
                  <a:srgbClr val="111111"/>
                </a:solidFill>
                <a:latin typeface="Malgun Gothic"/>
                <a:ea typeface="Malgun Gothic"/>
              </a:rPr>
              <a:t>날짜 · 시간대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35040" y="2340864"/>
            <a:ext cx="54223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5C5C5C"/>
                </a:solidFill>
                <a:latin typeface="Malgun Gothic"/>
                <a:ea typeface="Malgun Gothic"/>
              </a:rPr>
              <a:t>캘린더에서 예정일과 시간대(오전·오후·저녁) 선택</a:t>
            </a:r>
          </a:p>
        </p:txBody>
      </p:sp>
      <p:cxnSp>
        <p:nvCxnSpPr>
          <p:cNvPr id="30" name="Connector 30"/>
          <p:cNvCxnSpPr/>
          <p:nvPr/>
        </p:nvCxnSpPr>
        <p:spPr>
          <a:xfrm>
            <a:off x="4206240" y="2670048"/>
            <a:ext cx="7251192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31" name="TextBox 31"/>
          <p:cNvSpPr txBox="1"/>
          <p:nvPr/>
        </p:nvSpPr>
        <p:spPr>
          <a:xfrm>
            <a:off x="4206240" y="27797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200" b="1" i="0" spc="0">
                <a:solidFill>
                  <a:srgbClr val="111111"/>
                </a:solidFill>
                <a:latin typeface="Malgun Gothic"/>
                <a:ea typeface="Malgun Gothic"/>
              </a:rPr>
              <a:t>컨셉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035040" y="2798064"/>
            <a:ext cx="54223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5C5C5C"/>
                </a:solidFill>
                <a:latin typeface="Malgun Gothic"/>
                <a:ea typeface="Malgun Gothic"/>
              </a:rPr>
              <a:t>미니멀 · 클래식 · 캐주얼 · 스트릿 등 칩 선택 + 자유 입력</a:t>
            </a:r>
          </a:p>
        </p:txBody>
      </p:sp>
      <p:cxnSp>
        <p:nvCxnSpPr>
          <p:cNvPr id="33" name="Connector 33"/>
          <p:cNvCxnSpPr/>
          <p:nvPr/>
        </p:nvCxnSpPr>
        <p:spPr>
          <a:xfrm>
            <a:off x="4206240" y="3127248"/>
            <a:ext cx="7251192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34" name="TextBox 34"/>
          <p:cNvSpPr txBox="1"/>
          <p:nvPr/>
        </p:nvSpPr>
        <p:spPr>
          <a:xfrm>
            <a:off x="4206240" y="32369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200" b="1" i="0" spc="0">
                <a:solidFill>
                  <a:srgbClr val="111111"/>
                </a:solidFill>
                <a:latin typeface="Malgun Gothic"/>
                <a:ea typeface="Malgun Gothic"/>
              </a:rPr>
              <a:t>상황 (TPO)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035040" y="3255264"/>
            <a:ext cx="54223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5C5C5C"/>
                </a:solidFill>
                <a:latin typeface="Malgun Gothic"/>
                <a:ea typeface="Malgun Gothic"/>
              </a:rPr>
              <a:t>면접 · 하객 · 데이트 · 여행 · 출장 · 모임 등 선택</a:t>
            </a:r>
          </a:p>
        </p:txBody>
      </p:sp>
      <p:cxnSp>
        <p:nvCxnSpPr>
          <p:cNvPr id="36" name="Connector 36"/>
          <p:cNvCxnSpPr/>
          <p:nvPr/>
        </p:nvCxnSpPr>
        <p:spPr>
          <a:xfrm>
            <a:off x="4206240" y="3584448"/>
            <a:ext cx="7251192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37" name="TextBox 37"/>
          <p:cNvSpPr txBox="1"/>
          <p:nvPr/>
        </p:nvSpPr>
        <p:spPr>
          <a:xfrm>
            <a:off x="4206240" y="36941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200" b="1" i="0" spc="0">
                <a:solidFill>
                  <a:srgbClr val="111111"/>
                </a:solidFill>
                <a:latin typeface="Malgun Gothic"/>
                <a:ea typeface="Malgun Gothic"/>
              </a:rPr>
              <a:t>날씨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035040" y="3712464"/>
            <a:ext cx="54223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5C5C5C"/>
                </a:solidFill>
                <a:latin typeface="Malgun Gothic"/>
                <a:ea typeface="Malgun Gothic"/>
              </a:rPr>
              <a:t>예보 기간 내 자동 연동, 그 이후는 기온·강수 직접 입력</a:t>
            </a:r>
          </a:p>
        </p:txBody>
      </p:sp>
      <p:cxnSp>
        <p:nvCxnSpPr>
          <p:cNvPr id="39" name="Connector 39"/>
          <p:cNvCxnSpPr/>
          <p:nvPr/>
        </p:nvCxnSpPr>
        <p:spPr>
          <a:xfrm>
            <a:off x="4206240" y="4041648"/>
            <a:ext cx="7251192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40" name="TextBox 40"/>
          <p:cNvSpPr txBox="1"/>
          <p:nvPr/>
        </p:nvSpPr>
        <p:spPr>
          <a:xfrm>
            <a:off x="4206240" y="41513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200" b="1" i="0" spc="0">
                <a:solidFill>
                  <a:srgbClr val="111111"/>
                </a:solidFill>
                <a:latin typeface="Malgun Gothic"/>
                <a:ea typeface="Malgun Gothic"/>
              </a:rPr>
              <a:t>추가 조건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035040" y="4169664"/>
            <a:ext cx="54223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5C5C5C"/>
                </a:solidFill>
                <a:latin typeface="Malgun Gothic"/>
                <a:ea typeface="Malgun Gothic"/>
              </a:rPr>
              <a:t>꼭 입을 아이템 고정 · 피하고 싶은 색 · 동행/장소 메모</a:t>
            </a:r>
          </a:p>
        </p:txBody>
      </p:sp>
      <p:cxnSp>
        <p:nvCxnSpPr>
          <p:cNvPr id="42" name="Connector 42"/>
          <p:cNvCxnSpPr/>
          <p:nvPr/>
        </p:nvCxnSpPr>
        <p:spPr>
          <a:xfrm>
            <a:off x="4206240" y="4498848"/>
            <a:ext cx="7251192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43" name="TextBox 43"/>
          <p:cNvSpPr txBox="1"/>
          <p:nvPr/>
        </p:nvSpPr>
        <p:spPr>
          <a:xfrm>
            <a:off x="4206240" y="4846320"/>
            <a:ext cx="72511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600" b="0" i="1" spc="0">
                <a:solidFill>
                  <a:srgbClr val="111111"/>
                </a:solidFill>
                <a:latin typeface="Georgia"/>
                <a:ea typeface="Malgun Gothic"/>
              </a:rPr>
              <a:t>Then</a:t>
            </a: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>   추천 이후</a:t>
            </a:r>
          </a:p>
        </p:txBody>
      </p:sp>
      <p:sp>
        <p:nvSpPr>
          <p:cNvPr id="44" name="Shape 44"/>
          <p:cNvSpPr/>
          <p:nvPr/>
        </p:nvSpPr>
        <p:spPr>
          <a:xfrm>
            <a:off x="4206240" y="5248656"/>
            <a:ext cx="222199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5"/>
          <p:cNvSpPr txBox="1"/>
          <p:nvPr/>
        </p:nvSpPr>
        <p:spPr>
          <a:xfrm>
            <a:off x="4370832" y="5367528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250" b="1" i="0" spc="0">
                <a:solidFill>
                  <a:srgbClr val="111111"/>
                </a:solidFill>
                <a:latin typeface="Malgun Gothic"/>
                <a:ea typeface="Malgun Gothic"/>
              </a:rPr>
              <a:t>추천 3안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370832" y="566928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50" b="0" i="0" spc="0">
                <a:solidFill>
                  <a:srgbClr val="5C5C5C"/>
                </a:solidFill>
                <a:latin typeface="Malgun Gothic"/>
                <a:ea typeface="Malgun Gothic"/>
              </a:rPr>
              <a:t>조건 반영 후보 + 추천 이유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428232" y="5504688"/>
            <a:ext cx="29260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1300" b="0" i="0" spc="0">
                <a:solidFill>
                  <a:srgbClr val="7B1E2B"/>
                </a:solidFill>
                <a:latin typeface="Georgia"/>
                <a:ea typeface="Malgun Gothic"/>
              </a:rPr>
              <a:t>→</a:t>
            </a:r>
          </a:p>
        </p:txBody>
      </p:sp>
      <p:sp>
        <p:nvSpPr>
          <p:cNvPr id="48" name="Shape 48"/>
          <p:cNvSpPr/>
          <p:nvPr/>
        </p:nvSpPr>
        <p:spPr>
          <a:xfrm>
            <a:off x="6720840" y="5248656"/>
            <a:ext cx="222199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9"/>
          <p:cNvSpPr txBox="1"/>
          <p:nvPr/>
        </p:nvSpPr>
        <p:spPr>
          <a:xfrm>
            <a:off x="6885432" y="5367528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250" b="1" i="0" spc="0">
                <a:solidFill>
                  <a:srgbClr val="111111"/>
                </a:solidFill>
                <a:latin typeface="Malgun Gothic"/>
                <a:ea typeface="Malgun Gothic"/>
              </a:rPr>
              <a:t>캘린더 저장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885432" y="566928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50" b="0" i="0" spc="0">
                <a:solidFill>
                  <a:srgbClr val="5C5C5C"/>
                </a:solidFill>
                <a:latin typeface="Malgun Gothic"/>
                <a:ea typeface="Malgun Gothic"/>
              </a:rPr>
              <a:t>코디 캘린더에 예약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942832" y="5504688"/>
            <a:ext cx="29260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1300" b="0" i="0" spc="0">
                <a:solidFill>
                  <a:srgbClr val="7B1E2B"/>
                </a:solidFill>
                <a:latin typeface="Georgia"/>
                <a:ea typeface="Malgun Gothic"/>
              </a:rPr>
              <a:t>→</a:t>
            </a:r>
          </a:p>
        </p:txBody>
      </p:sp>
      <p:sp>
        <p:nvSpPr>
          <p:cNvPr id="52" name="Shape 52"/>
          <p:cNvSpPr/>
          <p:nvPr/>
        </p:nvSpPr>
        <p:spPr>
          <a:xfrm>
            <a:off x="9235440" y="5248656"/>
            <a:ext cx="2221992" cy="86868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3"/>
          <p:cNvSpPr txBox="1"/>
          <p:nvPr/>
        </p:nvSpPr>
        <p:spPr>
          <a:xfrm>
            <a:off x="9400032" y="5367528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250" b="1" i="0" spc="0">
                <a:solidFill>
                  <a:srgbClr val="FFFFFF"/>
                </a:solidFill>
                <a:latin typeface="Malgun Gothic"/>
                <a:ea typeface="Malgun Gothic"/>
              </a:rPr>
              <a:t>D-1 알림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400032" y="566928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50" b="0" i="0" spc="0">
                <a:solidFill>
                  <a:srgbClr val="BDBDBD"/>
                </a:solidFill>
                <a:latin typeface="Malgun Gothic"/>
                <a:ea typeface="Malgun Gothic"/>
              </a:rPr>
              <a:t>최신 예보로 재확인 · 수정 제안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21792" y="3383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0">
                <a:solidFill>
                  <a:srgbClr val="7B1E2B"/>
                </a:solidFill>
                <a:latin typeface="Georgia"/>
                <a:ea typeface="Malgun Gothic"/>
              </a:rPr>
              <a:t>N°03  </a:t>
            </a:r>
            <a:r>
              <a:rPr lang="ko-KR" sz="900" b="0" i="1" spc="0">
                <a:solidFill>
                  <a:srgbClr val="7B1E2B"/>
                </a:solidFill>
                <a:latin typeface="Georgia"/>
                <a:ea typeface="Malgun Gothic"/>
              </a:rPr>
              <a:t>UX &amp; Screens</a:t>
            </a:r>
            <a:r>
              <a:rPr lang="ko-KR" sz="900" b="0" i="0" spc="0">
                <a:solidFill>
                  <a:srgbClr val="8E8E8E"/>
                </a:solidFill>
                <a:latin typeface="Malgun Gothic"/>
                <a:ea typeface="Malgun Gothic"/>
              </a:rPr>
              <a:t>   |   UX·화면 설계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80960" y="338328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3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화면 설계 ⑥ </a:t>
            </a:r>
            <a:r>
              <a:rPr lang="ko-KR" sz="3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코디 만족도 기록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124358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데일리 코디에 나의 만족도와 주변 반응을 함께 남겨, AI 진단과 비교하고 </a:t>
            </a:r>
            <a:r>
              <a:rPr lang="ko-KR" sz="11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다음 추천에 반영</a:t>
            </a: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한다</a:t>
            </a:r>
          </a:p>
        </p:txBody>
      </p:sp>
      <p:cxnSp>
        <p:nvCxnSpPr>
          <p:cNvPr id="6" name="Connector 6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7" name="TextBox 7"/>
          <p:cNvSpPr txBox="1"/>
          <p:nvPr/>
        </p:nvSpPr>
        <p:spPr>
          <a:xfrm>
            <a:off x="640080" y="6528816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5C5C5C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15600" y="651052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5C5C5C"/>
                </a:solidFill>
                <a:latin typeface="Georgia"/>
                <a:ea typeface="Malgun Gothic"/>
              </a:rPr>
              <a:t>— 18</a:t>
            </a:r>
          </a:p>
        </p:txBody>
      </p:sp>
      <p:sp>
        <p:nvSpPr>
          <p:cNvPr id="9" name="Shape 9"/>
          <p:cNvSpPr/>
          <p:nvPr/>
        </p:nvSpPr>
        <p:spPr>
          <a:xfrm>
            <a:off x="731520" y="1810512"/>
            <a:ext cx="3392424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10"/>
          <p:cNvSpPr txBox="1"/>
          <p:nvPr/>
        </p:nvSpPr>
        <p:spPr>
          <a:xfrm>
            <a:off x="960120" y="1993392"/>
            <a:ext cx="2935224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2200" b="0" i="1" spc="0">
                <a:solidFill>
                  <a:srgbClr val="111111"/>
                </a:solidFill>
                <a:latin typeface="Georgia"/>
                <a:ea typeface="Malgun Gothic"/>
              </a:rPr>
              <a:t>Self</a:t>
            </a: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>   나의 만족도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960120" y="2496312"/>
            <a:ext cx="2935224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2" name="TextBox 12"/>
          <p:cNvSpPr txBox="1"/>
          <p:nvPr/>
        </p:nvSpPr>
        <p:spPr>
          <a:xfrm>
            <a:off x="960120" y="2651760"/>
            <a:ext cx="293522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1" i="0" spc="0">
                <a:solidFill>
                  <a:srgbClr val="7B1E2B"/>
                </a:solidFill>
                <a:latin typeface="Malgun Gothic"/>
                <a:ea typeface="Malgun Gothic"/>
              </a:rPr>
              <a:t>별점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0120" y="2898648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5C5C5C"/>
                </a:solidFill>
                <a:latin typeface="Malgun Gothic"/>
                <a:ea typeface="Malgun Gothic"/>
              </a:rPr>
              <a:t>1 ~ 5점으로 오늘 코디 평가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0120" y="3291840"/>
            <a:ext cx="293522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1" i="0" spc="0">
                <a:solidFill>
                  <a:srgbClr val="7B1E2B"/>
                </a:solidFill>
                <a:latin typeface="Malgun Gothic"/>
                <a:ea typeface="Malgun Gothic"/>
              </a:rPr>
              <a:t>감정 태그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0120" y="3538728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5C5C5C"/>
                </a:solidFill>
                <a:latin typeface="Malgun Gothic"/>
                <a:ea typeface="Malgun Gothic"/>
              </a:rPr>
              <a:t>자신감 · 편안함 · 어색함 · 불편함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0120" y="3931920"/>
            <a:ext cx="293522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1" i="0" spc="0">
                <a:solidFill>
                  <a:srgbClr val="7B1E2B"/>
                </a:solidFill>
                <a:latin typeface="Malgun Gothic"/>
                <a:ea typeface="Malgun Gothic"/>
              </a:rPr>
              <a:t>한 줄 메모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0120" y="4178808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5C5C5C"/>
                </a:solidFill>
                <a:latin typeface="Malgun Gothic"/>
                <a:ea typeface="Malgun Gothic"/>
              </a:rPr>
              <a:t>“하루 종일 편했다”, “조금 추웠다”</a:t>
            </a:r>
          </a:p>
        </p:txBody>
      </p:sp>
      <p:sp>
        <p:nvSpPr>
          <p:cNvPr id="18" name="Shape 18"/>
          <p:cNvSpPr/>
          <p:nvPr/>
        </p:nvSpPr>
        <p:spPr>
          <a:xfrm>
            <a:off x="4398264" y="1810512"/>
            <a:ext cx="3392424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9"/>
          <p:cNvSpPr txBox="1"/>
          <p:nvPr/>
        </p:nvSpPr>
        <p:spPr>
          <a:xfrm>
            <a:off x="4626864" y="1993392"/>
            <a:ext cx="2935224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2200" b="0" i="1" spc="0">
                <a:solidFill>
                  <a:srgbClr val="111111"/>
                </a:solidFill>
                <a:latin typeface="Georgia"/>
                <a:ea typeface="Malgun Gothic"/>
              </a:rPr>
              <a:t>Others</a:t>
            </a: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>   주변 만족도</a:t>
            </a:r>
          </a:p>
        </p:txBody>
      </p:sp>
      <p:cxnSp>
        <p:nvCxnSpPr>
          <p:cNvPr id="20" name="Connector 20"/>
          <p:cNvCxnSpPr/>
          <p:nvPr/>
        </p:nvCxnSpPr>
        <p:spPr>
          <a:xfrm>
            <a:off x="4626864" y="2496312"/>
            <a:ext cx="2935224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TextBox 21"/>
          <p:cNvSpPr txBox="1"/>
          <p:nvPr/>
        </p:nvSpPr>
        <p:spPr>
          <a:xfrm>
            <a:off x="4626864" y="2651760"/>
            <a:ext cx="293522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1" i="0" spc="0">
                <a:solidFill>
                  <a:srgbClr val="7B1E2B"/>
                </a:solidFill>
                <a:latin typeface="Malgun Gothic"/>
                <a:ea typeface="Malgun Gothic"/>
              </a:rPr>
              <a:t>주변 반응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26864" y="2898648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5C5C5C"/>
                </a:solidFill>
                <a:latin typeface="Malgun Gothic"/>
                <a:ea typeface="Malgun Gothic"/>
              </a:rPr>
              <a:t>칭찬 받음 · 보통 · 아쉬움 중 선택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26864" y="3291840"/>
            <a:ext cx="293522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1" i="0" spc="0">
                <a:solidFill>
                  <a:srgbClr val="7B1E2B"/>
                </a:solidFill>
                <a:latin typeface="Malgun Gothic"/>
                <a:ea typeface="Malgun Gothic"/>
              </a:rPr>
              <a:t>칭찬 기록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26864" y="3538728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5C5C5C"/>
                </a:solidFill>
                <a:latin typeface="Malgun Gothic"/>
                <a:ea typeface="Malgun Gothic"/>
              </a:rPr>
              <a:t>누가 · 어떤 아이템을 칭찬했는지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26864" y="3931920"/>
            <a:ext cx="293522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1" i="0" spc="0">
                <a:solidFill>
                  <a:srgbClr val="7B1E2B"/>
                </a:solidFill>
                <a:latin typeface="Malgun Gothic"/>
                <a:ea typeface="Malgun Gothic"/>
              </a:rPr>
              <a:t>지인 투표 (선택)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26864" y="4178808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5C5C5C"/>
                </a:solidFill>
                <a:latin typeface="Malgun Gothic"/>
                <a:ea typeface="Malgun Gothic"/>
              </a:rPr>
              <a:t>링크 공유로 익명 반응 받기</a:t>
            </a:r>
          </a:p>
        </p:txBody>
      </p:sp>
      <p:sp>
        <p:nvSpPr>
          <p:cNvPr id="27" name="Shape 27"/>
          <p:cNvSpPr/>
          <p:nvPr/>
        </p:nvSpPr>
        <p:spPr>
          <a:xfrm>
            <a:off x="8065008" y="1810512"/>
            <a:ext cx="3392424" cy="28803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8"/>
          <p:cNvSpPr txBox="1"/>
          <p:nvPr/>
        </p:nvSpPr>
        <p:spPr>
          <a:xfrm>
            <a:off x="8293608" y="1993392"/>
            <a:ext cx="2935224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2200" b="0" i="1" spc="0">
                <a:solidFill>
                  <a:srgbClr val="FFFFFF"/>
                </a:solidFill>
                <a:latin typeface="Georgia"/>
                <a:ea typeface="Malgun Gothic"/>
              </a:rPr>
              <a:t>Insight</a:t>
            </a:r>
            <a:r>
              <a:rPr lang="ko-KR" sz="1100" b="1" i="0" spc="0">
                <a:solidFill>
                  <a:srgbClr val="FFFFFF"/>
                </a:solidFill>
                <a:latin typeface="Malgun Gothic"/>
                <a:ea typeface="Malgun Gothic"/>
              </a:rPr>
              <a:t>   기록 활용</a:t>
            </a:r>
          </a:p>
        </p:txBody>
      </p:sp>
      <p:cxnSp>
        <p:nvCxnSpPr>
          <p:cNvPr id="29" name="Connector 29"/>
          <p:cNvCxnSpPr/>
          <p:nvPr/>
        </p:nvCxnSpPr>
        <p:spPr>
          <a:xfrm>
            <a:off x="8293608" y="2496312"/>
            <a:ext cx="2935224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30" name="TextBox 30"/>
          <p:cNvSpPr txBox="1"/>
          <p:nvPr/>
        </p:nvSpPr>
        <p:spPr>
          <a:xfrm>
            <a:off x="8293608" y="2651760"/>
            <a:ext cx="293522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1" i="0" spc="0">
                <a:solidFill>
                  <a:srgbClr val="D5B990"/>
                </a:solidFill>
                <a:latin typeface="Malgun Gothic"/>
                <a:ea typeface="Malgun Gothic"/>
              </a:rPr>
              <a:t>3축 비교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93608" y="2898648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AI 점수 · 나 · 주변 만족도 나란히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293608" y="3291840"/>
            <a:ext cx="293522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1" i="0" spc="0">
                <a:solidFill>
                  <a:srgbClr val="D5B990"/>
                </a:solidFill>
                <a:latin typeface="Malgun Gothic"/>
                <a:ea typeface="Malgun Gothic"/>
              </a:rPr>
              <a:t>패턴 발견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93608" y="3538728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‘내가 좋아하는 룩’ vs ‘남이 좋아한 룩’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293608" y="3931920"/>
            <a:ext cx="293522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1" i="0" spc="0">
                <a:solidFill>
                  <a:srgbClr val="D5B990"/>
                </a:solidFill>
                <a:latin typeface="Malgun Gothic"/>
                <a:ea typeface="Malgun Gothic"/>
              </a:rPr>
              <a:t>추천 반영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93608" y="4178808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만족도 높은 조합의 가중치 ↑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31520" y="49651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50" b="1" i="0" spc="200">
                <a:solidFill>
                  <a:srgbClr val="7B1E2B"/>
                </a:solidFill>
                <a:latin typeface="Georgia"/>
                <a:ea typeface="Malgun Gothic"/>
              </a:rPr>
              <a:t>EXAMPLE</a:t>
            </a:r>
            <a:r>
              <a:rPr lang="ko-KR" sz="900" b="0" i="0" spc="0">
                <a:solidFill>
                  <a:srgbClr val="8E8E8E"/>
                </a:solidFill>
                <a:latin typeface="Malgun Gothic"/>
                <a:ea typeface="Malgun Gothic"/>
              </a:rPr>
              <a:t>   기록 예시</a:t>
            </a:r>
          </a:p>
        </p:txBody>
      </p:sp>
      <p:sp>
        <p:nvSpPr>
          <p:cNvPr id="37" name="Shape 37"/>
          <p:cNvSpPr/>
          <p:nvPr/>
        </p:nvSpPr>
        <p:spPr>
          <a:xfrm>
            <a:off x="731520" y="5257800"/>
            <a:ext cx="10725912" cy="868680"/>
          </a:xfrm>
          <a:prstGeom prst="rect">
            <a:avLst/>
          </a:prstGeom>
          <a:solidFill>
            <a:srgbClr val="EEE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8"/>
          <p:cNvSpPr txBox="1"/>
          <p:nvPr/>
        </p:nvSpPr>
        <p:spPr>
          <a:xfrm>
            <a:off x="960120" y="5376672"/>
            <a:ext cx="192938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0">
                <a:solidFill>
                  <a:srgbClr val="111111"/>
                </a:solidFill>
                <a:latin typeface="Malgun Gothic"/>
                <a:ea typeface="Malgun Gothic"/>
              </a:rPr>
              <a:t>2026.11.08 (토)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60120" y="5650992"/>
            <a:ext cx="19293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>결혼식 하객 · 미니멀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026664" y="5376672"/>
            <a:ext cx="192938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0">
                <a:solidFill>
                  <a:srgbClr val="7B1E2B"/>
                </a:solidFill>
                <a:latin typeface="Malgun Gothic"/>
                <a:ea typeface="Malgun Gothic"/>
              </a:rPr>
              <a:t>AI 진단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026664" y="5650992"/>
            <a:ext cx="19293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0" spc="0">
                <a:solidFill>
                  <a:srgbClr val="111111"/>
                </a:solidFill>
                <a:latin typeface="Malgun Gothic"/>
                <a:ea typeface="Malgun Gothic"/>
              </a:rPr>
              <a:t>82점 · 색상 조화 우수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093208" y="5376672"/>
            <a:ext cx="192938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0">
                <a:solidFill>
                  <a:srgbClr val="7B1E2B"/>
                </a:solidFill>
                <a:latin typeface="Malgun Gothic"/>
                <a:ea typeface="Malgun Gothic"/>
              </a:rPr>
              <a:t>나의 만족도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093208" y="5650992"/>
            <a:ext cx="19293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0" spc="0">
                <a:solidFill>
                  <a:srgbClr val="111111"/>
                </a:solidFill>
                <a:latin typeface="Malgun Gothic"/>
                <a:ea typeface="Malgun Gothic"/>
              </a:rPr>
              <a:t>★★★★☆  자신감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159752" y="5376672"/>
            <a:ext cx="192938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0">
                <a:solidFill>
                  <a:srgbClr val="7B1E2B"/>
                </a:solidFill>
                <a:latin typeface="Malgun Gothic"/>
                <a:ea typeface="Malgun Gothic"/>
              </a:rPr>
              <a:t>주변 만족도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159752" y="5650992"/>
            <a:ext cx="19293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0" spc="0">
                <a:solidFill>
                  <a:srgbClr val="111111"/>
                </a:solidFill>
                <a:latin typeface="Malgun Gothic"/>
                <a:ea typeface="Malgun Gothic"/>
              </a:rPr>
              <a:t>칭찬 2회 · 재킷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226296" y="5376672"/>
            <a:ext cx="192938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0">
                <a:solidFill>
                  <a:srgbClr val="7B1E2B"/>
                </a:solidFill>
                <a:latin typeface="Malgun Gothic"/>
                <a:ea typeface="Malgun Gothic"/>
              </a:rPr>
              <a:t>다음 추천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226296" y="5650992"/>
            <a:ext cx="19293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0" spc="0">
                <a:solidFill>
                  <a:srgbClr val="111111"/>
                </a:solidFill>
                <a:latin typeface="Malgun Gothic"/>
                <a:ea typeface="Malgun Gothic"/>
              </a:rPr>
              <a:t>재킷 활용 조합 ↑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21792" y="3383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0">
                <a:solidFill>
                  <a:srgbClr val="7B1E2B"/>
                </a:solidFill>
                <a:latin typeface="Georgia"/>
                <a:ea typeface="Malgun Gothic"/>
              </a:rPr>
              <a:t>N°04  </a:t>
            </a:r>
            <a:r>
              <a:rPr lang="ko-KR" sz="900" b="0" i="1" spc="0">
                <a:solidFill>
                  <a:srgbClr val="7B1E2B"/>
                </a:solidFill>
                <a:latin typeface="Georgia"/>
                <a:ea typeface="Malgun Gothic"/>
              </a:rPr>
              <a:t>Recommendation</a:t>
            </a:r>
            <a:r>
              <a:rPr lang="ko-KR" sz="900" b="0" i="0" spc="0">
                <a:solidFill>
                  <a:srgbClr val="8E8E8E"/>
                </a:solidFill>
                <a:latin typeface="Malgun Gothic"/>
                <a:ea typeface="Malgun Gothic"/>
              </a:rPr>
              <a:t>   |   추천 로직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80960" y="338328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3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옷장 스타일 분석</a:t>
            </a:r>
            <a:r>
              <a:rPr lang="ko-KR" sz="3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 · 추천 · 제안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124358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등록된 옷장 전체를 분석·평가하고, 있는 옷의 </a:t>
            </a:r>
            <a:r>
              <a:rPr lang="ko-KR" sz="11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활용 추천과 보완 제안</a:t>
            </a: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까지 이어간다</a:t>
            </a:r>
          </a:p>
        </p:txBody>
      </p:sp>
      <p:cxnSp>
        <p:nvCxnSpPr>
          <p:cNvPr id="6" name="Connector 6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7" name="TextBox 7"/>
          <p:cNvSpPr txBox="1"/>
          <p:nvPr/>
        </p:nvSpPr>
        <p:spPr>
          <a:xfrm>
            <a:off x="640080" y="6528816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5C5C5C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15600" y="651052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5C5C5C"/>
                </a:solidFill>
                <a:latin typeface="Georgia"/>
                <a:ea typeface="Malgun Gothic"/>
              </a:rPr>
              <a:t>— 26</a:t>
            </a:r>
          </a:p>
        </p:txBody>
      </p:sp>
      <p:sp>
        <p:nvSpPr>
          <p:cNvPr id="9" name="Shape 9"/>
          <p:cNvSpPr/>
          <p:nvPr/>
        </p:nvSpPr>
        <p:spPr>
          <a:xfrm>
            <a:off x="731520" y="1810512"/>
            <a:ext cx="24688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10"/>
          <p:cNvSpPr txBox="1"/>
          <p:nvPr/>
        </p:nvSpPr>
        <p:spPr>
          <a:xfrm>
            <a:off x="932688" y="1975104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1" spc="0">
                <a:solidFill>
                  <a:srgbClr val="7B1E2B"/>
                </a:solidFill>
                <a:latin typeface="Georgia"/>
                <a:ea typeface="Malgun Gothic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2688" y="219456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800" b="0" i="1" spc="0">
                <a:solidFill>
                  <a:srgbClr val="111111"/>
                </a:solidFill>
                <a:latin typeface="Georgia"/>
                <a:ea typeface="Malgun Gothic"/>
              </a:rPr>
              <a:t>Analysis</a:t>
            </a:r>
            <a:r>
              <a:rPr lang="ko-KR" sz="1050" b="1" i="0" spc="0">
                <a:solidFill>
                  <a:srgbClr val="111111"/>
                </a:solidFill>
                <a:latin typeface="Malgun Gothic"/>
                <a:ea typeface="Malgun Gothic"/>
              </a:rPr>
              <a:t>  분석</a:t>
            </a:r>
          </a:p>
        </p:txBody>
      </p:sp>
      <p:cxnSp>
        <p:nvCxnSpPr>
          <p:cNvPr id="12" name="Connector 12"/>
          <p:cNvCxnSpPr/>
          <p:nvPr/>
        </p:nvCxnSpPr>
        <p:spPr>
          <a:xfrm>
            <a:off x="932688" y="2679192"/>
            <a:ext cx="2066544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3" name="TextBox 13"/>
          <p:cNvSpPr txBox="1"/>
          <p:nvPr/>
        </p:nvSpPr>
        <p:spPr>
          <a:xfrm>
            <a:off x="932688" y="2816352"/>
            <a:ext cx="21031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>·  스타일 구성비</a:t>
            </a:r>
          </a:p>
          <a:p>
            <a:pPr algn="l">
              <a:spcAft>
                <a:spcPts val="5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>·  컬러 팔레트 · 톤</a:t>
            </a:r>
          </a:p>
          <a:p>
            <a:pPr algn="l">
              <a:spcAft>
                <a:spcPts val="5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>·  카테고리 · 계절 밸런스</a:t>
            </a:r>
          </a:p>
          <a:p>
            <a:pPr algn="l">
              <a:spcAft>
                <a:spcPts val="5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>·  아이템별 착용 빈도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00400" y="2907792"/>
            <a:ext cx="28346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1300" b="0" i="0" spc="0">
                <a:solidFill>
                  <a:srgbClr val="7B1E2B"/>
                </a:solidFill>
                <a:latin typeface="Georgia"/>
                <a:ea typeface="Malgun Gothic"/>
              </a:rPr>
              <a:t>→</a:t>
            </a:r>
          </a:p>
        </p:txBody>
      </p:sp>
      <p:sp>
        <p:nvSpPr>
          <p:cNvPr id="15" name="Shape 15"/>
          <p:cNvSpPr/>
          <p:nvPr/>
        </p:nvSpPr>
        <p:spPr>
          <a:xfrm>
            <a:off x="3483864" y="1810512"/>
            <a:ext cx="2468880" cy="2194560"/>
          </a:xfrm>
          <a:prstGeom prst="rect">
            <a:avLst/>
          </a:prstGeom>
          <a:solidFill>
            <a:srgbClr val="EEEBE0"/>
          </a:solidFill>
          <a:ln w="9525"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6"/>
          <p:cNvSpPr txBox="1"/>
          <p:nvPr/>
        </p:nvSpPr>
        <p:spPr>
          <a:xfrm>
            <a:off x="3685032" y="1975104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1" spc="0">
                <a:solidFill>
                  <a:srgbClr val="7B1E2B"/>
                </a:solidFill>
                <a:latin typeface="Georgia"/>
                <a:ea typeface="Malgun Gothic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685032" y="219456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800" b="0" i="1" spc="0">
                <a:solidFill>
                  <a:srgbClr val="111111"/>
                </a:solidFill>
                <a:latin typeface="Georgia"/>
                <a:ea typeface="Malgun Gothic"/>
              </a:rPr>
              <a:t>Evaluation</a:t>
            </a:r>
            <a:r>
              <a:rPr lang="ko-KR" sz="1050" b="1" i="0" spc="0">
                <a:solidFill>
                  <a:srgbClr val="111111"/>
                </a:solidFill>
                <a:latin typeface="Malgun Gothic"/>
                <a:ea typeface="Malgun Gothic"/>
              </a:rPr>
              <a:t>  평가</a:t>
            </a:r>
          </a:p>
        </p:txBody>
      </p:sp>
      <p:cxnSp>
        <p:nvCxnSpPr>
          <p:cNvPr id="18" name="Connector 18"/>
          <p:cNvCxnSpPr/>
          <p:nvPr/>
        </p:nvCxnSpPr>
        <p:spPr>
          <a:xfrm>
            <a:off x="3685032" y="2679192"/>
            <a:ext cx="2066544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TextBox 19"/>
          <p:cNvSpPr txBox="1"/>
          <p:nvPr/>
        </p:nvSpPr>
        <p:spPr>
          <a:xfrm>
            <a:off x="3685032" y="2816352"/>
            <a:ext cx="21031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>·  나의 스타일 유형 정의</a:t>
            </a:r>
          </a:p>
          <a:p>
            <a:pPr algn="l">
              <a:spcAft>
                <a:spcPts val="5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>·  강점 — 풍부한 영역</a:t>
            </a:r>
          </a:p>
          <a:p>
            <a:pPr algn="l">
              <a:spcAft>
                <a:spcPts val="5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>·  공백 — 부족한 영역</a:t>
            </a:r>
          </a:p>
          <a:p>
            <a:pPr algn="l">
              <a:spcAft>
                <a:spcPts val="5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>·  옷장 활용률 · 잠자는 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52744" y="2907792"/>
            <a:ext cx="28346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1300" b="0" i="0" spc="0">
                <a:solidFill>
                  <a:srgbClr val="7B1E2B"/>
                </a:solidFill>
                <a:latin typeface="Georgia"/>
                <a:ea typeface="Malgun Gothic"/>
              </a:rPr>
              <a:t>→</a:t>
            </a:r>
          </a:p>
        </p:txBody>
      </p:sp>
      <p:sp>
        <p:nvSpPr>
          <p:cNvPr id="21" name="Shape 21"/>
          <p:cNvSpPr/>
          <p:nvPr/>
        </p:nvSpPr>
        <p:spPr>
          <a:xfrm>
            <a:off x="6236208" y="1810512"/>
            <a:ext cx="24688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2"/>
          <p:cNvSpPr txBox="1"/>
          <p:nvPr/>
        </p:nvSpPr>
        <p:spPr>
          <a:xfrm>
            <a:off x="6437376" y="1975104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1" spc="0">
                <a:solidFill>
                  <a:srgbClr val="7B1E2B"/>
                </a:solidFill>
                <a:latin typeface="Georgia"/>
                <a:ea typeface="Malgun Gothic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37376" y="219456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800" b="0" i="1" spc="0">
                <a:solidFill>
                  <a:srgbClr val="111111"/>
                </a:solidFill>
                <a:latin typeface="Georgia"/>
                <a:ea typeface="Malgun Gothic"/>
              </a:rPr>
              <a:t>Recommend</a:t>
            </a:r>
            <a:r>
              <a:rPr lang="ko-KR" sz="1050" b="1" i="0" spc="0">
                <a:solidFill>
                  <a:srgbClr val="111111"/>
                </a:solidFill>
                <a:latin typeface="Malgun Gothic"/>
                <a:ea typeface="Malgun Gothic"/>
              </a:rPr>
              <a:t>  추천</a:t>
            </a:r>
          </a:p>
        </p:txBody>
      </p:sp>
      <p:cxnSp>
        <p:nvCxnSpPr>
          <p:cNvPr id="24" name="Connector 24"/>
          <p:cNvCxnSpPr/>
          <p:nvPr/>
        </p:nvCxnSpPr>
        <p:spPr>
          <a:xfrm>
            <a:off x="6437376" y="2679192"/>
            <a:ext cx="2066544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5" name="TextBox 25"/>
          <p:cNvSpPr txBox="1"/>
          <p:nvPr/>
        </p:nvSpPr>
        <p:spPr>
          <a:xfrm>
            <a:off x="6437376" y="2816352"/>
            <a:ext cx="21031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>·  잠자는 옷을 살리는 코디</a:t>
            </a:r>
          </a:p>
          <a:p>
            <a:pPr algn="l">
              <a:spcAft>
                <a:spcPts val="5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>·  조합 수가 많은 핵심 아이템</a:t>
            </a:r>
          </a:p>
          <a:p>
            <a:pPr algn="l">
              <a:spcAft>
                <a:spcPts val="5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>·  원하는 방향의 스타일 확장 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705088" y="2907792"/>
            <a:ext cx="28346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1300" b="0" i="0" spc="0">
                <a:solidFill>
                  <a:srgbClr val="7B1E2B"/>
                </a:solidFill>
                <a:latin typeface="Georgia"/>
                <a:ea typeface="Malgun Gothic"/>
              </a:rPr>
              <a:t>→</a:t>
            </a:r>
          </a:p>
        </p:txBody>
      </p:sp>
      <p:sp>
        <p:nvSpPr>
          <p:cNvPr id="27" name="Shape 27"/>
          <p:cNvSpPr/>
          <p:nvPr/>
        </p:nvSpPr>
        <p:spPr>
          <a:xfrm>
            <a:off x="8988552" y="1810512"/>
            <a:ext cx="2468880" cy="2194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8"/>
          <p:cNvSpPr txBox="1"/>
          <p:nvPr/>
        </p:nvSpPr>
        <p:spPr>
          <a:xfrm>
            <a:off x="9189720" y="1975104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1" spc="0">
                <a:solidFill>
                  <a:srgbClr val="D5B990"/>
                </a:solidFill>
                <a:latin typeface="Georgia"/>
                <a:ea typeface="Malgun Gothic"/>
              </a:rPr>
              <a:t>04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89720" y="219456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800" b="0" i="1" spc="0">
                <a:solidFill>
                  <a:srgbClr val="FFFFFF"/>
                </a:solidFill>
                <a:latin typeface="Georgia"/>
                <a:ea typeface="Malgun Gothic"/>
              </a:rPr>
              <a:t>Suggest</a:t>
            </a:r>
            <a:r>
              <a:rPr lang="ko-KR" sz="1050" b="1" i="0" spc="0">
                <a:solidFill>
                  <a:srgbClr val="FFFFFF"/>
                </a:solidFill>
                <a:latin typeface="Malgun Gothic"/>
                <a:ea typeface="Malgun Gothic"/>
              </a:rPr>
              <a:t>  제안</a:t>
            </a:r>
          </a:p>
        </p:txBody>
      </p:sp>
      <p:cxnSp>
        <p:nvCxnSpPr>
          <p:cNvPr id="30" name="Connector 30"/>
          <p:cNvCxnSpPr/>
          <p:nvPr/>
        </p:nvCxnSpPr>
        <p:spPr>
          <a:xfrm>
            <a:off x="9189720" y="2679192"/>
            <a:ext cx="2066544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31" name="TextBox 31"/>
          <p:cNvSpPr txBox="1"/>
          <p:nvPr/>
        </p:nvSpPr>
        <p:spPr>
          <a:xfrm>
            <a:off x="9189720" y="2816352"/>
            <a:ext cx="21031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·  정리 후보 (장기 미착용 · 중복)</a:t>
            </a:r>
          </a:p>
          <a:p>
            <a:pPr algn="l">
              <a:spcAft>
                <a:spcPts val="500"/>
              </a:spcAft>
            </a:pP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·  보완 아이템 1~3개 + 조합 수</a:t>
            </a:r>
          </a:p>
          <a:p>
            <a:pPr algn="l">
              <a:spcAft>
                <a:spcPts val="500"/>
              </a:spcAft>
            </a:pP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·  희망 스타일 로드맵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1520" y="4297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50" b="1" i="0" spc="200">
                <a:solidFill>
                  <a:srgbClr val="7B1E2B"/>
                </a:solidFill>
                <a:latin typeface="Georgia"/>
                <a:ea typeface="Malgun Gothic"/>
              </a:rPr>
              <a:t>SAMPLE REPORT</a:t>
            </a:r>
            <a:r>
              <a:rPr lang="ko-KR" sz="900" b="0" i="0" spc="0">
                <a:solidFill>
                  <a:srgbClr val="8E8E8E"/>
                </a:solidFill>
                <a:latin typeface="Malgun Gothic"/>
                <a:ea typeface="Malgun Gothic"/>
              </a:rPr>
              <a:t>   리포트 화면 예시 (수치는 예시)</a:t>
            </a:r>
          </a:p>
        </p:txBody>
      </p:sp>
      <p:sp>
        <p:nvSpPr>
          <p:cNvPr id="33" name="Shape 33"/>
          <p:cNvSpPr/>
          <p:nvPr/>
        </p:nvSpPr>
        <p:spPr>
          <a:xfrm>
            <a:off x="731520" y="4590288"/>
            <a:ext cx="1072591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4"/>
          <p:cNvSpPr txBox="1"/>
          <p:nvPr/>
        </p:nvSpPr>
        <p:spPr>
          <a:xfrm>
            <a:off x="960120" y="47274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>스타일 구성비</a:t>
            </a:r>
          </a:p>
        </p:txBody>
      </p:sp>
      <p:sp>
        <p:nvSpPr>
          <p:cNvPr id="35" name="Shape 35"/>
          <p:cNvSpPr/>
          <p:nvPr/>
        </p:nvSpPr>
        <p:spPr>
          <a:xfrm>
            <a:off x="960120" y="5029200"/>
            <a:ext cx="2267712" cy="34747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6"/>
          <p:cNvSpPr txBox="1"/>
          <p:nvPr/>
        </p:nvSpPr>
        <p:spPr>
          <a:xfrm>
            <a:off x="960120" y="5029200"/>
            <a:ext cx="2267712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850" b="1" i="0" spc="0">
                <a:solidFill>
                  <a:srgbClr val="FFFFFF"/>
                </a:solidFill>
                <a:latin typeface="Malgun Gothic"/>
                <a:ea typeface="Malgun Gothic"/>
              </a:rPr>
              <a:t>미니멀 40%</a:t>
            </a:r>
          </a:p>
        </p:txBody>
      </p:sp>
      <p:sp>
        <p:nvSpPr>
          <p:cNvPr id="37" name="Shape 37"/>
          <p:cNvSpPr/>
          <p:nvPr/>
        </p:nvSpPr>
        <p:spPr>
          <a:xfrm>
            <a:off x="3227832" y="5029200"/>
            <a:ext cx="1700784" cy="347472"/>
          </a:xfrm>
          <a:prstGeom prst="rect">
            <a:avLst/>
          </a:prstGeom>
          <a:solidFill>
            <a:srgbClr val="5C5C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8"/>
          <p:cNvSpPr txBox="1"/>
          <p:nvPr/>
        </p:nvSpPr>
        <p:spPr>
          <a:xfrm>
            <a:off x="3227832" y="5029200"/>
            <a:ext cx="1700784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850" b="1" i="0" spc="0">
                <a:solidFill>
                  <a:srgbClr val="FFFFFF"/>
                </a:solidFill>
                <a:latin typeface="Malgun Gothic"/>
                <a:ea typeface="Malgun Gothic"/>
              </a:rPr>
              <a:t>캐주얼 30%</a:t>
            </a:r>
          </a:p>
        </p:txBody>
      </p:sp>
      <p:sp>
        <p:nvSpPr>
          <p:cNvPr id="39" name="Shape 39"/>
          <p:cNvSpPr/>
          <p:nvPr/>
        </p:nvSpPr>
        <p:spPr>
          <a:xfrm>
            <a:off x="4928616" y="5029200"/>
            <a:ext cx="850392" cy="347472"/>
          </a:xfrm>
          <a:prstGeom prst="rect">
            <a:avLst/>
          </a:prstGeom>
          <a:solidFill>
            <a:srgbClr val="7B1E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40"/>
          <p:cNvSpPr txBox="1"/>
          <p:nvPr/>
        </p:nvSpPr>
        <p:spPr>
          <a:xfrm>
            <a:off x="4928616" y="5029200"/>
            <a:ext cx="850392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850" b="1" i="0" spc="0">
                <a:solidFill>
                  <a:srgbClr val="FFFFFF"/>
                </a:solidFill>
                <a:latin typeface="Malgun Gothic"/>
                <a:ea typeface="Malgun Gothic"/>
              </a:rPr>
              <a:t>클래식 15%</a:t>
            </a:r>
          </a:p>
        </p:txBody>
      </p:sp>
      <p:sp>
        <p:nvSpPr>
          <p:cNvPr id="41" name="Shape 41"/>
          <p:cNvSpPr/>
          <p:nvPr/>
        </p:nvSpPr>
        <p:spPr>
          <a:xfrm>
            <a:off x="5779008" y="5029200"/>
            <a:ext cx="850392" cy="347472"/>
          </a:xfrm>
          <a:prstGeom prst="rect">
            <a:avLst/>
          </a:prstGeom>
          <a:solidFill>
            <a:srgbClr val="CFCB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2"/>
          <p:cNvSpPr txBox="1"/>
          <p:nvPr/>
        </p:nvSpPr>
        <p:spPr>
          <a:xfrm>
            <a:off x="5779008" y="5029200"/>
            <a:ext cx="850392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850" b="1" i="0" spc="0">
                <a:solidFill>
                  <a:srgbClr val="111111"/>
                </a:solidFill>
                <a:latin typeface="Malgun Gothic"/>
                <a:ea typeface="Malgun Gothic"/>
              </a:rPr>
              <a:t>스트릿 15%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60120" y="55046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>유형: 뉴트럴 미니멀 — 상의는 풍부, 간절기 아우터가 부족</a:t>
            </a:r>
          </a:p>
        </p:txBody>
      </p:sp>
      <p:cxnSp>
        <p:nvCxnSpPr>
          <p:cNvPr id="44" name="Connector 44"/>
          <p:cNvCxnSpPr/>
          <p:nvPr/>
        </p:nvCxnSpPr>
        <p:spPr>
          <a:xfrm>
            <a:off x="6995160" y="4754880"/>
            <a:ext cx="0" cy="105156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45" name="TextBox 45"/>
          <p:cNvSpPr txBox="1"/>
          <p:nvPr/>
        </p:nvSpPr>
        <p:spPr>
          <a:xfrm>
            <a:off x="7223760" y="472744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>이번 달 제안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223760" y="502920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>→  잠자는 옷 6벌 — 살리는 코디 3안</a:t>
            </a:r>
          </a:p>
          <a:p>
            <a:pPr algn="l">
              <a:spcAft>
                <a:spcPts val="300"/>
              </a:spcAft>
            </a:pPr>
            <a:r>
              <a:rPr lang="ko-KR" sz="1050" b="0" i="0" spc="0">
                <a:solidFill>
                  <a:srgbClr val="7B1E2B"/>
                </a:solidFill>
                <a:latin typeface="Malgun Gothic"/>
                <a:ea typeface="Malgun Gothic"/>
              </a:rPr>
              <a:t>→  트렌치코트 1벌 추가 시 새 코디 +12</a:t>
            </a:r>
          </a:p>
          <a:p>
            <a:pPr algn="l">
              <a:spcAft>
                <a:spcPts val="3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>→  중복 니트 2벌 정리 후보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21792" y="3383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0">
                <a:solidFill>
                  <a:srgbClr val="7B1E2B"/>
                </a:solidFill>
                <a:latin typeface="Georgia"/>
                <a:ea typeface="Malgun Gothic"/>
              </a:rPr>
              <a:t>N°03  </a:t>
            </a:r>
            <a:r>
              <a:rPr lang="ko-KR" sz="900" b="0" i="1" spc="0">
                <a:solidFill>
                  <a:srgbClr val="7B1E2B"/>
                </a:solidFill>
                <a:latin typeface="Georgia"/>
                <a:ea typeface="Malgun Gothic"/>
              </a:rPr>
              <a:t>UX &amp; Screens</a:t>
            </a:r>
            <a:r>
              <a:rPr lang="ko-KR" sz="900" b="0" i="0" spc="0">
                <a:solidFill>
                  <a:srgbClr val="8E8E8E"/>
                </a:solidFill>
                <a:latin typeface="Malgun Gothic"/>
                <a:ea typeface="Malgun Gothic"/>
              </a:rPr>
              <a:t>   |   UX·화면 설계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80960" y="338328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3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화면 설계 ⑦ </a:t>
            </a:r>
            <a:r>
              <a:rPr lang="ko-KR" sz="3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내 옷 바로 진단</a:t>
            </a:r>
            <a:r>
              <a:rPr lang="ko-KR" sz="3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 · 로컬 처리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124358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옷장에 등록하지 않아도, 사진을 서버로 올리지 않고 </a:t>
            </a:r>
            <a:r>
              <a:rPr lang="ko-KR" sz="11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이 기기 안에서</a:t>
            </a: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 진단·처방을 받는다</a:t>
            </a:r>
          </a:p>
        </p:txBody>
      </p:sp>
      <p:cxnSp>
        <p:nvCxnSpPr>
          <p:cNvPr id="6" name="Connector 6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7" name="TextBox 7"/>
          <p:cNvSpPr txBox="1"/>
          <p:nvPr/>
        </p:nvSpPr>
        <p:spPr>
          <a:xfrm>
            <a:off x="640080" y="6528816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5C5C5C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15600" y="651052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5C5C5C"/>
                </a:solidFill>
                <a:latin typeface="Georgia"/>
                <a:ea typeface="Malgun Gothic"/>
              </a:rPr>
              <a:t>— 19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621792" y="1645920"/>
            <a:ext cx="2074191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1" spc="0">
                <a:solidFill>
                  <a:srgbClr val="7B1E2B"/>
                </a:solidFill>
                <a:latin typeface="Georgia"/>
                <a:ea typeface="Malgun Gothic"/>
              </a:rPr>
              <a:t xml:space="preserve">01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21792" y="1847088"/>
            <a:ext cx="216563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3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사진 선택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21792" y="2103120"/>
            <a:ext cx="2165631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착장 1장 · 옷 최대 5장</a:t>
            </a:r>
          </a:p>
        </p:txBody>
      </p:sp>
      <p:pic>
        <p:nvPicPr>
          <p:cNvPr id="104" name="내 옷 바로 진단 화면 1" descr="내 옷 바로 진단 화면 1"/>
          <p:cNvPicPr>
            <a:picLocks noChangeAspect="1"/>
          </p:cNvPicPr>
          <p:nvPr/>
        </p:nvPicPr>
        <p:blipFill>
          <a:blip r:embed="rIdP1"/>
          <a:stretch>
            <a:fillRect/>
          </a:stretch>
        </p:blipFill>
        <p:spPr>
          <a:xfrm>
            <a:off x="621792" y="2395728"/>
            <a:ext cx="1891311" cy="3977640"/>
          </a:xfrm>
          <a:prstGeom prst="rect">
            <a:avLst/>
          </a:prstGeom>
        </p:spPr>
      </p:pic>
      <p:sp>
        <p:nvSpPr>
          <p:cNvPr id="105" name="TextBox 105"/>
          <p:cNvSpPr txBox="1"/>
          <p:nvPr/>
        </p:nvSpPr>
        <p:spPr>
          <a:xfrm>
            <a:off x="2581683" y="42473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1400" b="0" i="0" spc="0">
                <a:solidFill>
                  <a:srgbClr val="7B1E2B"/>
                </a:solidFill>
                <a:latin typeface="Georgia"/>
                <a:ea typeface="Malgun Gothic"/>
              </a:rPr>
              <a:t xml:space="preserve">→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2924583" y="1645920"/>
            <a:ext cx="2074191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1" spc="0">
                <a:solidFill>
                  <a:srgbClr val="7B1E2B"/>
                </a:solidFill>
                <a:latin typeface="Georgia"/>
                <a:ea typeface="Malgun Gothic"/>
              </a:rPr>
              <a:t xml:space="preserve">02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2924583" y="1847088"/>
            <a:ext cx="216563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3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기기 안에서 분석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2924583" y="2103120"/>
            <a:ext cx="2165631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인식 → 색상·핏 평가 → 처방</a:t>
            </a:r>
          </a:p>
        </p:txBody>
      </p:sp>
      <p:pic>
        <p:nvPicPr>
          <p:cNvPr id="109" name="내 옷 바로 진단 화면 2" descr="내 옷 바로 진단 화면 2"/>
          <p:cNvPicPr>
            <a:picLocks noChangeAspect="1"/>
          </p:cNvPicPr>
          <p:nvPr/>
        </p:nvPicPr>
        <p:blipFill>
          <a:blip r:embed="rIdP2"/>
          <a:stretch>
            <a:fillRect/>
          </a:stretch>
        </p:blipFill>
        <p:spPr>
          <a:xfrm>
            <a:off x="2924583" y="2395728"/>
            <a:ext cx="1891311" cy="3977640"/>
          </a:xfrm>
          <a:prstGeom prst="rect">
            <a:avLst/>
          </a:prstGeom>
        </p:spPr>
      </p:pic>
      <p:sp>
        <p:nvSpPr>
          <p:cNvPr id="110" name="TextBox 110"/>
          <p:cNvSpPr txBox="1"/>
          <p:nvPr/>
        </p:nvSpPr>
        <p:spPr>
          <a:xfrm>
            <a:off x="4884474" y="42473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1400" b="0" i="0" spc="0">
                <a:solidFill>
                  <a:srgbClr val="7B1E2B"/>
                </a:solidFill>
                <a:latin typeface="Georgia"/>
                <a:ea typeface="Malgun Gothic"/>
              </a:rPr>
              <a:t xml:space="preserve">→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5227374" y="1645920"/>
            <a:ext cx="2074191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1" spc="0">
                <a:solidFill>
                  <a:srgbClr val="7B1E2B"/>
                </a:solidFill>
                <a:latin typeface="Georgia"/>
                <a:ea typeface="Malgun Gothic"/>
              </a:rPr>
              <a:t xml:space="preserve">03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5227374" y="1847088"/>
            <a:ext cx="216563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3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진단 · 처방 결과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5227374" y="2103120"/>
            <a:ext cx="2165631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저장할지 사용자가 선택</a:t>
            </a:r>
          </a:p>
        </p:txBody>
      </p:sp>
      <p:pic>
        <p:nvPicPr>
          <p:cNvPr id="114" name="내 옷 바로 진단 화면 3" descr="내 옷 바로 진단 화면 3"/>
          <p:cNvPicPr>
            <a:picLocks noChangeAspect="1"/>
          </p:cNvPicPr>
          <p:nvPr/>
        </p:nvPicPr>
        <p:blipFill>
          <a:blip r:embed="rIdP3"/>
          <a:stretch>
            <a:fillRect/>
          </a:stretch>
        </p:blipFill>
        <p:spPr>
          <a:xfrm>
            <a:off x="5227374" y="2395728"/>
            <a:ext cx="1891311" cy="3977640"/>
          </a:xfrm>
          <a:prstGeom prst="rect">
            <a:avLst/>
          </a:prstGeom>
        </p:spPr>
      </p:pic>
      <p:sp>
        <p:nvSpPr>
          <p:cNvPr id="115" name="TextBox 115"/>
          <p:cNvSpPr txBox="1"/>
          <p:nvPr/>
        </p:nvSpPr>
        <p:spPr>
          <a:xfrm>
            <a:off x="7621604" y="1645920"/>
            <a:ext cx="39547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100">
                <a:solidFill>
                  <a:srgbClr val="7B1E2B"/>
                </a:solidFill>
                <a:latin typeface="Georgia"/>
                <a:ea typeface="Malgun Gothic"/>
              </a:rPr>
              <a:t xml:space="preserve">INPUT · </a:t>
            </a:r>
            <a:r>
              <a:rPr lang="ko-KR" sz="9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입력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7621604" y="1892808"/>
            <a:ext cx="395470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착장 사진 1장 또는 옷 사진 최대 5장</a:t>
            </a:r>
          </a:p>
          <a:p>
            <a:pPr algn="l">
              <a:spcAft>
                <a:spcPts val="2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카메라 촬영 · 파일 선택, 회원가입 없이 사용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7621604" y="2532888"/>
            <a:ext cx="39547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100">
                <a:solidFill>
                  <a:srgbClr val="7B1E2B"/>
                </a:solidFill>
                <a:latin typeface="Georgia"/>
                <a:ea typeface="Malgun Gothic"/>
              </a:rPr>
              <a:t xml:space="preserve">ANALYSIS · </a:t>
            </a:r>
            <a:r>
              <a:rPr lang="ko-KR" sz="9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분석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7621604" y="2779776"/>
            <a:ext cx="395470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착장 인식 → 색상·핏 평가 → 처방 생성</a:t>
            </a:r>
          </a:p>
          <a:p>
            <a:pPr algn="l">
              <a:spcAft>
                <a:spcPts val="2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기기 성능에 따라 몇 초, 진행 단계를 화면에 표시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7621604" y="3419856"/>
            <a:ext cx="39547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100">
                <a:solidFill>
                  <a:srgbClr val="7B1E2B"/>
                </a:solidFill>
                <a:latin typeface="Georgia"/>
                <a:ea typeface="Malgun Gothic"/>
              </a:rPr>
              <a:t xml:space="preserve">RESULT · </a:t>
            </a:r>
            <a:r>
              <a:rPr lang="ko-KR" sz="9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결과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7621604" y="3666744"/>
            <a:ext cx="395470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AI 점수 + 강점 1개 · 개선점 1개</a:t>
            </a:r>
          </a:p>
          <a:p>
            <a:pPr algn="l">
              <a:spcAft>
                <a:spcPts val="2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색상 조화 · 실루엣·핏 · TPO 적합 항목별 점수</a:t>
            </a:r>
          </a:p>
          <a:p>
            <a:pPr algn="l">
              <a:spcAft>
                <a:spcPts val="2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처방 3개: 스타일링 팁 · 색 포인트 · 옷장 교체 제안</a:t>
            </a:r>
          </a:p>
        </p:txBody>
      </p:sp>
      <p:cxnSp>
        <p:nvCxnSpPr>
          <p:cNvPr id="121" name="Connector 121"/>
          <p:cNvCxnSpPr/>
          <p:nvPr/>
        </p:nvCxnSpPr>
        <p:spPr>
          <a:xfrm>
            <a:off x="7621604" y="4453128"/>
            <a:ext cx="3954700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22" name="Shape 122"/>
          <p:cNvSpPr/>
          <p:nvPr/>
        </p:nvSpPr>
        <p:spPr>
          <a:xfrm>
            <a:off x="7621604" y="4599432"/>
            <a:ext cx="3954700" cy="17739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3"/>
          <p:cNvSpPr txBox="1"/>
          <p:nvPr/>
        </p:nvSpPr>
        <p:spPr>
          <a:xfrm>
            <a:off x="7804484" y="4727448"/>
            <a:ext cx="35889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200" b="0" i="1" spc="0">
                <a:solidFill>
                  <a:srgbClr val="D5B990"/>
                </a:solidFill>
                <a:latin typeface="Georgia"/>
                <a:ea typeface="Malgun Gothic"/>
              </a:rPr>
              <a:t xml:space="preserve">Then</a:t>
            </a:r>
            <a:r>
              <a:rPr lang="ko-KR" sz="1000" b="1" i="0" spc="0">
                <a:solidFill>
                  <a:srgbClr val="FFFFFF"/>
                </a:solidFill>
                <a:latin typeface="Malgun Gothic"/>
                <a:ea typeface="Malgun Gothic"/>
              </a:rPr>
              <a:t xml:space="preserve">   결과 처리 분기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7804484" y="5038344"/>
            <a:ext cx="35889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lang="ko-KR" sz="1050" b="1" i="0" spc="0">
                <a:solidFill>
                  <a:srgbClr val="FFFFFF"/>
                </a:solidFill>
                <a:latin typeface="Malgun Gothic"/>
                <a:ea typeface="Malgun Gothic"/>
              </a:rPr>
              <a:t xml:space="preserve">→  내 옷장에 등록하고 처방 이어가기</a:t>
            </a:r>
          </a:p>
          <a:p>
            <a:pPr algn="l">
              <a:spcAft>
                <a:spcPts val="600"/>
              </a:spcAft>
            </a:pPr>
            <a:r>
              <a:rPr lang="ko-KR" sz="900" b="0" i="0" spc="0">
                <a:solidFill>
                  <a:srgbClr val="BDBDBD"/>
                </a:solidFill>
                <a:latin typeface="Malgun Gothic"/>
                <a:ea typeface="Malgun Gothic"/>
              </a:rPr>
              <a:t xml:space="preserve">    로그인 후 동의한 사진만 업로드, 보유 옷 교체 처방으로 연결</a:t>
            </a:r>
          </a:p>
          <a:p>
            <a:pPr algn="l">
              <a:spcAft>
                <a:spcPts val="100"/>
              </a:spcAft>
            </a:pPr>
            <a:r>
              <a:rPr lang="ko-KR" sz="1050" b="1" i="0" spc="0">
                <a:solidFill>
                  <a:srgbClr val="FFFFFF"/>
                </a:solidFill>
                <a:latin typeface="Malgun Gothic"/>
                <a:ea typeface="Malgun Gothic"/>
              </a:rPr>
              <a:t xml:space="preserve">→  저장 안 함 · 지우고 나가기</a:t>
            </a:r>
          </a:p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BDBDBD"/>
                </a:solidFill>
                <a:latin typeface="Malgun Gothic"/>
                <a:ea typeface="Malgun Gothic"/>
              </a:rPr>
              <a:t xml:space="preserve">    사진과 결과를 기기에서 즉시 삭제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21792" y="3383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0">
                <a:solidFill>
                  <a:srgbClr val="7B1E2B"/>
                </a:solidFill>
                <a:latin typeface="Georgia"/>
                <a:ea typeface="Malgun Gothic"/>
              </a:rPr>
              <a:t>N°05  </a:t>
            </a:r>
            <a:r>
              <a:rPr lang="ko-KR" sz="900" b="0" i="1" spc="0">
                <a:solidFill>
                  <a:srgbClr val="7B1E2B"/>
                </a:solidFill>
                <a:latin typeface="Georgia"/>
                <a:ea typeface="Malgun Gothic"/>
              </a:rPr>
              <a:t>Architecture</a:t>
            </a:r>
            <a:r>
              <a:rPr lang="ko-KR" sz="900" b="0" i="0" spc="0">
                <a:solidFill>
                  <a:srgbClr val="8E8E8E"/>
                </a:solidFill>
                <a:latin typeface="Malgun Gothic"/>
                <a:ea typeface="Malgun Gothic"/>
              </a:rPr>
              <a:t>   |   개발 설계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80960" y="338328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3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로컬 진단 · </a:t>
            </a:r>
            <a:r>
              <a:rPr lang="ko-KR" sz="3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온디바이스 처리</a:t>
            </a:r>
            <a:r>
              <a:rPr lang="ko-KR" sz="3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 설계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124358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사진은 </a:t>
            </a:r>
            <a:r>
              <a:rPr lang="ko-KR" sz="11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기기 밖으로 나가지 않고</a:t>
            </a: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, 사용자가 등록을 선택할 때만 옷장 데이터가 된다</a:t>
            </a:r>
          </a:p>
        </p:txBody>
      </p:sp>
      <p:cxnSp>
        <p:nvCxnSpPr>
          <p:cNvPr id="6" name="Connector 6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7" name="TextBox 7"/>
          <p:cNvSpPr txBox="1"/>
          <p:nvPr/>
        </p:nvSpPr>
        <p:spPr>
          <a:xfrm>
            <a:off x="640080" y="6528816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5C5C5C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15600" y="651052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5C5C5C"/>
                </a:solidFill>
                <a:latin typeface="Georgia"/>
                <a:ea typeface="Malgun Gothic"/>
              </a:rPr>
              <a:t>— 32</a:t>
            </a:r>
          </a:p>
        </p:txBody>
      </p:sp>
      <p:sp>
        <p:nvSpPr>
          <p:cNvPr id="125" name="Shape 125"/>
          <p:cNvSpPr/>
          <p:nvPr/>
        </p:nvSpPr>
        <p:spPr>
          <a:xfrm>
            <a:off x="731520" y="1645920"/>
            <a:ext cx="2176272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6"/>
          <p:cNvSpPr txBox="1"/>
          <p:nvPr/>
        </p:nvSpPr>
        <p:spPr>
          <a:xfrm>
            <a:off x="914400" y="173736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1" spc="0">
                <a:solidFill>
                  <a:srgbClr val="7B1E2B"/>
                </a:solidFill>
                <a:latin typeface="Georgia"/>
                <a:ea typeface="Malgun Gothic"/>
              </a:rPr>
              <a:t xml:space="preserve">01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914400" y="1929384"/>
            <a:ext cx="190195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3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사진 선택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914400" y="2185416"/>
            <a:ext cx="19019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메모리에만 로드 · EXIF 무시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3110484" y="18928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1400" b="0" i="0" spc="0">
                <a:solidFill>
                  <a:srgbClr val="7B1E2B"/>
                </a:solidFill>
                <a:latin typeface="Georgia"/>
                <a:ea typeface="Malgun Gothic"/>
              </a:rPr>
              <a:t xml:space="preserve">→</a:t>
            </a:r>
          </a:p>
        </p:txBody>
      </p:sp>
      <p:sp>
        <p:nvSpPr>
          <p:cNvPr id="130" name="Shape 130"/>
          <p:cNvSpPr/>
          <p:nvPr/>
        </p:nvSpPr>
        <p:spPr>
          <a:xfrm>
            <a:off x="3587496" y="1645920"/>
            <a:ext cx="2176272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TextBox 131"/>
          <p:cNvSpPr txBox="1"/>
          <p:nvPr/>
        </p:nvSpPr>
        <p:spPr>
          <a:xfrm>
            <a:off x="3770376" y="173736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1" spc="0">
                <a:solidFill>
                  <a:srgbClr val="7B1E2B"/>
                </a:solidFill>
                <a:latin typeface="Georgia"/>
                <a:ea typeface="Malgun Gothic"/>
              </a:rPr>
              <a:t xml:space="preserve">02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3770376" y="1929384"/>
            <a:ext cx="190195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3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온디바이스 분석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3770376" y="2185416"/>
            <a:ext cx="19019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Web Worker · 경량 모델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5966460" y="18928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1400" b="0" i="0" spc="0">
                <a:solidFill>
                  <a:srgbClr val="7B1E2B"/>
                </a:solidFill>
                <a:latin typeface="Georgia"/>
                <a:ea typeface="Malgun Gothic"/>
              </a:rPr>
              <a:t xml:space="preserve">→</a:t>
            </a:r>
          </a:p>
        </p:txBody>
      </p:sp>
      <p:sp>
        <p:nvSpPr>
          <p:cNvPr id="135" name="Shape 135"/>
          <p:cNvSpPr/>
          <p:nvPr/>
        </p:nvSpPr>
        <p:spPr>
          <a:xfrm>
            <a:off x="6443472" y="1645920"/>
            <a:ext cx="2176272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TextBox 136"/>
          <p:cNvSpPr txBox="1"/>
          <p:nvPr/>
        </p:nvSpPr>
        <p:spPr>
          <a:xfrm>
            <a:off x="6626352" y="173736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1" spc="0">
                <a:solidFill>
                  <a:srgbClr val="7B1E2B"/>
                </a:solidFill>
                <a:latin typeface="Georgia"/>
                <a:ea typeface="Malgun Gothic"/>
              </a:rPr>
              <a:t xml:space="preserve">03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6626352" y="1929384"/>
            <a:ext cx="190195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3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결과 표시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6626352" y="2185416"/>
            <a:ext cx="19019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이 기기에 임시 보관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8822436" y="18928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1400" b="0" i="0" spc="0">
                <a:solidFill>
                  <a:srgbClr val="7B1E2B"/>
                </a:solidFill>
                <a:latin typeface="Georgia"/>
                <a:ea typeface="Malgun Gothic"/>
              </a:rPr>
              <a:t xml:space="preserve">→</a:t>
            </a:r>
          </a:p>
        </p:txBody>
      </p:sp>
      <p:sp>
        <p:nvSpPr>
          <p:cNvPr id="140" name="Shape 140"/>
          <p:cNvSpPr/>
          <p:nvPr/>
        </p:nvSpPr>
        <p:spPr>
          <a:xfrm>
            <a:off x="9299448" y="1645920"/>
            <a:ext cx="2176272" cy="76809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TextBox 141"/>
          <p:cNvSpPr txBox="1"/>
          <p:nvPr/>
        </p:nvSpPr>
        <p:spPr>
          <a:xfrm>
            <a:off x="9482328" y="173736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1" spc="0">
                <a:solidFill>
                  <a:srgbClr val="D5B990"/>
                </a:solidFill>
                <a:latin typeface="Georgia"/>
                <a:ea typeface="Malgun Gothic"/>
              </a:rPr>
              <a:t xml:space="preserve">04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9482328" y="1929384"/>
            <a:ext cx="190195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300" b="1" i="0" spc="0">
                <a:solidFill>
                  <a:srgbClr val="FFFFFF"/>
                </a:solidFill>
                <a:latin typeface="Malgun Gothic"/>
                <a:ea typeface="Malgun Gothic"/>
              </a:rPr>
              <a:t xml:space="preserve">사용자 선택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9482328" y="2185416"/>
            <a:ext cx="19019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BDBDBD"/>
                </a:solidFill>
                <a:latin typeface="Malgun Gothic"/>
                <a:ea typeface="Malgun Gothic"/>
              </a:rPr>
              <a:t xml:space="preserve">등록 시에만 업로드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731520" y="2724912"/>
            <a:ext cx="63550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100">
                <a:solidFill>
                  <a:srgbClr val="7B1E2B"/>
                </a:solidFill>
                <a:latin typeface="Georgia"/>
                <a:ea typeface="Malgun Gothic"/>
              </a:rPr>
              <a:t xml:space="preserve">COMPARE · </a:t>
            </a:r>
            <a:r>
              <a:rPr lang="ko-KR" sz="9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데일리 진단과 비교</a:t>
            </a:r>
          </a:p>
        </p:txBody>
      </p:sp>
      <p:sp>
        <p:nvSpPr>
          <p:cNvPr id="145" name="Shape 145"/>
          <p:cNvSpPr/>
          <p:nvPr/>
        </p:nvSpPr>
        <p:spPr>
          <a:xfrm>
            <a:off x="731520" y="3035808"/>
            <a:ext cx="6355080" cy="438912"/>
          </a:xfrm>
          <a:prstGeom prst="rect">
            <a:avLst/>
          </a:prstGeom>
          <a:solidFill>
            <a:srgbClr val="EEE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6"/>
          <p:cNvSpPr txBox="1"/>
          <p:nvPr/>
        </p:nvSpPr>
        <p:spPr>
          <a:xfrm>
            <a:off x="859536" y="3054096"/>
            <a:ext cx="125272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항목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2276856" y="3054096"/>
            <a:ext cx="221284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데일리 진단 (서버)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4654296" y="3054096"/>
            <a:ext cx="239572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내 옷 바로 진단 (로컬)</a:t>
            </a:r>
          </a:p>
        </p:txBody>
      </p:sp>
      <p:cxnSp>
        <p:nvCxnSpPr>
          <p:cNvPr id="149" name="Connector 149"/>
          <p:cNvCxnSpPr/>
          <p:nvPr/>
        </p:nvCxnSpPr>
        <p:spPr>
          <a:xfrm>
            <a:off x="731520" y="3474720"/>
            <a:ext cx="6355080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0" name="TextBox 150"/>
          <p:cNvSpPr txBox="1"/>
          <p:nvPr/>
        </p:nvSpPr>
        <p:spPr>
          <a:xfrm>
            <a:off x="859536" y="3493008"/>
            <a:ext cx="125272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회원가입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2276856" y="3493008"/>
            <a:ext cx="221284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필요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4654296" y="3493008"/>
            <a:ext cx="239572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불필요</a:t>
            </a:r>
          </a:p>
        </p:txBody>
      </p:sp>
      <p:cxnSp>
        <p:nvCxnSpPr>
          <p:cNvPr id="153" name="Connector 153"/>
          <p:cNvCxnSpPr/>
          <p:nvPr/>
        </p:nvCxnSpPr>
        <p:spPr>
          <a:xfrm>
            <a:off x="731520" y="3913632"/>
            <a:ext cx="6355080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54" name="TextBox 154"/>
          <p:cNvSpPr txBox="1"/>
          <p:nvPr/>
        </p:nvSpPr>
        <p:spPr>
          <a:xfrm>
            <a:off x="859536" y="3931920"/>
            <a:ext cx="125272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사진 업로드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2276856" y="3931920"/>
            <a:ext cx="221284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서버 비공개 저장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4654296" y="3931920"/>
            <a:ext cx="239572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하지 않음</a:t>
            </a:r>
          </a:p>
        </p:txBody>
      </p:sp>
      <p:cxnSp>
        <p:nvCxnSpPr>
          <p:cNvPr id="157" name="Connector 157"/>
          <p:cNvCxnSpPr/>
          <p:nvPr/>
        </p:nvCxnSpPr>
        <p:spPr>
          <a:xfrm>
            <a:off x="731520" y="4352544"/>
            <a:ext cx="6355080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58" name="TextBox 158"/>
          <p:cNvSpPr txBox="1"/>
          <p:nvPr/>
        </p:nvSpPr>
        <p:spPr>
          <a:xfrm>
            <a:off x="859536" y="4370832"/>
            <a:ext cx="125272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위치정보(EXIF)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2276856" y="4370832"/>
            <a:ext cx="221284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업로드 시 제거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4654296" y="4370832"/>
            <a:ext cx="239572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읽지 않음</a:t>
            </a:r>
          </a:p>
        </p:txBody>
      </p:sp>
      <p:cxnSp>
        <p:nvCxnSpPr>
          <p:cNvPr id="161" name="Connector 161"/>
          <p:cNvCxnSpPr/>
          <p:nvPr/>
        </p:nvCxnSpPr>
        <p:spPr>
          <a:xfrm>
            <a:off x="731520" y="4791456"/>
            <a:ext cx="6355080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62" name="TextBox 162"/>
          <p:cNvSpPr txBox="1"/>
          <p:nvPr/>
        </p:nvSpPr>
        <p:spPr>
          <a:xfrm>
            <a:off x="859536" y="4809744"/>
            <a:ext cx="125272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결과 보관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2276856" y="4809744"/>
            <a:ext cx="221284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서버 DB · 추이 분석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4654296" y="4809744"/>
            <a:ext cx="239572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이 기기 · 언제든 삭제</a:t>
            </a:r>
          </a:p>
        </p:txBody>
      </p:sp>
      <p:cxnSp>
        <p:nvCxnSpPr>
          <p:cNvPr id="165" name="Connector 165"/>
          <p:cNvCxnSpPr/>
          <p:nvPr/>
        </p:nvCxnSpPr>
        <p:spPr>
          <a:xfrm>
            <a:off x="731520" y="5230368"/>
            <a:ext cx="6355080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66" name="TextBox 166"/>
          <p:cNvSpPr txBox="1"/>
          <p:nvPr/>
        </p:nvSpPr>
        <p:spPr>
          <a:xfrm>
            <a:off x="859536" y="5248656"/>
            <a:ext cx="125272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처방 범위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2276856" y="5248656"/>
            <a:ext cx="221284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보유 옷 교체까지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4654296" y="5248656"/>
            <a:ext cx="239572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일반 팁 · 등록 후 교체</a:t>
            </a:r>
          </a:p>
        </p:txBody>
      </p:sp>
      <p:cxnSp>
        <p:nvCxnSpPr>
          <p:cNvPr id="169" name="Connector 169"/>
          <p:cNvCxnSpPr/>
          <p:nvPr/>
        </p:nvCxnSpPr>
        <p:spPr>
          <a:xfrm>
            <a:off x="731520" y="5669280"/>
            <a:ext cx="6355080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70" name="TextBox 170"/>
          <p:cNvSpPr txBox="1"/>
          <p:nvPr/>
        </p:nvSpPr>
        <p:spPr>
          <a:xfrm>
            <a:off x="859536" y="5687568"/>
            <a:ext cx="125272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운영 비용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2276856" y="5687568"/>
            <a:ext cx="221284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AI 요청당 서버 비용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4654296" y="5687568"/>
            <a:ext cx="239572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서버 추론 비용 없음</a:t>
            </a:r>
          </a:p>
        </p:txBody>
      </p:sp>
      <p:cxnSp>
        <p:nvCxnSpPr>
          <p:cNvPr id="173" name="Connector 173"/>
          <p:cNvCxnSpPr/>
          <p:nvPr/>
        </p:nvCxnSpPr>
        <p:spPr>
          <a:xfrm>
            <a:off x="731520" y="6108192"/>
            <a:ext cx="6355080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74" name="Shape 174"/>
          <p:cNvSpPr/>
          <p:nvPr/>
        </p:nvSpPr>
        <p:spPr>
          <a:xfrm>
            <a:off x="7452360" y="2724912"/>
            <a:ext cx="4023360" cy="3648456"/>
          </a:xfrm>
          <a:prstGeom prst="rect">
            <a:avLst/>
          </a:prstGeom>
          <a:solidFill>
            <a:srgbClr val="EEE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TextBox 175"/>
          <p:cNvSpPr txBox="1"/>
          <p:nvPr/>
        </p:nvSpPr>
        <p:spPr>
          <a:xfrm>
            <a:off x="7680960" y="2889504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300" b="0" i="1" spc="0">
                <a:solidFill>
                  <a:srgbClr val="111111"/>
                </a:solidFill>
                <a:latin typeface="Georgia"/>
                <a:ea typeface="Malgun Gothic"/>
              </a:rPr>
              <a:t xml:space="preserve">How</a:t>
            </a: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   구현 고려사항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7680960" y="3255264"/>
            <a:ext cx="356616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경량 인식·색상 모델은 최초 1회 받아 캐시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WebGPU 우선, 미지원 기기는 WASM으로 폴백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Web Worker에서 추론해 분석 중에도 화면이 멈추지 않게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처방 문구는 규칙 기반 템플릿 (서버 AI 미호출)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저사양 기기는 예상 시간 안내 · 시간 초과 시 재시도</a:t>
            </a:r>
          </a:p>
        </p:txBody>
      </p:sp>
      <p:cxnSp>
        <p:nvCxnSpPr>
          <p:cNvPr id="177" name="Connector 177"/>
          <p:cNvCxnSpPr/>
          <p:nvPr/>
        </p:nvCxnSpPr>
        <p:spPr>
          <a:xfrm>
            <a:off x="7680960" y="5120640"/>
            <a:ext cx="3566160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78" name="TextBox 178"/>
          <p:cNvSpPr txBox="1"/>
          <p:nvPr/>
        </p:nvSpPr>
        <p:spPr>
          <a:xfrm>
            <a:off x="7680960" y="5248656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100">
                <a:solidFill>
                  <a:srgbClr val="7B1E2B"/>
                </a:solidFill>
                <a:latin typeface="Georgia"/>
                <a:ea typeface="Malgun Gothic"/>
              </a:rPr>
              <a:t xml:space="preserve">METRICS · </a:t>
            </a:r>
            <a:r>
              <a:rPr lang="ko-KR" sz="9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검증 지표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7680960" y="5522976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로컬 진단 완료율 · 평균 분석 시간</a:t>
            </a:r>
          </a:p>
          <a:p>
            <a:pPr algn="l">
              <a:spcAft>
                <a:spcPts val="50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진단 → 옷장 등록 전환율 (비회원 → 가입)</a:t>
            </a:r>
          </a:p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“지우고 나가기” 선택 비율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85800" y="5029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400">
                <a:solidFill>
                  <a:srgbClr val="D5B990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63840" y="5029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0" spc="300">
                <a:solidFill>
                  <a:srgbClr val="A8A8A8"/>
                </a:solidFill>
                <a:latin typeface="Georgia"/>
                <a:ea typeface="Malgun Gothic"/>
              </a:rPr>
              <a:t>APPENDIX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685800" y="868680"/>
            <a:ext cx="10817352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5" name="TextBox 5"/>
          <p:cNvSpPr txBox="1"/>
          <p:nvPr/>
        </p:nvSpPr>
        <p:spPr>
          <a:xfrm>
            <a:off x="502920" y="1417320"/>
            <a:ext cx="4754880" cy="3108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23000" b="0" i="1" spc="-300">
                <a:solidFill>
                  <a:srgbClr val="D5B990"/>
                </a:solidFill>
                <a:latin typeface="Georgia"/>
                <a:ea typeface="Malgun Gothic"/>
              </a:rPr>
              <a:t>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9280" y="1463040"/>
            <a:ext cx="58338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400">
                <a:solidFill>
                  <a:srgbClr val="D5B990"/>
                </a:solidFill>
                <a:latin typeface="Georgia"/>
                <a:ea typeface="Malgun Gothic"/>
              </a:rPr>
              <a:t>APPENDIX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69280" y="1828800"/>
            <a:ext cx="5833872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4400" b="0" i="1" spc="0">
                <a:solidFill>
                  <a:srgbClr val="FFFFFF"/>
                </a:solidFill>
                <a:latin typeface="Georgia"/>
                <a:ea typeface="Malgun Gothic"/>
              </a:rPr>
              <a:t>Prototype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69280" y="2697480"/>
            <a:ext cx="583387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500" b="0" i="0" spc="0">
                <a:solidFill>
                  <a:srgbClr val="A8A8A8"/>
                </a:solidFill>
                <a:latin typeface="Malgun Gothic"/>
                <a:ea typeface="Malgun Gothic"/>
              </a:rPr>
              <a:t>개발 목업 화면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5669280" y="3246120"/>
            <a:ext cx="5833872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10" name="TextBox 10"/>
          <p:cNvSpPr txBox="1"/>
          <p:nvPr/>
        </p:nvSpPr>
        <p:spPr>
          <a:xfrm>
            <a:off x="5669280" y="3474720"/>
            <a:ext cx="583387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2200" b="1" i="0" spc="0">
                <a:solidFill>
                  <a:srgbClr val="FFFFFF"/>
                </a:solidFill>
                <a:latin typeface="Malgun Gothic"/>
                <a:ea typeface="Malgun Gothic"/>
              </a:rPr>
              <a:t>“오늘 뭐 입지? 이제 고민 끝.”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69280" y="4343400"/>
            <a:ext cx="58338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D5B990"/>
                </a:solidFill>
                <a:latin typeface="Georgia"/>
                <a:ea typeface="Malgun Gothic"/>
              </a:rPr>
              <a:t>—  </a:t>
            </a: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첫 실행 · 홈 · 내 옷장 · 옷 등록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9280" y="4636008"/>
            <a:ext cx="58338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D5B990"/>
                </a:solidFill>
                <a:latin typeface="Georgia"/>
                <a:ea typeface="Malgun Gothic"/>
              </a:rPr>
              <a:t>—  </a:t>
            </a: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AI 코디 · 예정일 · 캘린더 · 기록 · 진단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9280" y="4928616"/>
            <a:ext cx="58338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D5B990"/>
                </a:solidFill>
                <a:latin typeface="Georgia"/>
                <a:ea typeface="Malgun Gothic"/>
              </a:rPr>
              <a:t>—  </a:t>
            </a:r>
            <a:r>
              <a:rPr lang="ko-KR" sz="1050" b="0" i="0" spc="0">
                <a:solidFill>
                  <a:srgbClr val="BDBDBD"/>
                </a:solidFill>
                <a:latin typeface="Malgun Gothic"/>
                <a:ea typeface="Malgun Gothic"/>
              </a:rPr>
              <a:t>옷장 분석 · 지속가능성 · 마이 · 설정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58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8E8E8E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66376" y="6446520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8E8E8E"/>
                </a:solidFill>
                <a:latin typeface="Georgia"/>
                <a:ea typeface="Malgun Gothic"/>
              </a:rPr>
              <a:t>— 38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21792" y="3383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0">
                <a:solidFill>
                  <a:srgbClr val="7B1E2B"/>
                </a:solidFill>
                <a:latin typeface="Georgia"/>
                <a:ea typeface="Malgun Gothic"/>
              </a:rPr>
              <a:t>APPENDIX  </a:t>
            </a:r>
            <a:r>
              <a:rPr lang="ko-KR" sz="900" b="0" i="1" spc="0">
                <a:solidFill>
                  <a:srgbClr val="7B1E2B"/>
                </a:solidFill>
                <a:latin typeface="Georgia"/>
                <a:ea typeface="Malgun Gothic"/>
              </a:rPr>
              <a:t>Prototype</a:t>
            </a:r>
            <a:r>
              <a:rPr lang="ko-KR" sz="900" b="0" i="0" spc="0">
                <a:solidFill>
                  <a:srgbClr val="8E8E8E"/>
                </a:solidFill>
                <a:latin typeface="Malgun Gothic"/>
                <a:ea typeface="Malgun Gothic"/>
              </a:rPr>
              <a:t>   |   개발 목업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80960" y="338328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3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목업 ① </a:t>
            </a:r>
            <a:r>
              <a:rPr lang="ko-KR" sz="3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첫 실행 · 온보딩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124358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가입부터 취향 설정, 첫 옷 등록까지 — 입력은 최소로, </a:t>
            </a:r>
            <a:r>
              <a:rPr lang="ko-KR" sz="11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건너뛰어도 시작</a:t>
            </a: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할 수 있게</a:t>
            </a:r>
          </a:p>
        </p:txBody>
      </p:sp>
      <p:cxnSp>
        <p:nvCxnSpPr>
          <p:cNvPr id="6" name="Connector 6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7" name="TextBox 7"/>
          <p:cNvSpPr txBox="1"/>
          <p:nvPr/>
        </p:nvSpPr>
        <p:spPr>
          <a:xfrm>
            <a:off x="640080" y="6528816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5C5C5C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15600" y="651052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5C5C5C"/>
                </a:solidFill>
                <a:latin typeface="Georgia"/>
                <a:ea typeface="Malgun Gothic"/>
              </a:rPr>
              <a:t>— 39</a:t>
            </a:r>
          </a:p>
        </p:txBody>
      </p:sp>
      <p:pic>
        <p:nvPicPr>
          <p:cNvPr id="101" name="스플래시 · 로그인" descr="스플래시 · 로그인"/>
          <p:cNvPicPr>
            <a:picLocks noChangeAspect="1"/>
          </p:cNvPicPr>
          <p:nvPr/>
        </p:nvPicPr>
        <p:blipFill>
          <a:blip r:embed="rIdM1"/>
          <a:stretch>
            <a:fillRect/>
          </a:stretch>
        </p:blipFill>
        <p:spPr>
          <a:xfrm>
            <a:off x="942513" y="1664208"/>
            <a:ext cx="1847832" cy="3886200"/>
          </a:xfrm>
          <a:prstGeom prst="rect">
            <a:avLst/>
          </a:prstGeom>
        </p:spPr>
      </p:pic>
      <p:sp>
        <p:nvSpPr>
          <p:cNvPr id="102" name="TextBox 102"/>
          <p:cNvSpPr txBox="1"/>
          <p:nvPr/>
        </p:nvSpPr>
        <p:spPr>
          <a:xfrm>
            <a:off x="896793" y="5660136"/>
            <a:ext cx="212215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스플래시 · 로그인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896793" y="5897880"/>
            <a:ext cx="21221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이메일 · 카카오로 시작</a:t>
            </a:r>
          </a:p>
        </p:txBody>
      </p:sp>
      <p:pic>
        <p:nvPicPr>
          <p:cNvPr id="104" name="스타일 설정" descr="스타일 설정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3174393" y="1664208"/>
            <a:ext cx="1844237" cy="3886200"/>
          </a:xfrm>
          <a:prstGeom prst="rect">
            <a:avLst/>
          </a:prstGeom>
        </p:spPr>
      </p:pic>
      <p:sp>
        <p:nvSpPr>
          <p:cNvPr id="105" name="TextBox 105"/>
          <p:cNvSpPr txBox="1"/>
          <p:nvPr/>
        </p:nvSpPr>
        <p:spPr>
          <a:xfrm>
            <a:off x="3128673" y="5660136"/>
            <a:ext cx="2118557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스타일 설정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3128673" y="5897880"/>
            <a:ext cx="2118557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복장 · 분위기 · 색 · 근무 패턴</a:t>
            </a:r>
          </a:p>
        </p:txBody>
      </p:sp>
      <p:pic>
        <p:nvPicPr>
          <p:cNvPr id="107" name="빈 옷장 · 첫 등록 유도" descr="빈 옷장 · 첫 등록 유도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5402679" y="1664208"/>
            <a:ext cx="1847832" cy="3886200"/>
          </a:xfrm>
          <a:prstGeom prst="rect">
            <a:avLst/>
          </a:prstGeom>
        </p:spPr>
      </p:pic>
      <p:sp>
        <p:nvSpPr>
          <p:cNvPr id="108" name="TextBox 108"/>
          <p:cNvSpPr txBox="1"/>
          <p:nvPr/>
        </p:nvSpPr>
        <p:spPr>
          <a:xfrm>
            <a:off x="5356959" y="5660136"/>
            <a:ext cx="212215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빈 옷장 · 첫 등록 유도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5356959" y="5897880"/>
            <a:ext cx="21221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브랜드 메시지 → p.05</a:t>
            </a:r>
          </a:p>
        </p:txBody>
      </p:sp>
      <p:sp>
        <p:nvSpPr>
          <p:cNvPr id="110" name="Shape 110"/>
          <p:cNvSpPr/>
          <p:nvPr/>
        </p:nvSpPr>
        <p:spPr>
          <a:xfrm>
            <a:off x="7818120" y="1664208"/>
            <a:ext cx="3758184" cy="4709160"/>
          </a:xfrm>
          <a:prstGeom prst="rect">
            <a:avLst/>
          </a:prstGeom>
          <a:solidFill>
            <a:srgbClr val="EEE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1"/>
          <p:cNvSpPr txBox="1"/>
          <p:nvPr/>
        </p:nvSpPr>
        <p:spPr>
          <a:xfrm>
            <a:off x="8046720" y="1828800"/>
            <a:ext cx="330098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300" b="0" i="1" spc="0">
                <a:solidFill>
                  <a:srgbClr val="111111"/>
                </a:solidFill>
                <a:latin typeface="Georgia"/>
                <a:ea typeface="Malgun Gothic"/>
              </a:rPr>
              <a:t xml:space="preserve">Onboarding</a:t>
            </a: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   목업 반영 포인트</a:t>
            </a:r>
          </a:p>
        </p:txBody>
      </p:sp>
      <p:cxnSp>
        <p:nvCxnSpPr>
          <p:cNvPr id="112" name="Connector 112"/>
          <p:cNvCxnSpPr/>
          <p:nvPr/>
        </p:nvCxnSpPr>
        <p:spPr>
          <a:xfrm>
            <a:off x="8046720" y="2212848"/>
            <a:ext cx="3300984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13" name="TextBox 113"/>
          <p:cNvSpPr txBox="1"/>
          <p:nvPr/>
        </p:nvSpPr>
        <p:spPr>
          <a:xfrm>
            <a:off x="8046720" y="2377440"/>
            <a:ext cx="3300984" cy="3840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이메일 · 카카오 계정으로 시작, 기존 회원은 로그인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취향 설정 2단계: 출근 복장 · 분위기 · 자주 입는 색 · 근무 패턴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성별 · 연령대 · 직업은 선택 입력, 마이에서 언제든 변경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첫 코디까지 3벌 진행바로 첫 등록 동기 부여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등록 없이 바로 진단 · 샘플 옷장 둘러보기로 이탈 방지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21792" y="3383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0">
                <a:solidFill>
                  <a:srgbClr val="7B1E2B"/>
                </a:solidFill>
                <a:latin typeface="Georgia"/>
                <a:ea typeface="Malgun Gothic"/>
              </a:rPr>
              <a:t>APPENDIX  </a:t>
            </a:r>
            <a:r>
              <a:rPr lang="ko-KR" sz="900" b="0" i="1" spc="0">
                <a:solidFill>
                  <a:srgbClr val="7B1E2B"/>
                </a:solidFill>
                <a:latin typeface="Georgia"/>
                <a:ea typeface="Malgun Gothic"/>
              </a:rPr>
              <a:t>Prototype</a:t>
            </a:r>
            <a:r>
              <a:rPr lang="ko-KR" sz="900" b="0" i="0" spc="0">
                <a:solidFill>
                  <a:srgbClr val="8E8E8E"/>
                </a:solidFill>
                <a:latin typeface="Malgun Gothic"/>
                <a:ea typeface="Malgun Gothic"/>
              </a:rPr>
              <a:t>   |   개발 목업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80960" y="338328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3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목업 ② </a:t>
            </a:r>
            <a:r>
              <a:rPr lang="ko-KR" sz="3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홈 · 내 옷장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124358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오늘 · 내일 · 모레를 탭으로 오가며 </a:t>
            </a:r>
            <a:r>
              <a:rPr lang="ko-KR" sz="11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추천을 먼저 보고</a:t>
            </a: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, 아이템 단위로 바꾸고 관리한다</a:t>
            </a:r>
          </a:p>
        </p:txBody>
      </p:sp>
      <p:cxnSp>
        <p:nvCxnSpPr>
          <p:cNvPr id="6" name="Connector 6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7" name="TextBox 7"/>
          <p:cNvSpPr txBox="1"/>
          <p:nvPr/>
        </p:nvSpPr>
        <p:spPr>
          <a:xfrm>
            <a:off x="640080" y="6528816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5C5C5C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15600" y="651052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5C5C5C"/>
                </a:solidFill>
                <a:latin typeface="Georgia"/>
                <a:ea typeface="Malgun Gothic"/>
              </a:rPr>
              <a:t>— 40</a:t>
            </a:r>
          </a:p>
        </p:txBody>
      </p:sp>
      <p:pic>
        <p:nvPicPr>
          <p:cNvPr id="101" name="홈 · 오늘의 코디" descr="홈 · 오늘의 코디"/>
          <p:cNvPicPr>
            <a:picLocks noChangeAspect="1"/>
          </p:cNvPicPr>
          <p:nvPr/>
        </p:nvPicPr>
        <p:blipFill>
          <a:blip r:embed="rIdM1"/>
          <a:stretch>
            <a:fillRect/>
          </a:stretch>
        </p:blipFill>
        <p:spPr>
          <a:xfrm>
            <a:off x="914755" y="1664208"/>
            <a:ext cx="1848775" cy="3886200"/>
          </a:xfrm>
          <a:prstGeom prst="rect">
            <a:avLst/>
          </a:prstGeom>
        </p:spPr>
      </p:pic>
      <p:sp>
        <p:nvSpPr>
          <p:cNvPr id="102" name="TextBox 102"/>
          <p:cNvSpPr txBox="1"/>
          <p:nvPr/>
        </p:nvSpPr>
        <p:spPr>
          <a:xfrm>
            <a:off x="869035" y="5660136"/>
            <a:ext cx="212309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홈 · 오늘의 코디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869035" y="5897880"/>
            <a:ext cx="212309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3일 탭 · 근무일 → p.13</a:t>
            </a:r>
          </a:p>
        </p:txBody>
      </p:sp>
      <p:pic>
        <p:nvPicPr>
          <p:cNvPr id="104" name="홈 · 내일 코디 미리보기" descr="홈 · 내일 코디 미리보기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3037850" y="1664208"/>
            <a:ext cx="1848775" cy="3886200"/>
          </a:xfrm>
          <a:prstGeom prst="rect">
            <a:avLst/>
          </a:prstGeom>
        </p:spPr>
      </p:pic>
      <p:sp>
        <p:nvSpPr>
          <p:cNvPr id="105" name="TextBox 105"/>
          <p:cNvSpPr txBox="1"/>
          <p:nvPr/>
        </p:nvSpPr>
        <p:spPr>
          <a:xfrm>
            <a:off x="2992130" y="5660136"/>
            <a:ext cx="212309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홈 · 내일 코디 미리보기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2992130" y="5897880"/>
            <a:ext cx="212309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예보 기반 · D-1 알림 → p.21</a:t>
            </a:r>
          </a:p>
        </p:txBody>
      </p:sp>
      <p:pic>
        <p:nvPicPr>
          <p:cNvPr id="107" name="아이템 교체 시트" descr="아이템 교체 시트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5160945" y="1664208"/>
            <a:ext cx="1848775" cy="3886200"/>
          </a:xfrm>
          <a:prstGeom prst="rect">
            <a:avLst/>
          </a:prstGeom>
        </p:spPr>
      </p:pic>
      <p:sp>
        <p:nvSpPr>
          <p:cNvPr id="108" name="TextBox 108"/>
          <p:cNvSpPr txBox="1"/>
          <p:nvPr/>
        </p:nvSpPr>
        <p:spPr>
          <a:xfrm>
            <a:off x="5115225" y="5660136"/>
            <a:ext cx="212309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아이템 교체 시트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5115225" y="5897880"/>
            <a:ext cx="212309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고정 · 세탁 중 옷 제외</a:t>
            </a:r>
          </a:p>
        </p:txBody>
      </p:sp>
      <p:pic>
        <p:nvPicPr>
          <p:cNvPr id="110" name="내 옷장 목록" descr="내 옷장 목록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7284039" y="1664208"/>
            <a:ext cx="1848775" cy="3886200"/>
          </a:xfrm>
          <a:prstGeom prst="rect">
            <a:avLst/>
          </a:prstGeom>
        </p:spPr>
      </p:pic>
      <p:sp>
        <p:nvSpPr>
          <p:cNvPr id="111" name="TextBox 111"/>
          <p:cNvSpPr txBox="1"/>
          <p:nvPr/>
        </p:nvSpPr>
        <p:spPr>
          <a:xfrm>
            <a:off x="7238319" y="5660136"/>
            <a:ext cx="212309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내 옷장 목록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7238319" y="5897880"/>
            <a:ext cx="212309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검색 · 카테고리 · 계절 필터</a:t>
            </a:r>
          </a:p>
        </p:txBody>
      </p:sp>
      <p:pic>
        <p:nvPicPr>
          <p:cNvPr id="113" name="아이템 상세 · 수정" descr="아이템 상세 · 수정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9407134" y="1664208"/>
            <a:ext cx="1848775" cy="3886200"/>
          </a:xfrm>
          <a:prstGeom prst="rect">
            <a:avLst/>
          </a:prstGeom>
        </p:spPr>
      </p:pic>
      <p:sp>
        <p:nvSpPr>
          <p:cNvPr id="114" name="TextBox 114"/>
          <p:cNvSpPr txBox="1"/>
          <p:nvPr/>
        </p:nvSpPr>
        <p:spPr>
          <a:xfrm>
            <a:off x="9361414" y="5660136"/>
            <a:ext cx="212309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아이템 상세 · 수정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9361414" y="5897880"/>
            <a:ext cx="212309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색상 · 패턴 · 계절 · 보유 상태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21792" y="3383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0">
                <a:solidFill>
                  <a:srgbClr val="7B1E2B"/>
                </a:solidFill>
                <a:latin typeface="Georgia"/>
                <a:ea typeface="Malgun Gothic"/>
              </a:rPr>
              <a:t>APPENDIX  </a:t>
            </a:r>
            <a:r>
              <a:rPr lang="ko-KR" sz="900" b="0" i="1" spc="0">
                <a:solidFill>
                  <a:srgbClr val="7B1E2B"/>
                </a:solidFill>
                <a:latin typeface="Georgia"/>
                <a:ea typeface="Malgun Gothic"/>
              </a:rPr>
              <a:t>Prototype</a:t>
            </a:r>
            <a:r>
              <a:rPr lang="ko-KR" sz="900" b="0" i="0" spc="0">
                <a:solidFill>
                  <a:srgbClr val="8E8E8E"/>
                </a:solidFill>
                <a:latin typeface="Malgun Gothic"/>
                <a:ea typeface="Malgun Gothic"/>
              </a:rPr>
              <a:t>   |   개발 목업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80960" y="338328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3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목업 ③ </a:t>
            </a:r>
            <a:r>
              <a:rPr lang="ko-KR" sz="3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옷 등록 4단계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124358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사진 한 장으로 AI가 속성을 제안하고, 사용자는 </a:t>
            </a:r>
            <a:r>
              <a:rPr lang="ko-KR" sz="11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확인만 한다</a:t>
            </a:r>
          </a:p>
        </p:txBody>
      </p:sp>
      <p:cxnSp>
        <p:nvCxnSpPr>
          <p:cNvPr id="6" name="Connector 6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7" name="TextBox 7"/>
          <p:cNvSpPr txBox="1"/>
          <p:nvPr/>
        </p:nvSpPr>
        <p:spPr>
          <a:xfrm>
            <a:off x="640080" y="6528816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5C5C5C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15600" y="651052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5C5C5C"/>
                </a:solidFill>
                <a:latin typeface="Georgia"/>
                <a:ea typeface="Malgun Gothic"/>
              </a:rPr>
              <a:t>— 41</a:t>
            </a:r>
          </a:p>
        </p:txBody>
      </p:sp>
      <p:pic>
        <p:nvPicPr>
          <p:cNvPr id="126" name="① 사진 선택" descr="① 사진 선택"/>
          <p:cNvPicPr>
            <a:picLocks noChangeAspect="1"/>
          </p:cNvPicPr>
          <p:nvPr/>
        </p:nvPicPr>
        <p:blipFill>
          <a:blip r:embed="rIdM1"/>
          <a:stretch>
            <a:fillRect/>
          </a:stretch>
        </p:blipFill>
        <p:spPr>
          <a:xfrm>
            <a:off x="1899486" y="1664208"/>
            <a:ext cx="1847832" cy="3886200"/>
          </a:xfrm>
          <a:prstGeom prst="rect">
            <a:avLst/>
          </a:prstGeom>
        </p:spPr>
      </p:pic>
      <p:sp>
        <p:nvSpPr>
          <p:cNvPr id="127" name="TextBox 127"/>
          <p:cNvSpPr txBox="1"/>
          <p:nvPr/>
        </p:nvSpPr>
        <p:spPr>
          <a:xfrm>
            <a:off x="1853766" y="5660136"/>
            <a:ext cx="212215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① 사진 선택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1853766" y="5897880"/>
            <a:ext cx="21221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카메라 · 앨범, EXIF 자동 제거</a:t>
            </a:r>
          </a:p>
        </p:txBody>
      </p:sp>
      <p:pic>
        <p:nvPicPr>
          <p:cNvPr id="129" name="② AI 분석 중" descr="② AI 분석 중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4076503" y="1664208"/>
            <a:ext cx="1844237" cy="3886200"/>
          </a:xfrm>
          <a:prstGeom prst="rect">
            <a:avLst/>
          </a:prstGeom>
        </p:spPr>
      </p:pic>
      <p:sp>
        <p:nvSpPr>
          <p:cNvPr id="130" name="TextBox 130"/>
          <p:cNvSpPr txBox="1"/>
          <p:nvPr/>
        </p:nvSpPr>
        <p:spPr>
          <a:xfrm>
            <a:off x="4030783" y="5660136"/>
            <a:ext cx="2118557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② AI 분석 중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4030783" y="5897880"/>
            <a:ext cx="2118557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약 3초 · 직접 입력 대안</a:t>
            </a:r>
          </a:p>
        </p:txBody>
      </p:sp>
      <p:pic>
        <p:nvPicPr>
          <p:cNvPr id="132" name="③ 정보 확인 · 수정" descr="③ 정보 확인 · 수정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6249924" y="1664208"/>
            <a:ext cx="1847832" cy="3886200"/>
          </a:xfrm>
          <a:prstGeom prst="rect">
            <a:avLst/>
          </a:prstGeom>
        </p:spPr>
      </p:pic>
      <p:sp>
        <p:nvSpPr>
          <p:cNvPr id="133" name="TextBox 133"/>
          <p:cNvSpPr txBox="1"/>
          <p:nvPr/>
        </p:nvSpPr>
        <p:spPr>
          <a:xfrm>
            <a:off x="6204204" y="5660136"/>
            <a:ext cx="212215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③ 정보 확인 · 수정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6204204" y="5897880"/>
            <a:ext cx="21221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AI 분석값은 제안값</a:t>
            </a:r>
          </a:p>
        </p:txBody>
      </p:sp>
      <p:pic>
        <p:nvPicPr>
          <p:cNvPr id="135" name="④ 저장 완료" descr="④ 저장 완료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8426940" y="1664208"/>
            <a:ext cx="1844237" cy="3886200"/>
          </a:xfrm>
          <a:prstGeom prst="rect">
            <a:avLst/>
          </a:prstGeom>
        </p:spPr>
      </p:pic>
      <p:sp>
        <p:nvSpPr>
          <p:cNvPr id="136" name="TextBox 136"/>
          <p:cNvSpPr txBox="1"/>
          <p:nvPr/>
        </p:nvSpPr>
        <p:spPr>
          <a:xfrm>
            <a:off x="8381220" y="5660136"/>
            <a:ext cx="2118557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④ 저장 완료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8381220" y="5897880"/>
            <a:ext cx="2118557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첫 코디까지 남은 수 → p.14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21792" y="3383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0">
                <a:solidFill>
                  <a:srgbClr val="7B1E2B"/>
                </a:solidFill>
                <a:latin typeface="Georgia"/>
                <a:ea typeface="Malgun Gothic"/>
              </a:rPr>
              <a:t>APPENDIX  </a:t>
            </a:r>
            <a:r>
              <a:rPr lang="ko-KR" sz="900" b="0" i="1" spc="0">
                <a:solidFill>
                  <a:srgbClr val="7B1E2B"/>
                </a:solidFill>
                <a:latin typeface="Georgia"/>
                <a:ea typeface="Malgun Gothic"/>
              </a:rPr>
              <a:t>Prototype</a:t>
            </a:r>
            <a:r>
              <a:rPr lang="ko-KR" sz="900" b="0" i="0" spc="0">
                <a:solidFill>
                  <a:srgbClr val="8E8E8E"/>
                </a:solidFill>
                <a:latin typeface="Malgun Gothic"/>
                <a:ea typeface="Malgun Gothic"/>
              </a:rPr>
              <a:t>   |   개발 목업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80960" y="338328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3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목업 ④ </a:t>
            </a:r>
            <a:r>
              <a:rPr lang="ko-KR" sz="3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AI 코디 · 예정일 · 캘린더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124358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조건 선택 → 3안 → 교체 → 캘린더 저장까지, 오늘과 예정일 코디가 </a:t>
            </a:r>
            <a:r>
              <a:rPr lang="ko-KR" sz="11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하나의 흐름</a:t>
            </a: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으로 이어진다</a:t>
            </a:r>
          </a:p>
        </p:txBody>
      </p:sp>
      <p:cxnSp>
        <p:nvCxnSpPr>
          <p:cNvPr id="6" name="Connector 6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7" name="TextBox 7"/>
          <p:cNvSpPr txBox="1"/>
          <p:nvPr/>
        </p:nvSpPr>
        <p:spPr>
          <a:xfrm>
            <a:off x="640080" y="6528816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5C5C5C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15600" y="651052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5C5C5C"/>
                </a:solidFill>
                <a:latin typeface="Georgia"/>
                <a:ea typeface="Malgun Gothic"/>
              </a:rPr>
              <a:t>— 42</a:t>
            </a:r>
          </a:p>
        </p:txBody>
      </p:sp>
      <p:pic>
        <p:nvPicPr>
          <p:cNvPr id="101" name="AI 코디 · 조건 선택" descr="AI 코디 · 조건 선택"/>
          <p:cNvPicPr>
            <a:picLocks noChangeAspect="1"/>
          </p:cNvPicPr>
          <p:nvPr/>
        </p:nvPicPr>
        <p:blipFill>
          <a:blip r:embed="rIdM1"/>
          <a:stretch>
            <a:fillRect/>
          </a:stretch>
        </p:blipFill>
        <p:spPr>
          <a:xfrm>
            <a:off x="920706" y="1664208"/>
            <a:ext cx="1847832" cy="3886200"/>
          </a:xfrm>
          <a:prstGeom prst="rect">
            <a:avLst/>
          </a:prstGeom>
        </p:spPr>
      </p:pic>
      <p:sp>
        <p:nvSpPr>
          <p:cNvPr id="102" name="TextBox 102"/>
          <p:cNvSpPr txBox="1"/>
          <p:nvPr/>
        </p:nvSpPr>
        <p:spPr>
          <a:xfrm>
            <a:off x="874986" y="5660136"/>
            <a:ext cx="212215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AI 코디 · 조건 선택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874986" y="5897880"/>
            <a:ext cx="21221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상황 · 분위기 · 격식 → p.15</a:t>
            </a:r>
          </a:p>
        </p:txBody>
      </p:sp>
      <p:pic>
        <p:nvPicPr>
          <p:cNvPr id="104" name="추천 결과 3안" descr="추천 결과 3안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3042858" y="1664208"/>
            <a:ext cx="1844237" cy="3886200"/>
          </a:xfrm>
          <a:prstGeom prst="rect">
            <a:avLst/>
          </a:prstGeom>
        </p:spPr>
      </p:pic>
      <p:sp>
        <p:nvSpPr>
          <p:cNvPr id="105" name="TextBox 105"/>
          <p:cNvSpPr txBox="1"/>
          <p:nvPr/>
        </p:nvSpPr>
        <p:spPr>
          <a:xfrm>
            <a:off x="2997138" y="5660136"/>
            <a:ext cx="2118557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추천 결과 3안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2997138" y="5897880"/>
            <a:ext cx="2118557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추천 이유 · 아이템 교체</a:t>
            </a:r>
          </a:p>
        </p:txBody>
      </p:sp>
      <p:pic>
        <p:nvPicPr>
          <p:cNvPr id="107" name="예정일 조건 입력" descr="예정일 조건 입력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5161416" y="1664208"/>
            <a:ext cx="1847832" cy="3886200"/>
          </a:xfrm>
          <a:prstGeom prst="rect">
            <a:avLst/>
          </a:prstGeom>
        </p:spPr>
      </p:pic>
      <p:sp>
        <p:nvSpPr>
          <p:cNvPr id="108" name="TextBox 108"/>
          <p:cNvSpPr txBox="1"/>
          <p:nvPr/>
        </p:nvSpPr>
        <p:spPr>
          <a:xfrm>
            <a:off x="5115696" y="5660136"/>
            <a:ext cx="212215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예정일 조건 입력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5115696" y="5897880"/>
            <a:ext cx="21221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컨셉 · TPO · 날씨 → p.16</a:t>
            </a:r>
          </a:p>
        </p:txBody>
      </p:sp>
      <p:pic>
        <p:nvPicPr>
          <p:cNvPr id="110" name="3안 비교 → 저장" descr="3안 비교 → 저장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7283568" y="1664208"/>
            <a:ext cx="1844237" cy="3886200"/>
          </a:xfrm>
          <a:prstGeom prst="rect">
            <a:avLst/>
          </a:prstGeom>
        </p:spPr>
      </p:pic>
      <p:sp>
        <p:nvSpPr>
          <p:cNvPr id="111" name="TextBox 111"/>
          <p:cNvSpPr txBox="1"/>
          <p:nvPr/>
        </p:nvSpPr>
        <p:spPr>
          <a:xfrm>
            <a:off x="7237848" y="5660136"/>
            <a:ext cx="2118557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3안 비교 → 저장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7237848" y="5897880"/>
            <a:ext cx="2118557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D-1 최신 예보 재확인</a:t>
            </a:r>
          </a:p>
        </p:txBody>
      </p:sp>
      <p:pic>
        <p:nvPicPr>
          <p:cNvPr id="113" name="코디 캘린더" descr="코디 캘린더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9402126" y="1664208"/>
            <a:ext cx="1847832" cy="3886200"/>
          </a:xfrm>
          <a:prstGeom prst="rect">
            <a:avLst/>
          </a:prstGeom>
        </p:spPr>
      </p:pic>
      <p:sp>
        <p:nvSpPr>
          <p:cNvPr id="114" name="TextBox 114"/>
          <p:cNvSpPr txBox="1"/>
          <p:nvPr/>
        </p:nvSpPr>
        <p:spPr>
          <a:xfrm>
            <a:off x="9356406" y="5660136"/>
            <a:ext cx="212215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코디 캘린더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9356406" y="5897880"/>
            <a:ext cx="21221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주간 보기 · D-day · 지난 기록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21792" y="3383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0">
                <a:solidFill>
                  <a:srgbClr val="7B1E2B"/>
                </a:solidFill>
                <a:latin typeface="Georgia"/>
                <a:ea typeface="Malgun Gothic"/>
              </a:rPr>
              <a:t>APPENDIX  </a:t>
            </a:r>
            <a:r>
              <a:rPr lang="ko-KR" sz="900" b="0" i="1" spc="0">
                <a:solidFill>
                  <a:srgbClr val="7B1E2B"/>
                </a:solidFill>
                <a:latin typeface="Georgia"/>
                <a:ea typeface="Malgun Gothic"/>
              </a:rPr>
              <a:t>Prototype</a:t>
            </a:r>
            <a:r>
              <a:rPr lang="ko-KR" sz="900" b="0" i="0" spc="0">
                <a:solidFill>
                  <a:srgbClr val="8E8E8E"/>
                </a:solidFill>
                <a:latin typeface="Malgun Gothic"/>
                <a:ea typeface="Malgun Gothic"/>
              </a:rPr>
              <a:t>   |   개발 목업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80960" y="338328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3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목업 ⑤ </a:t>
            </a:r>
            <a:r>
              <a:rPr lang="ko-KR" sz="3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착장 기록 · AI 진단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124358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착장 사진과 만족도를 남기면, AI 점수와 비교해 </a:t>
            </a:r>
            <a:r>
              <a:rPr lang="ko-KR" sz="11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내 옷장 안에서 처방</a:t>
            </a: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한다</a:t>
            </a:r>
          </a:p>
        </p:txBody>
      </p:sp>
      <p:cxnSp>
        <p:nvCxnSpPr>
          <p:cNvPr id="6" name="Connector 6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7" name="TextBox 7"/>
          <p:cNvSpPr txBox="1"/>
          <p:nvPr/>
        </p:nvSpPr>
        <p:spPr>
          <a:xfrm>
            <a:off x="640080" y="6528816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5C5C5C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15600" y="651052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5C5C5C"/>
                </a:solidFill>
                <a:latin typeface="Georgia"/>
                <a:ea typeface="Malgun Gothic"/>
              </a:rPr>
              <a:t>— 43</a:t>
            </a:r>
          </a:p>
        </p:txBody>
      </p:sp>
      <p:pic>
        <p:nvPicPr>
          <p:cNvPr id="150" name="오늘의 착장 기록" descr="오늘의 착장 기록"/>
          <p:cNvPicPr>
            <a:picLocks noChangeAspect="1"/>
          </p:cNvPicPr>
          <p:nvPr/>
        </p:nvPicPr>
        <p:blipFill>
          <a:blip r:embed="rIdM1"/>
          <a:stretch>
            <a:fillRect/>
          </a:stretch>
        </p:blipFill>
        <p:spPr>
          <a:xfrm>
            <a:off x="939302" y="1664208"/>
            <a:ext cx="1848775" cy="3886200"/>
          </a:xfrm>
          <a:prstGeom prst="rect">
            <a:avLst/>
          </a:prstGeom>
        </p:spPr>
      </p:pic>
      <p:sp>
        <p:nvSpPr>
          <p:cNvPr id="151" name="TextBox 151"/>
          <p:cNvSpPr txBox="1"/>
          <p:nvPr/>
        </p:nvSpPr>
        <p:spPr>
          <a:xfrm>
            <a:off x="893582" y="5660136"/>
            <a:ext cx="212309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오늘의 착장 기록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893582" y="5897880"/>
            <a:ext cx="212309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아이템 자동 매칭 → p.17</a:t>
            </a:r>
          </a:p>
        </p:txBody>
      </p:sp>
      <p:pic>
        <p:nvPicPr>
          <p:cNvPr id="153" name="주변 반응 기록" descr="주변 반응 기록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3172125" y="1664208"/>
            <a:ext cx="1848775" cy="3886200"/>
          </a:xfrm>
          <a:prstGeom prst="rect">
            <a:avLst/>
          </a:prstGeom>
        </p:spPr>
      </p:pic>
      <p:sp>
        <p:nvSpPr>
          <p:cNvPr id="154" name="TextBox 154"/>
          <p:cNvSpPr txBox="1"/>
          <p:nvPr/>
        </p:nvSpPr>
        <p:spPr>
          <a:xfrm>
            <a:off x="3126405" y="5660136"/>
            <a:ext cx="212309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주변 반응 기록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3126405" y="5897880"/>
            <a:ext cx="212309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칭찬 · 지인 투표 → p.18</a:t>
            </a:r>
          </a:p>
        </p:txBody>
      </p:sp>
      <p:pic>
        <p:nvPicPr>
          <p:cNvPr id="156" name="AI 진단 · 처방" descr="AI 진단 · 처방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5404947" y="1664208"/>
            <a:ext cx="1848775" cy="3886200"/>
          </a:xfrm>
          <a:prstGeom prst="rect">
            <a:avLst/>
          </a:prstGeom>
        </p:spPr>
      </p:pic>
      <p:sp>
        <p:nvSpPr>
          <p:cNvPr id="157" name="TextBox 157"/>
          <p:cNvSpPr txBox="1"/>
          <p:nvPr/>
        </p:nvSpPr>
        <p:spPr>
          <a:xfrm>
            <a:off x="5359227" y="5660136"/>
            <a:ext cx="212309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AI 진단 · 처방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5359227" y="5897880"/>
            <a:ext cx="212309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일 · 주 · 월 탭, 5개 항목 → p.25</a:t>
            </a:r>
          </a:p>
        </p:txBody>
      </p:sp>
      <p:sp>
        <p:nvSpPr>
          <p:cNvPr id="159" name="Shape 159"/>
          <p:cNvSpPr/>
          <p:nvPr/>
        </p:nvSpPr>
        <p:spPr>
          <a:xfrm>
            <a:off x="7818120" y="1664208"/>
            <a:ext cx="3758184" cy="4709160"/>
          </a:xfrm>
          <a:prstGeom prst="rect">
            <a:avLst/>
          </a:prstGeom>
          <a:solidFill>
            <a:srgbClr val="EEE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TextBox 160"/>
          <p:cNvSpPr txBox="1"/>
          <p:nvPr/>
        </p:nvSpPr>
        <p:spPr>
          <a:xfrm>
            <a:off x="8046720" y="1828800"/>
            <a:ext cx="330098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300" b="0" i="1" spc="0">
                <a:solidFill>
                  <a:srgbClr val="111111"/>
                </a:solidFill>
                <a:latin typeface="Georgia"/>
                <a:ea typeface="Malgun Gothic"/>
              </a:rPr>
              <a:t xml:space="preserve">Diagnosis</a:t>
            </a: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   목업 반영 포인트</a:t>
            </a:r>
          </a:p>
        </p:txBody>
      </p:sp>
      <p:cxnSp>
        <p:nvCxnSpPr>
          <p:cNvPr id="161" name="Connector 161"/>
          <p:cNvCxnSpPr/>
          <p:nvPr/>
        </p:nvCxnSpPr>
        <p:spPr>
          <a:xfrm>
            <a:off x="8046720" y="2212848"/>
            <a:ext cx="3300984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62" name="TextBox 162"/>
          <p:cNvSpPr txBox="1"/>
          <p:nvPr/>
        </p:nvSpPr>
        <p:spPr>
          <a:xfrm>
            <a:off x="8046720" y="2377440"/>
            <a:ext cx="3300984" cy="3840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착장 사진에서 아이템 3개를 내 옷장과 자동 매칭, 수정 가능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나의 별점 · 감정 태그 · 메모 + 주변 반응을 한 흐름으로 기록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AI 점수 · 나 · 주변 3축 비교, 만족도 높은 조합은 가중치 ↑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처방 ① 내 옷장 아이템 교체 ② 스타일링 팁 순으로 제시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AI 진단 화면의 “사진으로 바로 진단”은 로컬 진단(p.19)으로 연결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21792" y="3383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0">
                <a:solidFill>
                  <a:srgbClr val="7B1E2B"/>
                </a:solidFill>
                <a:latin typeface="Georgia"/>
                <a:ea typeface="Malgun Gothic"/>
              </a:rPr>
              <a:t>APPENDIX  </a:t>
            </a:r>
            <a:r>
              <a:rPr lang="ko-KR" sz="900" b="0" i="1" spc="0">
                <a:solidFill>
                  <a:srgbClr val="7B1E2B"/>
                </a:solidFill>
                <a:latin typeface="Georgia"/>
                <a:ea typeface="Malgun Gothic"/>
              </a:rPr>
              <a:t>Prototype</a:t>
            </a:r>
            <a:r>
              <a:rPr lang="ko-KR" sz="900" b="0" i="0" spc="0">
                <a:solidFill>
                  <a:srgbClr val="8E8E8E"/>
                </a:solidFill>
                <a:latin typeface="Malgun Gothic"/>
                <a:ea typeface="Malgun Gothic"/>
              </a:rPr>
              <a:t>   |   개발 목업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80960" y="338328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3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목업 ⑥ 옷장 분석 · </a:t>
            </a:r>
            <a:r>
              <a:rPr lang="ko-KR" sz="3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지속가능성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124358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옷장 전체를 분석하고, 새 옷은 </a:t>
            </a:r>
            <a:r>
              <a:rPr lang="ko-KR" sz="11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꼭 필요한 한 벌만</a:t>
            </a: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 — 다시 입은 옷은 임팩트 리포트로 보여준다</a:t>
            </a:r>
          </a:p>
        </p:txBody>
      </p:sp>
      <p:cxnSp>
        <p:nvCxnSpPr>
          <p:cNvPr id="6" name="Connector 6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7" name="TextBox 7"/>
          <p:cNvSpPr txBox="1"/>
          <p:nvPr/>
        </p:nvSpPr>
        <p:spPr>
          <a:xfrm>
            <a:off x="640080" y="6528816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5C5C5C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15600" y="651052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5C5C5C"/>
                </a:solidFill>
                <a:latin typeface="Georgia"/>
                <a:ea typeface="Malgun Gothic"/>
              </a:rPr>
              <a:t>— 44</a:t>
            </a:r>
          </a:p>
        </p:txBody>
      </p:sp>
      <p:pic>
        <p:nvPicPr>
          <p:cNvPr id="116" name="옷장 스타일 분석" descr="옷장 스타일 분석"/>
          <p:cNvPicPr>
            <a:picLocks noChangeAspect="1"/>
          </p:cNvPicPr>
          <p:nvPr/>
        </p:nvPicPr>
        <p:blipFill>
          <a:blip r:embed="rIdM1"/>
          <a:stretch>
            <a:fillRect/>
          </a:stretch>
        </p:blipFill>
        <p:spPr>
          <a:xfrm>
            <a:off x="1894006" y="1664208"/>
            <a:ext cx="1848775" cy="3886200"/>
          </a:xfrm>
          <a:prstGeom prst="rect">
            <a:avLst/>
          </a:prstGeom>
        </p:spPr>
      </p:pic>
      <p:sp>
        <p:nvSpPr>
          <p:cNvPr id="117" name="TextBox 117"/>
          <p:cNvSpPr txBox="1"/>
          <p:nvPr/>
        </p:nvSpPr>
        <p:spPr>
          <a:xfrm>
            <a:off x="1848286" y="5660136"/>
            <a:ext cx="212309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옷장 스타일 분석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848286" y="5897880"/>
            <a:ext cx="212309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분석 · 평가 · 추천 · 제안 → p.26</a:t>
            </a:r>
          </a:p>
        </p:txBody>
      </p:sp>
      <p:pic>
        <p:nvPicPr>
          <p:cNvPr id="119" name="구매 전 미리보기" descr="구매 전 미리보기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4071965" y="1664208"/>
            <a:ext cx="1848775" cy="3886200"/>
          </a:xfrm>
          <a:prstGeom prst="rect">
            <a:avLst/>
          </a:prstGeom>
        </p:spPr>
      </p:pic>
      <p:sp>
        <p:nvSpPr>
          <p:cNvPr id="120" name="TextBox 120"/>
          <p:cNvSpPr txBox="1"/>
          <p:nvPr/>
        </p:nvSpPr>
        <p:spPr>
          <a:xfrm>
            <a:off x="4026245" y="5660136"/>
            <a:ext cx="212309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구매 전 미리보기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4026245" y="5897880"/>
            <a:ext cx="212309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비슷한 옷 경고 → p.09</a:t>
            </a:r>
          </a:p>
        </p:txBody>
      </p:sp>
      <p:pic>
        <p:nvPicPr>
          <p:cNvPr id="122" name="나의 지속가능성" descr="나의 지속가능성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6249924" y="1664208"/>
            <a:ext cx="1848775" cy="3886200"/>
          </a:xfrm>
          <a:prstGeom prst="rect">
            <a:avLst/>
          </a:prstGeom>
        </p:spPr>
      </p:pic>
      <p:sp>
        <p:nvSpPr>
          <p:cNvPr id="123" name="TextBox 123"/>
          <p:cNvSpPr txBox="1"/>
          <p:nvPr/>
        </p:nvSpPr>
        <p:spPr>
          <a:xfrm>
            <a:off x="6204204" y="5660136"/>
            <a:ext cx="212309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나의 지속가능성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6204204" y="5897880"/>
            <a:ext cx="212309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월간 임팩트 리포트 → p.04</a:t>
            </a:r>
          </a:p>
        </p:txBody>
      </p:sp>
      <p:pic>
        <p:nvPicPr>
          <p:cNvPr id="125" name="내 옷 → 새 옷 추천" descr="내 옷 → 새 옷 추천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8427883" y="1664208"/>
            <a:ext cx="1848775" cy="3886200"/>
          </a:xfrm>
          <a:prstGeom prst="rect">
            <a:avLst/>
          </a:prstGeom>
        </p:spPr>
      </p:pic>
      <p:sp>
        <p:nvSpPr>
          <p:cNvPr id="126" name="TextBox 126"/>
          <p:cNvSpPr txBox="1"/>
          <p:nvPr/>
        </p:nvSpPr>
        <p:spPr>
          <a:xfrm>
            <a:off x="8382163" y="5660136"/>
            <a:ext cx="212309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내 옷 → 새 옷 추천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8382163" y="5897880"/>
            <a:ext cx="212309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보유 옷 코디 먼저 · 구매 보류 → p.09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21792" y="3383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0">
                <a:solidFill>
                  <a:srgbClr val="7B1E2B"/>
                </a:solidFill>
                <a:latin typeface="Georgia"/>
                <a:ea typeface="Malgun Gothic"/>
              </a:rPr>
              <a:t>APPENDIX  </a:t>
            </a:r>
            <a:r>
              <a:rPr lang="ko-KR" sz="900" b="0" i="1" spc="0">
                <a:solidFill>
                  <a:srgbClr val="7B1E2B"/>
                </a:solidFill>
                <a:latin typeface="Georgia"/>
                <a:ea typeface="Malgun Gothic"/>
              </a:rPr>
              <a:t>Prototype</a:t>
            </a:r>
            <a:r>
              <a:rPr lang="ko-KR" sz="900" b="0" i="0" spc="0">
                <a:solidFill>
                  <a:srgbClr val="8E8E8E"/>
                </a:solidFill>
                <a:latin typeface="Malgun Gothic"/>
                <a:ea typeface="Malgun Gothic"/>
              </a:rPr>
              <a:t>   |   개발 목업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80960" y="338328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3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목업 ⑦ </a:t>
            </a:r>
            <a:r>
              <a:rPr lang="ko-KR" sz="3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마이 · 개인 설정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124358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취향 · 화면 · 알림을 </a:t>
            </a:r>
            <a:r>
              <a:rPr lang="ko-KR" sz="11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사용자가 직접 맞추고</a:t>
            </a: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, 로컬 진단도 마이에서 다시 들어갈 수 있다</a:t>
            </a:r>
          </a:p>
        </p:txBody>
      </p:sp>
      <p:cxnSp>
        <p:nvCxnSpPr>
          <p:cNvPr id="6" name="Connector 6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7" name="TextBox 7"/>
          <p:cNvSpPr txBox="1"/>
          <p:nvPr/>
        </p:nvSpPr>
        <p:spPr>
          <a:xfrm>
            <a:off x="640080" y="6528816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5C5C5C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15600" y="651052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5C5C5C"/>
                </a:solidFill>
                <a:latin typeface="Georgia"/>
                <a:ea typeface="Malgun Gothic"/>
              </a:rPr>
              <a:t>— 45</a:t>
            </a:r>
          </a:p>
        </p:txBody>
      </p:sp>
      <p:pic>
        <p:nvPicPr>
          <p:cNvPr id="176" name="스타일 설정" descr="스타일 설정"/>
          <p:cNvPicPr>
            <a:picLocks noChangeAspect="1"/>
          </p:cNvPicPr>
          <p:nvPr/>
        </p:nvPicPr>
        <p:blipFill>
          <a:blip r:embed="rIdM1"/>
          <a:stretch>
            <a:fillRect/>
          </a:stretch>
        </p:blipFill>
        <p:spPr>
          <a:xfrm>
            <a:off x="943143" y="1664208"/>
            <a:ext cx="1846214" cy="3886200"/>
          </a:xfrm>
          <a:prstGeom prst="rect">
            <a:avLst/>
          </a:prstGeom>
        </p:spPr>
      </p:pic>
      <p:sp>
        <p:nvSpPr>
          <p:cNvPr id="177" name="TextBox 177"/>
          <p:cNvSpPr txBox="1"/>
          <p:nvPr/>
        </p:nvSpPr>
        <p:spPr>
          <a:xfrm>
            <a:off x="897423" y="5660136"/>
            <a:ext cx="212053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스타일 설정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897423" y="5897880"/>
            <a:ext cx="212053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내 정보 · 취향, 모두 선택 입력</a:t>
            </a:r>
          </a:p>
        </p:txBody>
      </p:sp>
      <p:pic>
        <p:nvPicPr>
          <p:cNvPr id="179" name="마이" descr="마이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3173405" y="1664208"/>
            <a:ext cx="1846214" cy="3886200"/>
          </a:xfrm>
          <a:prstGeom prst="rect">
            <a:avLst/>
          </a:prstGeom>
        </p:spPr>
      </p:pic>
      <p:sp>
        <p:nvSpPr>
          <p:cNvPr id="180" name="TextBox 180"/>
          <p:cNvSpPr txBox="1"/>
          <p:nvPr/>
        </p:nvSpPr>
        <p:spPr>
          <a:xfrm>
            <a:off x="3127685" y="5660136"/>
            <a:ext cx="212053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마이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3127685" y="5897880"/>
            <a:ext cx="212053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설정 · 리포트 · 알림</a:t>
            </a:r>
          </a:p>
        </p:txBody>
      </p:sp>
      <p:pic>
        <p:nvPicPr>
          <p:cNvPr id="182" name="화면 설정" descr="화면 설정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5403667" y="1664208"/>
            <a:ext cx="1846214" cy="3886200"/>
          </a:xfrm>
          <a:prstGeom prst="rect">
            <a:avLst/>
          </a:prstGeom>
        </p:spPr>
      </p:pic>
      <p:sp>
        <p:nvSpPr>
          <p:cNvPr id="183" name="TextBox 183"/>
          <p:cNvSpPr txBox="1"/>
          <p:nvPr/>
        </p:nvSpPr>
        <p:spPr>
          <a:xfrm>
            <a:off x="5357947" y="5660136"/>
            <a:ext cx="212053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화면 설정</a:t>
            </a:r>
          </a:p>
        </p:txBody>
      </p:sp>
      <p:sp>
        <p:nvSpPr>
          <p:cNvPr id="184" name="TextBox 184"/>
          <p:cNvSpPr txBox="1"/>
          <p:nvPr/>
        </p:nvSpPr>
        <p:spPr>
          <a:xfrm>
            <a:off x="5357947" y="5897880"/>
            <a:ext cx="212053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포인트 색 · 배경 톤 · 글자 크기</a:t>
            </a:r>
          </a:p>
        </p:txBody>
      </p:sp>
      <p:sp>
        <p:nvSpPr>
          <p:cNvPr id="185" name="Shape 185"/>
          <p:cNvSpPr/>
          <p:nvPr/>
        </p:nvSpPr>
        <p:spPr>
          <a:xfrm>
            <a:off x="7818120" y="1664208"/>
            <a:ext cx="3758184" cy="4709160"/>
          </a:xfrm>
          <a:prstGeom prst="rect">
            <a:avLst/>
          </a:prstGeom>
          <a:solidFill>
            <a:srgbClr val="EEE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TextBox 186"/>
          <p:cNvSpPr txBox="1"/>
          <p:nvPr/>
        </p:nvSpPr>
        <p:spPr>
          <a:xfrm>
            <a:off x="8046720" y="1828800"/>
            <a:ext cx="330098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300" b="0" i="1" spc="0">
                <a:solidFill>
                  <a:srgbClr val="111111"/>
                </a:solidFill>
                <a:latin typeface="Georgia"/>
                <a:ea typeface="Malgun Gothic"/>
              </a:rPr>
              <a:t xml:space="preserve">My</a:t>
            </a: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   목업 반영 포인트</a:t>
            </a:r>
          </a:p>
        </p:txBody>
      </p:sp>
      <p:cxnSp>
        <p:nvCxnSpPr>
          <p:cNvPr id="187" name="Connector 187"/>
          <p:cNvCxnSpPr/>
          <p:nvPr/>
        </p:nvCxnSpPr>
        <p:spPr>
          <a:xfrm>
            <a:off x="8046720" y="2212848"/>
            <a:ext cx="3300984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88" name="TextBox 188"/>
          <p:cNvSpPr txBox="1"/>
          <p:nvPr/>
        </p:nvSpPr>
        <p:spPr>
          <a:xfrm>
            <a:off x="8046720" y="2377440"/>
            <a:ext cx="3300984" cy="3840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마이 메뉴: 화면 설정 · 스타일 설정 · 옷장 분석 · AI 진단 리포트 · 등록 없이 바로 진단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알림: 아침 코디 푸시 · 저녁 일별 진단 · D-1 예정일 알림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화면 설정: 포인트 색 6종 · 배경 톤 4종(다크 포함) · 글자 크기 4단계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화면 설정은 이 기기에 저장되고 모든 화면에 바로 적용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입력한 개인 정보는 추천에만 쓰이며 언제든 수정 · 삭제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21792" y="3383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0">
                <a:solidFill>
                  <a:srgbClr val="7B1E2B"/>
                </a:solidFill>
                <a:latin typeface="Georgia"/>
                <a:ea typeface="Malgun Gothic"/>
              </a:rPr>
              <a:t>N°01  </a:t>
            </a:r>
            <a:r>
              <a:rPr lang="ko-KR" sz="900" b="0" i="1" spc="0">
                <a:solidFill>
                  <a:srgbClr val="7B1E2B"/>
                </a:solidFill>
                <a:latin typeface="Georgia"/>
                <a:ea typeface="Malgun Gothic"/>
              </a:rPr>
              <a:t>Brand Concept</a:t>
            </a:r>
            <a:r>
              <a:rPr lang="ko-KR" sz="900" b="0" i="0" spc="0">
                <a:solidFill>
                  <a:srgbClr val="8E8E8E"/>
                </a:solidFill>
                <a:latin typeface="Malgun Gothic"/>
                <a:ea typeface="Malgun Gothic"/>
              </a:rPr>
              <a:t>   |   브랜드 컨셉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80960" y="338328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3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지속가능성 · </a:t>
            </a:r>
            <a:r>
              <a:rPr lang="ko-KR" sz="3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잠자는 옷</a:t>
            </a:r>
            <a:r>
              <a:rPr lang="ko-KR" sz="3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을 </a:t>
            </a:r>
            <a:r>
              <a:rPr lang="ko-KR" sz="3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깨우다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124358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>장롱 속 옷을 다시 입게 해, 새 옷 구매와 의류 폐기를 줄이는 데 기여한다</a:t>
            </a:r>
          </a:p>
        </p:txBody>
      </p:sp>
      <p:cxnSp>
        <p:nvCxnSpPr>
          <p:cNvPr id="6" name="Connector 6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7" name="TextBox 7"/>
          <p:cNvSpPr txBox="1"/>
          <p:nvPr/>
        </p:nvSpPr>
        <p:spPr>
          <a:xfrm>
            <a:off x="640080" y="6528816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5C5C5C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15600" y="651052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5C5C5C"/>
                </a:solidFill>
                <a:latin typeface="Georgia"/>
                <a:ea typeface="Malgun Gothic"/>
              </a:rPr>
              <a:t>— 04</a:t>
            </a:r>
          </a:p>
        </p:txBody>
      </p:sp>
      <p:sp>
        <p:nvSpPr>
          <p:cNvPr id="101" name="Shape 101"/>
          <p:cNvSpPr/>
          <p:nvPr/>
        </p:nvSpPr>
        <p:spPr>
          <a:xfrm>
            <a:off x="621792" y="1783080"/>
            <a:ext cx="3931920" cy="4590288"/>
          </a:xfrm>
          <a:prstGeom prst="rect">
            <a:avLst/>
          </a:prstGeom>
          <a:solidFill>
            <a:srgbClr val="0A0B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2" name="fabric texture" descr="fabric texture"/>
          <p:cNvPicPr>
            <a:picLocks noChangeAspect="1"/>
          </p:cNvPicPr>
          <p:nvPr/>
        </p:nvPicPr>
        <p:blipFill>
          <a:blip r:embed="rIdF1"/>
          <a:stretch>
            <a:fillRect/>
          </a:stretch>
        </p:blipFill>
        <p:spPr>
          <a:xfrm>
            <a:off x="3483470" y="1783080"/>
            <a:ext cx="1070242" cy="4590288"/>
          </a:xfrm>
          <a:prstGeom prst="rect">
            <a:avLst/>
          </a:prstGeom>
        </p:spPr>
      </p:pic>
      <p:sp>
        <p:nvSpPr>
          <p:cNvPr id="103" name="TextBox 103"/>
          <p:cNvSpPr txBox="1"/>
          <p:nvPr/>
        </p:nvSpPr>
        <p:spPr>
          <a:xfrm>
            <a:off x="896112" y="20116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50" b="1" i="0" spc="100">
                <a:solidFill>
                  <a:srgbClr val="C9A96E"/>
                </a:solidFill>
                <a:latin typeface="Georgia"/>
                <a:ea typeface="Malgun Gothic"/>
              </a:rPr>
              <a:t xml:space="preserve">WHY · </a:t>
            </a:r>
            <a:r>
              <a:rPr lang="ko-KR" sz="950" b="1" i="0" spc="0">
                <a:solidFill>
                  <a:srgbClr val="C9A96E"/>
                </a:solidFill>
                <a:latin typeface="Malgun Gothic"/>
                <a:ea typeface="Malgun Gothic"/>
              </a:rPr>
              <a:t xml:space="preserve">왜 지금 필요한가</a:t>
            </a:r>
          </a:p>
        </p:txBody>
      </p:sp>
      <p:cxnSp>
        <p:nvCxnSpPr>
          <p:cNvPr id="104" name="Connector 104"/>
          <p:cNvCxnSpPr/>
          <p:nvPr/>
        </p:nvCxnSpPr>
        <p:spPr>
          <a:xfrm>
            <a:off x="2496312" y="2121408"/>
            <a:ext cx="1737360" cy="0"/>
          </a:xfrm>
          <a:prstGeom prst="line">
            <a:avLst/>
          </a:prstGeom>
          <a:ln w="9525">
            <a:solidFill>
              <a:srgbClr val="C9A96E"/>
            </a:solidFill>
          </a:ln>
        </p:spPr>
      </p:cxnSp>
      <p:sp>
        <p:nvSpPr>
          <p:cNvPr id="105" name="TextBox 105"/>
          <p:cNvSpPr txBox="1"/>
          <p:nvPr/>
        </p:nvSpPr>
        <p:spPr>
          <a:xfrm>
            <a:off x="896112" y="233172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5400" b="1" i="1" spc="0">
                <a:solidFill>
                  <a:srgbClr val="FFFFFF"/>
                </a:solidFill>
                <a:latin typeface="Georgia"/>
                <a:ea typeface="Malgun Gothic"/>
              </a:rPr>
              <a:t xml:space="preserve">1</a:t>
            </a:r>
            <a:r>
              <a:rPr lang="ko-KR" sz="4400" b="1" i="0" spc="0">
                <a:solidFill>
                  <a:srgbClr val="FFFFFF"/>
                </a:solidFill>
                <a:latin typeface="Malgun Gothic"/>
                <a:ea typeface="Malgun Gothic"/>
              </a:rPr>
              <a:t xml:space="preserve">초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896112" y="32004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50" b="0" i="0" spc="0">
                <a:solidFill>
                  <a:srgbClr val="FFFFFF"/>
                </a:solidFill>
                <a:latin typeface="Malgun Gothic"/>
                <a:ea typeface="Malgun Gothic"/>
              </a:rPr>
              <a:t xml:space="preserve">매초 쓰레기 트럭 한 대 분량의 섬유가</a:t>
            </a:r>
          </a:p>
          <a:p>
            <a:pPr algn="l">
              <a:spcAft>
                <a:spcPts val="0"/>
              </a:spcAft>
            </a:pPr>
            <a:r>
              <a:rPr lang="ko-KR" sz="1150" b="0" i="0" spc="0">
                <a:solidFill>
                  <a:srgbClr val="FFFFFF"/>
                </a:solidFill>
                <a:latin typeface="Malgun Gothic"/>
                <a:ea typeface="Malgun Gothic"/>
              </a:rPr>
              <a:t xml:space="preserve">매립되거나 소각된다</a:t>
            </a:r>
          </a:p>
        </p:txBody>
      </p:sp>
      <p:cxnSp>
        <p:nvCxnSpPr>
          <p:cNvPr id="107" name="Connector 107"/>
          <p:cNvCxnSpPr/>
          <p:nvPr/>
        </p:nvCxnSpPr>
        <p:spPr>
          <a:xfrm>
            <a:off x="896112" y="3977640"/>
            <a:ext cx="3017520" cy="0"/>
          </a:xfrm>
          <a:prstGeom prst="line">
            <a:avLst/>
          </a:prstGeom>
          <a:ln w="9525">
            <a:solidFill>
              <a:srgbClr val="C9A96E"/>
            </a:solidFill>
          </a:ln>
        </p:spPr>
      </p:cxnSp>
      <p:sp>
        <p:nvSpPr>
          <p:cNvPr id="108" name="TextBox 108"/>
          <p:cNvSpPr txBox="1"/>
          <p:nvPr/>
        </p:nvSpPr>
        <p:spPr>
          <a:xfrm>
            <a:off x="896112" y="416052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5400" b="1" i="1" spc="0">
                <a:solidFill>
                  <a:srgbClr val="FFFFFF"/>
                </a:solidFill>
                <a:latin typeface="Georgia"/>
                <a:ea typeface="Malgun Gothic"/>
              </a:rPr>
              <a:t xml:space="preserve">2</a:t>
            </a:r>
            <a:r>
              <a:rPr lang="ko-KR" sz="4400" b="1" i="0" spc="0">
                <a:solidFill>
                  <a:srgbClr val="FFFFFF"/>
                </a:solidFill>
                <a:latin typeface="Malgun Gothic"/>
                <a:ea typeface="Malgun Gothic"/>
              </a:rPr>
              <a:t xml:space="preserve">배 ↑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96112" y="50292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50" b="0" i="0" spc="0">
                <a:solidFill>
                  <a:srgbClr val="FFFFFF"/>
                </a:solidFill>
                <a:latin typeface="Malgun Gothic"/>
                <a:ea typeface="Malgun Gothic"/>
              </a:rPr>
              <a:t xml:space="preserve">2000~2015년 의류 판매량은 두 배 넘게</a:t>
            </a:r>
          </a:p>
          <a:p>
            <a:pPr algn="l">
              <a:spcAft>
                <a:spcPts val="0"/>
              </a:spcAft>
            </a:pPr>
            <a:r>
              <a:rPr lang="ko-KR" sz="1150" b="0" i="0" spc="0">
                <a:solidFill>
                  <a:srgbClr val="FFFFFF"/>
                </a:solidFill>
                <a:latin typeface="Malgun Gothic"/>
                <a:ea typeface="Malgun Gothic"/>
              </a:rPr>
              <a:t xml:space="preserve">늘었지만, 한 벌을 입는 횟수는 줄었다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896112" y="598932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BDBDBD"/>
                </a:solidFill>
                <a:latin typeface="Malgun Gothic"/>
                <a:ea typeface="Malgun Gothic"/>
              </a:rPr>
              <a:t xml:space="preserve">출처: Ellen MacArthur Foundation, A New Textiles Economy (2017)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4892040" y="1783080"/>
            <a:ext cx="668426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100">
                <a:solidFill>
                  <a:srgbClr val="7B1E2B"/>
                </a:solidFill>
                <a:latin typeface="Georgia"/>
                <a:ea typeface="Malgun Gothic"/>
              </a:rPr>
              <a:t xml:space="preserve">HOW · </a:t>
            </a:r>
            <a:r>
              <a:rPr lang="ko-KR" sz="1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웨어리가 하는 일</a:t>
            </a:r>
          </a:p>
        </p:txBody>
      </p:sp>
      <p:sp>
        <p:nvSpPr>
          <p:cNvPr id="112" name="Shape 112"/>
          <p:cNvSpPr/>
          <p:nvPr/>
        </p:nvSpPr>
        <p:spPr>
          <a:xfrm>
            <a:off x="4892040" y="2103120"/>
            <a:ext cx="1938528" cy="914400"/>
          </a:xfrm>
          <a:prstGeom prst="rect">
            <a:avLst/>
          </a:prstGeom>
          <a:solidFill>
            <a:srgbClr val="EEE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3"/>
          <p:cNvSpPr txBox="1"/>
          <p:nvPr/>
        </p:nvSpPr>
        <p:spPr>
          <a:xfrm>
            <a:off x="5056632" y="21762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500" b="0" i="1" spc="0">
                <a:solidFill>
                  <a:srgbClr val="7B1E2B"/>
                </a:solidFill>
                <a:latin typeface="Georgia"/>
                <a:ea typeface="Malgun Gothic"/>
              </a:rPr>
              <a:t xml:space="preserve">01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5056632" y="2459736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4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잠자는 옷 발견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5056632" y="2752344"/>
            <a:ext cx="17099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장기 미착용 · 활용률 분석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6910578" y="24414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1400" b="0" i="0" spc="0">
                <a:solidFill>
                  <a:srgbClr val="7B1E2B"/>
                </a:solidFill>
                <a:latin typeface="Georgia"/>
                <a:ea typeface="Malgun Gothic"/>
              </a:rPr>
              <a:t xml:space="preserve">→</a:t>
            </a:r>
          </a:p>
        </p:txBody>
      </p:sp>
      <p:sp>
        <p:nvSpPr>
          <p:cNvPr id="117" name="Shape 117"/>
          <p:cNvSpPr/>
          <p:nvPr/>
        </p:nvSpPr>
        <p:spPr>
          <a:xfrm>
            <a:off x="7264908" y="2103120"/>
            <a:ext cx="1938528" cy="914400"/>
          </a:xfrm>
          <a:prstGeom prst="rect">
            <a:avLst/>
          </a:prstGeom>
          <a:solidFill>
            <a:srgbClr val="EEE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8"/>
          <p:cNvSpPr txBox="1"/>
          <p:nvPr/>
        </p:nvSpPr>
        <p:spPr>
          <a:xfrm>
            <a:off x="7429500" y="21762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500" b="0" i="1" spc="0">
                <a:solidFill>
                  <a:srgbClr val="7B1E2B"/>
                </a:solidFill>
                <a:latin typeface="Georgia"/>
                <a:ea typeface="Malgun Gothic"/>
              </a:rPr>
              <a:t xml:space="preserve">02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7429500" y="2459736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4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다시 입는 코디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7429500" y="2752344"/>
            <a:ext cx="17099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잠자는 옷을 살리는 조합 추천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9283446" y="24414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1400" b="0" i="0" spc="0">
                <a:solidFill>
                  <a:srgbClr val="7B1E2B"/>
                </a:solidFill>
                <a:latin typeface="Georgia"/>
                <a:ea typeface="Malgun Gothic"/>
              </a:rPr>
              <a:t xml:space="preserve">→</a:t>
            </a:r>
          </a:p>
        </p:txBody>
      </p:sp>
      <p:sp>
        <p:nvSpPr>
          <p:cNvPr id="122" name="Shape 122"/>
          <p:cNvSpPr/>
          <p:nvPr/>
        </p:nvSpPr>
        <p:spPr>
          <a:xfrm>
            <a:off x="9637776" y="2103120"/>
            <a:ext cx="1938528" cy="914400"/>
          </a:xfrm>
          <a:prstGeom prst="rect">
            <a:avLst/>
          </a:prstGeom>
          <a:solidFill>
            <a:srgbClr val="EEE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3"/>
          <p:cNvSpPr txBox="1"/>
          <p:nvPr/>
        </p:nvSpPr>
        <p:spPr>
          <a:xfrm>
            <a:off x="9802368" y="21762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500" b="0" i="1" spc="0">
                <a:solidFill>
                  <a:srgbClr val="7B1E2B"/>
                </a:solidFill>
                <a:latin typeface="Georgia"/>
                <a:ea typeface="Malgun Gothic"/>
              </a:rPr>
              <a:t xml:space="preserve">03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9802368" y="2459736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4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사기 전에 확인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9802368" y="2752344"/>
            <a:ext cx="17099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보유 옷과 코디 수 먼저 제시</a:t>
            </a:r>
          </a:p>
        </p:txBody>
      </p:sp>
      <p:cxnSp>
        <p:nvCxnSpPr>
          <p:cNvPr id="126" name="Connector 126"/>
          <p:cNvCxnSpPr/>
          <p:nvPr/>
        </p:nvCxnSpPr>
        <p:spPr>
          <a:xfrm>
            <a:off x="4892040" y="3200400"/>
            <a:ext cx="6684264" cy="0"/>
          </a:xfrm>
          <a:prstGeom prst="line">
            <a:avLst/>
          </a:prstGeom>
          <a:ln w="9525">
            <a:solidFill>
              <a:srgbClr val="C2C3C1"/>
            </a:solidFill>
          </a:ln>
        </p:spPr>
      </p:cxnSp>
      <p:sp>
        <p:nvSpPr>
          <p:cNvPr id="127" name="TextBox 127"/>
          <p:cNvSpPr txBox="1"/>
          <p:nvPr/>
        </p:nvSpPr>
        <p:spPr>
          <a:xfrm>
            <a:off x="4892040" y="3319272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4800" b="1" i="0" spc="0">
                <a:solidFill>
                  <a:srgbClr val="7B1E2B"/>
                </a:solidFill>
                <a:latin typeface="Georgia"/>
                <a:ea typeface="Malgun Gothic"/>
              </a:rPr>
              <a:t xml:space="preserve">“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394960" y="3410712"/>
            <a:ext cx="61813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23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한 벌 더 입을수록, </a:t>
            </a:r>
            <a:r>
              <a:rPr lang="ko-KR" sz="23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한 벌 덜 산다.</a:t>
            </a:r>
            <a:r>
              <a:rPr lang="ko-KR" sz="2300" b="1" i="0" spc="0">
                <a:solidFill>
                  <a:srgbClr val="111111"/>
                </a:solidFill>
                <a:latin typeface="Georgia"/>
                <a:ea typeface="Malgun Gothic"/>
              </a:rPr>
              <a:t xml:space="preserve">”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5440680" y="3913632"/>
            <a:ext cx="613562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5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새 옷 대신 옷장 안의 옷을 꺼내 입게 하는 것이 웨어리가 환경에 기여하는 방식이다</a:t>
            </a:r>
          </a:p>
        </p:txBody>
      </p:sp>
      <p:cxnSp>
        <p:nvCxnSpPr>
          <p:cNvPr id="130" name="Connector 130"/>
          <p:cNvCxnSpPr/>
          <p:nvPr/>
        </p:nvCxnSpPr>
        <p:spPr>
          <a:xfrm>
            <a:off x="4892040" y="4297680"/>
            <a:ext cx="6684264" cy="0"/>
          </a:xfrm>
          <a:prstGeom prst="line">
            <a:avLst/>
          </a:prstGeom>
          <a:ln w="9525">
            <a:solidFill>
              <a:srgbClr val="C2C3C1"/>
            </a:solidFill>
          </a:ln>
        </p:spPr>
      </p:cxnSp>
      <p:sp>
        <p:nvSpPr>
          <p:cNvPr id="131" name="TextBox 131"/>
          <p:cNvSpPr txBox="1"/>
          <p:nvPr/>
        </p:nvSpPr>
        <p:spPr>
          <a:xfrm>
            <a:off x="4892040" y="4462272"/>
            <a:ext cx="311353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100">
                <a:solidFill>
                  <a:srgbClr val="7B1E2B"/>
                </a:solidFill>
                <a:latin typeface="Georgia"/>
                <a:ea typeface="Malgun Gothic"/>
              </a:rPr>
              <a:t xml:space="preserve">APPLY · </a:t>
            </a:r>
            <a:r>
              <a:rPr lang="ko-KR" sz="1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서비스 적용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4892040" y="4800600"/>
            <a:ext cx="3113532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lang="ko-KR" sz="105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•  </a:t>
            </a:r>
            <a:r>
              <a:rPr lang="ko-KR" sz="11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추천 시 최근 안 입은 옷에 가산점</a:t>
            </a:r>
          </a:p>
          <a:p>
            <a:pPr algn="l">
              <a:spcAft>
                <a:spcPts val="700"/>
              </a:spcAft>
            </a:pPr>
            <a:r>
              <a:rPr lang="ko-KR" sz="105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•  </a:t>
            </a:r>
            <a:r>
              <a:rPr lang="ko-KR" sz="11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“나의 지속가능성” 월간 리포트 (목업 p.44)</a:t>
            </a:r>
          </a:p>
          <a:p>
            <a:pPr algn="l">
              <a:spcAft>
                <a:spcPts val="700"/>
              </a:spcAft>
            </a:pPr>
            <a:r>
              <a:rPr lang="ko-KR" sz="105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•  </a:t>
            </a:r>
            <a:r>
              <a:rPr lang="ko-KR" sz="11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구매 전 미리보기로 충동 구매 줄이기</a:t>
            </a:r>
          </a:p>
          <a:p>
            <a:pPr algn="l">
              <a:spcAft>
                <a:spcPts val="700"/>
              </a:spcAft>
            </a:pPr>
            <a:r>
              <a:rPr lang="ko-KR" sz="105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•  </a:t>
            </a:r>
            <a:r>
              <a:rPr lang="ko-KR" sz="11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정리 후보는 기부 · 리폼 안내로 연결</a:t>
            </a:r>
          </a:p>
        </p:txBody>
      </p:sp>
      <p:cxnSp>
        <p:nvCxnSpPr>
          <p:cNvPr id="133" name="Connector 133"/>
          <p:cNvCxnSpPr/>
          <p:nvPr/>
        </p:nvCxnSpPr>
        <p:spPr>
          <a:xfrm>
            <a:off x="8234172" y="4480560"/>
            <a:ext cx="0" cy="1783080"/>
          </a:xfrm>
          <a:prstGeom prst="line">
            <a:avLst/>
          </a:prstGeom>
          <a:ln w="9525">
            <a:solidFill>
              <a:srgbClr val="C2C3C1"/>
            </a:solidFill>
          </a:ln>
        </p:spPr>
      </p:cxnSp>
      <p:sp>
        <p:nvSpPr>
          <p:cNvPr id="134" name="TextBox 134"/>
          <p:cNvSpPr txBox="1"/>
          <p:nvPr/>
        </p:nvSpPr>
        <p:spPr>
          <a:xfrm>
            <a:off x="8462772" y="4462272"/>
            <a:ext cx="311353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100">
                <a:solidFill>
                  <a:srgbClr val="7B1E2B"/>
                </a:solidFill>
                <a:latin typeface="Georgia"/>
                <a:ea typeface="Malgun Gothic"/>
              </a:rPr>
              <a:t xml:space="preserve">MEASURE · </a:t>
            </a:r>
            <a:r>
              <a:rPr lang="ko-KR" sz="1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지속가능성 지표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8462772" y="4800600"/>
            <a:ext cx="3113532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lang="ko-KR" sz="105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•  </a:t>
            </a:r>
            <a:r>
              <a:rPr lang="ko-KR" sz="11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잠자는 옷 재착용 수 (월)</a:t>
            </a:r>
          </a:p>
          <a:p>
            <a:pPr algn="l">
              <a:spcAft>
                <a:spcPts val="700"/>
              </a:spcAft>
            </a:pPr>
            <a:r>
              <a:rPr lang="ko-KR" sz="105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•  </a:t>
            </a:r>
            <a:r>
              <a:rPr lang="ko-KR" sz="11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옷장 활용률 변화</a:t>
            </a:r>
          </a:p>
          <a:p>
            <a:pPr algn="l">
              <a:spcAft>
                <a:spcPts val="700"/>
              </a:spcAft>
            </a:pPr>
            <a:r>
              <a:rPr lang="ko-KR" sz="105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•  </a:t>
            </a:r>
            <a:r>
              <a:rPr lang="ko-KR" sz="11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미리보기 후 구매 보류 비율</a:t>
            </a:r>
          </a:p>
          <a:p>
            <a:pPr algn="l">
              <a:spcAft>
                <a:spcPts val="700"/>
              </a:spcAft>
            </a:pPr>
            <a:r>
              <a:rPr lang="ko-KR" sz="105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•  </a:t>
            </a:r>
            <a:r>
              <a:rPr lang="ko-KR" sz="11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1벌당 평균 착용 횟수</a:t>
            </a:r>
          </a:p>
        </p:txBody>
      </p:sp>
      <p:cxnSp>
        <p:nvCxnSpPr>
          <p:cNvPr id="136" name="Connector 136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9525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21792" y="3383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0">
                <a:solidFill>
                  <a:srgbClr val="7B1E2B"/>
                </a:solidFill>
                <a:latin typeface="Georgia"/>
                <a:ea typeface="Malgun Gothic"/>
              </a:rPr>
              <a:t>N°05  </a:t>
            </a:r>
            <a:r>
              <a:rPr lang="ko-KR" sz="900" b="0" i="1" spc="0">
                <a:solidFill>
                  <a:srgbClr val="7B1E2B"/>
                </a:solidFill>
                <a:latin typeface="Georgia"/>
                <a:ea typeface="Malgun Gothic"/>
              </a:rPr>
              <a:t>Architecture</a:t>
            </a:r>
            <a:r>
              <a:rPr lang="ko-KR" sz="900" b="0" i="0" spc="0">
                <a:solidFill>
                  <a:srgbClr val="8E8E8E"/>
                </a:solidFill>
                <a:latin typeface="Malgun Gothic"/>
                <a:ea typeface="Malgun Gothic"/>
              </a:rPr>
              <a:t>   |   운영 정책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80960" y="338328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3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회원 등급별 </a:t>
            </a:r>
            <a:r>
              <a:rPr lang="ko-KR" sz="3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이용 정책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124358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로컬 진단은 서버 비용이 없으므로 가볍게 열고, 비용이 드는 </a:t>
            </a:r>
            <a:r>
              <a:rPr lang="ko-KR" sz="11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서버 기능에만 계정 단위 제한</a:t>
            </a: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을 건다</a:t>
            </a:r>
          </a:p>
        </p:txBody>
      </p:sp>
      <p:cxnSp>
        <p:nvCxnSpPr>
          <p:cNvPr id="6" name="Connector 6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7" name="TextBox 7"/>
          <p:cNvSpPr txBox="1"/>
          <p:nvPr/>
        </p:nvSpPr>
        <p:spPr>
          <a:xfrm>
            <a:off x="640080" y="6528816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5C5C5C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15600" y="651052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5C5C5C"/>
                </a:solidFill>
                <a:latin typeface="Georgia"/>
                <a:ea typeface="Malgun Gothic"/>
              </a:rPr>
              <a:t>— 33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621792" y="1664208"/>
            <a:ext cx="1095451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100">
                <a:solidFill>
                  <a:srgbClr val="7B1E2B"/>
                </a:solidFill>
                <a:latin typeface="Georgia"/>
                <a:ea typeface="Malgun Gothic"/>
              </a:rPr>
              <a:t xml:space="preserve">TIER · </a:t>
            </a:r>
            <a:r>
              <a:rPr lang="ko-KR" sz="9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회원 등급별 이용 범위</a:t>
            </a:r>
          </a:p>
        </p:txBody>
      </p:sp>
      <p:sp>
        <p:nvSpPr>
          <p:cNvPr id="102" name="Shape 102"/>
          <p:cNvSpPr/>
          <p:nvPr/>
        </p:nvSpPr>
        <p:spPr>
          <a:xfrm>
            <a:off x="5925312" y="1956816"/>
            <a:ext cx="2907792" cy="2304288"/>
          </a:xfrm>
          <a:prstGeom prst="rect">
            <a:avLst/>
          </a:prstGeom>
          <a:solidFill>
            <a:srgbClr val="EEE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3"/>
          <p:cNvSpPr txBox="1"/>
          <p:nvPr/>
        </p:nvSpPr>
        <p:spPr>
          <a:xfrm>
            <a:off x="749808" y="1975104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기능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3401568" y="1975104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비회원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6053328" y="1975104"/>
            <a:ext cx="2724912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무료회원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8961120" y="1975104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프리미엄</a:t>
            </a:r>
          </a:p>
        </p:txBody>
      </p:sp>
      <p:cxnSp>
        <p:nvCxnSpPr>
          <p:cNvPr id="107" name="Connector 107"/>
          <p:cNvCxnSpPr/>
          <p:nvPr/>
        </p:nvCxnSpPr>
        <p:spPr>
          <a:xfrm>
            <a:off x="621792" y="2286000"/>
            <a:ext cx="10954512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08" name="TextBox 108"/>
          <p:cNvSpPr txBox="1"/>
          <p:nvPr/>
        </p:nvSpPr>
        <p:spPr>
          <a:xfrm>
            <a:off x="749808" y="23042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로컬 진단 (기기 안)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3401568" y="23042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하루 3회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6053328" y="2304288"/>
            <a:ext cx="2724912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제한 없음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8961120" y="2304288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제한 없음</a:t>
            </a:r>
          </a:p>
        </p:txBody>
      </p:sp>
      <p:cxnSp>
        <p:nvCxnSpPr>
          <p:cNvPr id="112" name="Connector 112"/>
          <p:cNvCxnSpPr/>
          <p:nvPr/>
        </p:nvCxnSpPr>
        <p:spPr>
          <a:xfrm>
            <a:off x="621792" y="2615184"/>
            <a:ext cx="10954512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13" name="TextBox 113"/>
          <p:cNvSpPr txBox="1"/>
          <p:nvPr/>
        </p:nvSpPr>
        <p:spPr>
          <a:xfrm>
            <a:off x="749808" y="263347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처방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3401568" y="263347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기본 팁 2개 (규칙 기반)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6053328" y="2633472"/>
            <a:ext cx="2724912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기본 팁 + 내 옷장 교체 제안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8961120" y="2633472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AI 맞춤 처방 문구</a:t>
            </a:r>
          </a:p>
        </p:txBody>
      </p:sp>
      <p:cxnSp>
        <p:nvCxnSpPr>
          <p:cNvPr id="117" name="Connector 117"/>
          <p:cNvCxnSpPr/>
          <p:nvPr/>
        </p:nvCxnSpPr>
        <p:spPr>
          <a:xfrm>
            <a:off x="621792" y="2944368"/>
            <a:ext cx="10954512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18" name="TextBox 118"/>
          <p:cNvSpPr txBox="1"/>
          <p:nvPr/>
        </p:nvSpPr>
        <p:spPr>
          <a:xfrm>
            <a:off x="749808" y="2962656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서버 분석 (데일리 진단 등)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3401568" y="2962656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불가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6053328" y="2962656"/>
            <a:ext cx="2724912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하루 1회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961120" y="2962656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제한 없음</a:t>
            </a:r>
          </a:p>
        </p:txBody>
      </p:sp>
      <p:cxnSp>
        <p:nvCxnSpPr>
          <p:cNvPr id="122" name="Connector 122"/>
          <p:cNvCxnSpPr/>
          <p:nvPr/>
        </p:nvCxnSpPr>
        <p:spPr>
          <a:xfrm>
            <a:off x="621792" y="3273552"/>
            <a:ext cx="10954512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23" name="TextBox 123"/>
          <p:cNvSpPr txBox="1"/>
          <p:nvPr/>
        </p:nvSpPr>
        <p:spPr>
          <a:xfrm>
            <a:off x="749808" y="329184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저사양 기기 서버 분석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3401568" y="329184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불가 · 안내만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6053328" y="3291840"/>
            <a:ext cx="2724912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하루 1회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8961120" y="3291840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제한 없음</a:t>
            </a:r>
          </a:p>
        </p:txBody>
      </p:sp>
      <p:cxnSp>
        <p:nvCxnSpPr>
          <p:cNvPr id="127" name="Connector 127"/>
          <p:cNvCxnSpPr/>
          <p:nvPr/>
        </p:nvCxnSpPr>
        <p:spPr>
          <a:xfrm>
            <a:off x="621792" y="3602736"/>
            <a:ext cx="10954512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28" name="TextBox 128"/>
          <p:cNvSpPr txBox="1"/>
          <p:nvPr/>
        </p:nvSpPr>
        <p:spPr>
          <a:xfrm>
            <a:off x="749808" y="3621024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주간 · 월간 리포트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3401568" y="3621024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불가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6053328" y="3621024"/>
            <a:ext cx="2724912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월간 요약만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8961120" y="3621024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주간 + 월간 전체</a:t>
            </a:r>
          </a:p>
        </p:txBody>
      </p:sp>
      <p:cxnSp>
        <p:nvCxnSpPr>
          <p:cNvPr id="132" name="Connector 132"/>
          <p:cNvCxnSpPr/>
          <p:nvPr/>
        </p:nvCxnSpPr>
        <p:spPr>
          <a:xfrm>
            <a:off x="621792" y="3931920"/>
            <a:ext cx="10954512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33" name="TextBox 133"/>
          <p:cNvSpPr txBox="1"/>
          <p:nvPr/>
        </p:nvSpPr>
        <p:spPr>
          <a:xfrm>
            <a:off x="749808" y="395020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결과 보관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3401568" y="395020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이 기기만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6053328" y="3950208"/>
            <a:ext cx="2724912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서버 30일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8961120" y="3950208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계속 보관</a:t>
            </a:r>
          </a:p>
        </p:txBody>
      </p:sp>
      <p:cxnSp>
        <p:nvCxnSpPr>
          <p:cNvPr id="137" name="Connector 137"/>
          <p:cNvCxnSpPr/>
          <p:nvPr/>
        </p:nvCxnSpPr>
        <p:spPr>
          <a:xfrm>
            <a:off x="621792" y="4261104"/>
            <a:ext cx="10954512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38" name="Shape 138"/>
          <p:cNvSpPr/>
          <p:nvPr/>
        </p:nvSpPr>
        <p:spPr>
          <a:xfrm>
            <a:off x="621792" y="4535424"/>
            <a:ext cx="5340096" cy="1837944"/>
          </a:xfrm>
          <a:prstGeom prst="rect">
            <a:avLst/>
          </a:prstGeom>
          <a:solidFill>
            <a:srgbClr val="FFFFFF"/>
          </a:solidFill>
          <a:ln w="9525">
            <a:solidFill>
              <a:srgbClr val="CFCB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9"/>
          <p:cNvSpPr txBox="1"/>
          <p:nvPr/>
        </p:nvSpPr>
        <p:spPr>
          <a:xfrm>
            <a:off x="822960" y="4672584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200" b="0" i="1" spc="0">
                <a:solidFill>
                  <a:srgbClr val="111111"/>
                </a:solidFill>
                <a:latin typeface="Georgia"/>
                <a:ea typeface="Malgun Gothic"/>
              </a:rPr>
              <a:t xml:space="preserve">Cost</a:t>
            </a:r>
            <a:r>
              <a:rPr lang="ko-KR" sz="1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   비용이 생기는 지점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822960" y="4992624"/>
            <a:ext cx="4937760" cy="1289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기기 안 분석: 서버 비용 없음 (사용자 기기 자원)</a:t>
            </a:r>
          </a:p>
          <a:p>
            <a:pPr algn="l">
              <a:spcAft>
                <a:spcPts val="40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처방을 생성형 AI로 만들면 호출마다 토큰 비용 → 프리미엄 한정</a:t>
            </a:r>
          </a:p>
          <a:p>
            <a:pPr algn="l">
              <a:spcAft>
                <a:spcPts val="40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저사양 기기를 서버 분석으로 넘기면 건당 비용 → 회원만, 하루 횟수 제한</a:t>
            </a:r>
          </a:p>
          <a:p>
            <a:pPr algn="l">
              <a:spcAft>
                <a:spcPts val="40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분석 모델 다운로드는 첫 실행 1회, 이후 캐시</a:t>
            </a:r>
          </a:p>
        </p:txBody>
      </p:sp>
      <p:sp>
        <p:nvSpPr>
          <p:cNvPr id="141" name="Shape 141"/>
          <p:cNvSpPr/>
          <p:nvPr/>
        </p:nvSpPr>
        <p:spPr>
          <a:xfrm>
            <a:off x="6236208" y="4535424"/>
            <a:ext cx="5340096" cy="183794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TextBox 142"/>
          <p:cNvSpPr txBox="1"/>
          <p:nvPr/>
        </p:nvSpPr>
        <p:spPr>
          <a:xfrm>
            <a:off x="6437376" y="4672584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200" b="0" i="1" spc="0">
                <a:solidFill>
                  <a:srgbClr val="D5B990"/>
                </a:solidFill>
                <a:latin typeface="Georgia"/>
                <a:ea typeface="Malgun Gothic"/>
              </a:rPr>
              <a:t xml:space="preserve">Rule</a:t>
            </a:r>
            <a:r>
              <a:rPr lang="ko-KR" sz="1000" b="1" i="0" spc="0">
                <a:solidFill>
                  <a:srgbClr val="FFFFFF"/>
                </a:solidFill>
                <a:latin typeface="Malgun Gothic"/>
                <a:ea typeface="Malgun Gothic"/>
              </a:rPr>
              <a:t xml:space="preserve">   제한 운영 원칙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6437376" y="4992624"/>
            <a:ext cx="4937760" cy="1289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ko-KR" sz="1000" b="0" i="0" spc="0">
                <a:solidFill>
                  <a:srgbClr val="FFFFFF"/>
                </a:solidFill>
                <a:latin typeface="Malgun Gothic"/>
                <a:ea typeface="Malgun Gothic"/>
              </a:rPr>
              <a:t xml:space="preserve">·  비용 방어는 서버 기능에만: 계정 단위로 하루 횟수를 세고 넘으면 차단</a:t>
            </a:r>
          </a:p>
          <a:p>
            <a:pPr algn="l">
              <a:spcAft>
                <a:spcPts val="400"/>
              </a:spcAft>
            </a:pPr>
            <a:r>
              <a:rPr lang="ko-KR" sz="1000" b="0" i="0" spc="0">
                <a:solidFill>
                  <a:srgbClr val="FFFFFF"/>
                </a:solidFill>
                <a:latin typeface="Malgun Gothic"/>
                <a:ea typeface="Malgun Gothic"/>
              </a:rPr>
              <a:t xml:space="preserve">·  비회원 횟수는 기기에서 세므로 초기화 가능 → 가입 유도 장치로 사용</a:t>
            </a:r>
          </a:p>
          <a:p>
            <a:pPr algn="l">
              <a:spcAft>
                <a:spcPts val="400"/>
              </a:spcAft>
            </a:pPr>
            <a:r>
              <a:rPr lang="ko-KR" sz="1000" b="0" i="0" spc="0">
                <a:solidFill>
                  <a:srgbClr val="FFFFFF"/>
                </a:solidFill>
                <a:latin typeface="Malgun Gothic"/>
                <a:ea typeface="Malgun Gothic"/>
              </a:rPr>
              <a:t xml:space="preserve">·  한도 도달 시 “가입하면 계속 이용” 안내로 전환 연결</a:t>
            </a:r>
          </a:p>
          <a:p>
            <a:pPr algn="l">
              <a:spcAft>
                <a:spcPts val="400"/>
              </a:spcAft>
            </a:pPr>
            <a:r>
              <a:rPr lang="ko-KR" sz="1000" b="0" i="0" spc="0">
                <a:solidFill>
                  <a:srgbClr val="FFFFFF"/>
                </a:solidFill>
                <a:latin typeface="Malgun Gothic"/>
                <a:ea typeface="Malgun Gothic"/>
              </a:rPr>
              <a:t xml:space="preserve">·  한도 수치는 초기 가설, 베타의 코디당 AI 비용 지표로 조정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21792" y="3383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0">
                <a:solidFill>
                  <a:srgbClr val="7B1E2B"/>
                </a:solidFill>
                <a:latin typeface="Georgia"/>
                <a:ea typeface="Malgun Gothic"/>
              </a:rPr>
              <a:t>N°03  </a:t>
            </a:r>
            <a:r>
              <a:rPr lang="ko-KR" sz="900" b="0" i="1" spc="0">
                <a:solidFill>
                  <a:srgbClr val="7B1E2B"/>
                </a:solidFill>
                <a:latin typeface="Georgia"/>
                <a:ea typeface="Malgun Gothic"/>
              </a:rPr>
              <a:t>UX &amp; Screens</a:t>
            </a:r>
            <a:r>
              <a:rPr lang="ko-KR" sz="900" b="0" i="0" spc="0">
                <a:solidFill>
                  <a:srgbClr val="8E8E8E"/>
                </a:solidFill>
                <a:latin typeface="Malgun Gothic"/>
                <a:ea typeface="Malgun Gothic"/>
              </a:rPr>
              <a:t>   |   UX·화면 설계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80960" y="338328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3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화면 설계 ⑧ 근무 패턴 · </a:t>
            </a:r>
            <a:r>
              <a:rPr lang="ko-KR" sz="3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근무일 맞춤 추천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124358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근무 요일을 등록하면, </a:t>
            </a:r>
            <a:r>
              <a:rPr lang="ko-KR" sz="11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근무일엔 출근 스타일로</a:t>
            </a: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 · 쉬는 날엔 편한 데일리 코디로 추천한다</a:t>
            </a:r>
          </a:p>
        </p:txBody>
      </p:sp>
      <p:cxnSp>
        <p:nvCxnSpPr>
          <p:cNvPr id="6" name="Connector 6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7" name="TextBox 7"/>
          <p:cNvSpPr txBox="1"/>
          <p:nvPr/>
        </p:nvSpPr>
        <p:spPr>
          <a:xfrm>
            <a:off x="640080" y="6528816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5C5C5C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15600" y="651052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5C5C5C"/>
                </a:solidFill>
                <a:latin typeface="Georgia"/>
                <a:ea typeface="Malgun Gothic"/>
              </a:rPr>
              <a:t>— 20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621792" y="1645920"/>
            <a:ext cx="207253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1" spc="0">
                <a:solidFill>
                  <a:srgbClr val="7B1E2B"/>
                </a:solidFill>
                <a:latin typeface="Georgia"/>
                <a:ea typeface="Malgun Gothic"/>
              </a:rPr>
              <a:t xml:space="preserve">01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21792" y="1847088"/>
            <a:ext cx="21639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3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근무 패턴 등록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21792" y="2103120"/>
            <a:ext cx="216397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스타일 설정 · 선택 입력</a:t>
            </a:r>
          </a:p>
        </p:txBody>
      </p:sp>
      <p:pic>
        <p:nvPicPr>
          <p:cNvPr id="104" name="근무 패턴 등록" descr="근무 패턴 등록"/>
          <p:cNvPicPr>
            <a:picLocks noChangeAspect="1"/>
          </p:cNvPicPr>
          <p:nvPr/>
        </p:nvPicPr>
        <p:blipFill>
          <a:blip r:embed="rIdW1"/>
          <a:stretch>
            <a:fillRect/>
          </a:stretch>
        </p:blipFill>
        <p:spPr>
          <a:xfrm>
            <a:off x="621792" y="2395728"/>
            <a:ext cx="1889654" cy="3977640"/>
          </a:xfrm>
          <a:prstGeom prst="rect">
            <a:avLst/>
          </a:prstGeom>
        </p:spPr>
      </p:pic>
      <p:sp>
        <p:nvSpPr>
          <p:cNvPr id="105" name="TextBox 105"/>
          <p:cNvSpPr txBox="1"/>
          <p:nvPr/>
        </p:nvSpPr>
        <p:spPr>
          <a:xfrm>
            <a:off x="2580026" y="42473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1400" b="0" i="0" spc="0">
                <a:solidFill>
                  <a:srgbClr val="7B1E2B"/>
                </a:solidFill>
                <a:latin typeface="Georgia"/>
                <a:ea typeface="Malgun Gothic"/>
              </a:rPr>
              <a:t xml:space="preserve">→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2922926" y="1645920"/>
            <a:ext cx="207253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1" spc="0">
                <a:solidFill>
                  <a:srgbClr val="7B1E2B"/>
                </a:solidFill>
                <a:latin typeface="Georgia"/>
                <a:ea typeface="Malgun Gothic"/>
              </a:rPr>
              <a:t xml:space="preserve">02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2922926" y="1847088"/>
            <a:ext cx="21639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3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추천 기준 선택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2922926" y="2103120"/>
            <a:ext cx="216397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근무일 · 휴무일 토글</a:t>
            </a:r>
          </a:p>
        </p:txBody>
      </p:sp>
      <p:pic>
        <p:nvPicPr>
          <p:cNvPr id="109" name="추천 기준 선택" descr="추천 기준 선택"/>
          <p:cNvPicPr>
            <a:picLocks noChangeAspect="1"/>
          </p:cNvPicPr>
          <p:nvPr/>
        </p:nvPicPr>
        <p:blipFill>
          <a:blip r:embed="rIdW2"/>
          <a:stretch>
            <a:fillRect/>
          </a:stretch>
        </p:blipFill>
        <p:spPr>
          <a:xfrm>
            <a:off x="2922926" y="2395728"/>
            <a:ext cx="1889654" cy="3977640"/>
          </a:xfrm>
          <a:prstGeom prst="rect">
            <a:avLst/>
          </a:prstGeom>
        </p:spPr>
      </p:pic>
      <p:sp>
        <p:nvSpPr>
          <p:cNvPr id="110" name="TextBox 110"/>
          <p:cNvSpPr txBox="1"/>
          <p:nvPr/>
        </p:nvSpPr>
        <p:spPr>
          <a:xfrm>
            <a:off x="4881161" y="42473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1400" b="0" i="0" spc="0">
                <a:solidFill>
                  <a:srgbClr val="7B1E2B"/>
                </a:solidFill>
                <a:latin typeface="Georgia"/>
                <a:ea typeface="Malgun Gothic"/>
              </a:rPr>
              <a:t xml:space="preserve">→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5224061" y="1645920"/>
            <a:ext cx="207253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1" spc="0">
                <a:solidFill>
                  <a:srgbClr val="7B1E2B"/>
                </a:solidFill>
                <a:latin typeface="Georgia"/>
                <a:ea typeface="Malgun Gothic"/>
              </a:rPr>
              <a:t xml:space="preserve">03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5224061" y="1847088"/>
            <a:ext cx="21639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3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홈에 근무일 표시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5224061" y="2103120"/>
            <a:ext cx="216397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근무일엔 출근 코디로</a:t>
            </a:r>
          </a:p>
        </p:txBody>
      </p:sp>
      <p:pic>
        <p:nvPicPr>
          <p:cNvPr id="114" name="홈에 근무일 표시" descr="홈에 근무일 표시"/>
          <p:cNvPicPr>
            <a:picLocks noChangeAspect="1"/>
          </p:cNvPicPr>
          <p:nvPr/>
        </p:nvPicPr>
        <p:blipFill>
          <a:blip r:embed="rIdW3"/>
          <a:stretch>
            <a:fillRect/>
          </a:stretch>
        </p:blipFill>
        <p:spPr>
          <a:xfrm>
            <a:off x="5224061" y="2395728"/>
            <a:ext cx="1889654" cy="3977640"/>
          </a:xfrm>
          <a:prstGeom prst="rect">
            <a:avLst/>
          </a:prstGeom>
        </p:spPr>
      </p:pic>
      <p:sp>
        <p:nvSpPr>
          <p:cNvPr id="115" name="TextBox 115"/>
          <p:cNvSpPr txBox="1"/>
          <p:nvPr/>
        </p:nvSpPr>
        <p:spPr>
          <a:xfrm>
            <a:off x="7616635" y="1645920"/>
            <a:ext cx="395966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100">
                <a:solidFill>
                  <a:srgbClr val="7B1E2B"/>
                </a:solidFill>
                <a:latin typeface="Georgia"/>
                <a:ea typeface="Malgun Gothic"/>
              </a:rPr>
              <a:t xml:space="preserve">INPUT · </a:t>
            </a:r>
            <a:r>
              <a:rPr lang="ko-KR" sz="9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입력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7616635" y="1892808"/>
            <a:ext cx="3959669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근무 형태: 평일 · 주말 · 요일 직접 선택</a:t>
            </a:r>
          </a:p>
          <a:p>
            <a:pPr algn="l">
              <a:spcAft>
                <a:spcPts val="2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근무 요일은 탭으로 토글, 건너뛰어도 사용 가능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7616635" y="2514600"/>
            <a:ext cx="395966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100">
                <a:solidFill>
                  <a:srgbClr val="7B1E2B"/>
                </a:solidFill>
                <a:latin typeface="Georgia"/>
                <a:ea typeface="Malgun Gothic"/>
              </a:rPr>
              <a:t xml:space="preserve">RULE · </a:t>
            </a:r>
            <a:r>
              <a:rPr lang="ko-KR" sz="9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추천 규칙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7616635" y="2761488"/>
            <a:ext cx="3959669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근무일: 출근 복장 기준, 상황 “출근”으로 추천</a:t>
            </a:r>
          </a:p>
          <a:p>
            <a:pPr algn="l">
              <a:spcAft>
                <a:spcPts val="2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휴무일: 편한 데일리 · 주말 코디로 추천</a:t>
            </a:r>
          </a:p>
          <a:p>
            <a:pPr algn="l">
              <a:spcAft>
                <a:spcPts val="2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두 규칙은 각각 토글로 끌 수 있음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7616635" y="3602736"/>
            <a:ext cx="395966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100">
                <a:solidFill>
                  <a:srgbClr val="7B1E2B"/>
                </a:solidFill>
                <a:latin typeface="Georgia"/>
                <a:ea typeface="Malgun Gothic"/>
              </a:rPr>
              <a:t xml:space="preserve">HOME · </a:t>
            </a:r>
            <a:r>
              <a:rPr lang="ko-KR" sz="9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홈 표시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7616635" y="3849624"/>
            <a:ext cx="3959669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“근무일” 배지 + 출근 코디로 추천했다는 안내</a:t>
            </a:r>
          </a:p>
          <a:p>
            <a:pPr algn="l">
              <a:spcAft>
                <a:spcPts val="200"/>
              </a:spcAft>
            </a:pPr>
            <a:r>
              <a:rPr lang="ko-KR" sz="105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다음 날 근무 여부 미리 알림 (내일도 근무일)</a:t>
            </a:r>
          </a:p>
        </p:txBody>
      </p:sp>
      <p:cxnSp>
        <p:nvCxnSpPr>
          <p:cNvPr id="121" name="Connector 121"/>
          <p:cNvCxnSpPr/>
          <p:nvPr/>
        </p:nvCxnSpPr>
        <p:spPr>
          <a:xfrm>
            <a:off x="7616635" y="4398264"/>
            <a:ext cx="3959669" cy="0"/>
          </a:xfrm>
          <a:prstGeom prst="line">
            <a:avLst/>
          </a:prstGeom>
          <a:ln w="9525">
            <a:solidFill>
              <a:srgbClr val="CFCBC4"/>
            </a:solidFill>
          </a:ln>
        </p:spPr>
      </p:cxnSp>
      <p:sp>
        <p:nvSpPr>
          <p:cNvPr id="122" name="Shape 122"/>
          <p:cNvSpPr/>
          <p:nvPr/>
        </p:nvSpPr>
        <p:spPr>
          <a:xfrm>
            <a:off x="7616635" y="4544568"/>
            <a:ext cx="3959669" cy="1828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3"/>
          <p:cNvSpPr txBox="1"/>
          <p:nvPr/>
        </p:nvSpPr>
        <p:spPr>
          <a:xfrm>
            <a:off x="7799515" y="4672584"/>
            <a:ext cx="359390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200" b="0" i="1" spc="0">
                <a:solidFill>
                  <a:srgbClr val="D5B990"/>
                </a:solidFill>
                <a:latin typeface="Georgia"/>
                <a:ea typeface="Malgun Gothic"/>
              </a:rPr>
              <a:t xml:space="preserve">Then</a:t>
            </a:r>
            <a:r>
              <a:rPr lang="ko-KR" sz="1000" b="1" i="0" spc="0">
                <a:solidFill>
                  <a:srgbClr val="FFFFFF"/>
                </a:solidFill>
                <a:latin typeface="Malgun Gothic"/>
                <a:ea typeface="Malgun Gothic"/>
              </a:rPr>
              <a:t xml:space="preserve">   예외 · 데이터 (제안)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7799515" y="4983480"/>
            <a:ext cx="3593909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950" b="0" i="0" spc="0">
                <a:solidFill>
                  <a:srgbClr val="FFFFFF"/>
                </a:solidFill>
                <a:latin typeface="Malgun Gothic"/>
                <a:ea typeface="Malgun Gothic"/>
              </a:rPr>
              <a:t xml:space="preserve">→  공휴일 · 연차는 캘린더에서 그날만 휴무로 변경</a:t>
            </a:r>
          </a:p>
          <a:p>
            <a:pPr algn="l">
              <a:spcAft>
                <a:spcPts val="300"/>
              </a:spcAft>
            </a:pPr>
            <a:r>
              <a:rPr lang="ko-KR" sz="950" b="0" i="0" spc="0">
                <a:solidFill>
                  <a:srgbClr val="FFFFFF"/>
                </a:solidFill>
                <a:latin typeface="Malgun Gothic"/>
                <a:ea typeface="Malgun Gothic"/>
              </a:rPr>
              <a:t xml:space="preserve">→  근무 패턴은 마이 &gt; 스타일 설정에서 수정</a:t>
            </a:r>
          </a:p>
          <a:p>
            <a:pPr algn="l">
              <a:spcAft>
                <a:spcPts val="300"/>
              </a:spcAft>
            </a:pPr>
            <a:r>
              <a:rPr lang="ko-KR" sz="950" b="0" i="0" spc="0">
                <a:solidFill>
                  <a:srgbClr val="FFFFFF"/>
                </a:solidFill>
                <a:latin typeface="Malgun Gothic"/>
                <a:ea typeface="Malgun Gothic"/>
              </a:rPr>
              <a:t xml:space="preserve">→  사용자 취향에 근무 요일 · 규칙 on/off 저장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21792" y="3383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0">
                <a:solidFill>
                  <a:srgbClr val="7B1E2B"/>
                </a:solidFill>
                <a:latin typeface="Georgia"/>
                <a:ea typeface="Malgun Gothic"/>
              </a:rPr>
              <a:t>N°03  </a:t>
            </a:r>
            <a:r>
              <a:rPr lang="ko-KR" sz="900" b="0" i="1" spc="0">
                <a:solidFill>
                  <a:srgbClr val="7B1E2B"/>
                </a:solidFill>
                <a:latin typeface="Georgia"/>
                <a:ea typeface="Malgun Gothic"/>
              </a:rPr>
              <a:t>UX &amp; Screens</a:t>
            </a:r>
            <a:r>
              <a:rPr lang="ko-KR" sz="900" b="0" i="0" spc="0">
                <a:solidFill>
                  <a:srgbClr val="8E8E8E"/>
                </a:solidFill>
                <a:latin typeface="Malgun Gothic"/>
                <a:ea typeface="Malgun Gothic"/>
              </a:rPr>
              <a:t>   |   UX·화면 설계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80960" y="338328"/>
            <a:ext cx="39044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850" b="1" i="0" spc="300">
                <a:solidFill>
                  <a:srgbClr val="111111"/>
                </a:solidFill>
                <a:latin typeface="Georgia"/>
                <a:ea typeface="Malgun Gothic"/>
              </a:rPr>
              <a:t>WEARLY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30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화면 설계 ⑨ </a:t>
            </a:r>
            <a:r>
              <a:rPr lang="ko-KR" sz="30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내일 · 모레 코디 미리보기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124358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홈 상단의 3일 탭으로 내일 · 모레 코디를 예보와 근무일 기준으로 </a:t>
            </a:r>
            <a:r>
              <a:rPr lang="ko-KR" sz="11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미리 보고 준비</a:t>
            </a:r>
            <a:r>
              <a:rPr lang="ko-KR" sz="11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한다</a:t>
            </a:r>
          </a:p>
        </p:txBody>
      </p:sp>
      <p:cxnSp>
        <p:nvCxnSpPr>
          <p:cNvPr id="6" name="Connector 6"/>
          <p:cNvCxnSpPr/>
          <p:nvPr/>
        </p:nvCxnSpPr>
        <p:spPr>
          <a:xfrm>
            <a:off x="621792" y="1572768"/>
            <a:ext cx="1094536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7" name="TextBox 7"/>
          <p:cNvSpPr txBox="1"/>
          <p:nvPr/>
        </p:nvSpPr>
        <p:spPr>
          <a:xfrm>
            <a:off x="640080" y="6528816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800" b="0" i="0" spc="0">
                <a:solidFill>
                  <a:srgbClr val="5C5C5C"/>
                </a:solidFill>
                <a:latin typeface="Malgun Gothic"/>
                <a:ea typeface="Malgun Gothic"/>
              </a:rPr>
              <a:t>WEARLY  ·  The Daily Stylist  ·  기획 초안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15600" y="651052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lang="ko-KR" sz="900" b="0" i="1" spc="0">
                <a:solidFill>
                  <a:srgbClr val="5C5C5C"/>
                </a:solidFill>
                <a:latin typeface="Georgia"/>
                <a:ea typeface="Malgun Gothic"/>
              </a:rPr>
              <a:t>— 21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621792" y="1645920"/>
            <a:ext cx="207515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1" spc="0">
                <a:solidFill>
                  <a:srgbClr val="7B1E2B"/>
                </a:solidFill>
                <a:latin typeface="Georgia"/>
                <a:ea typeface="Malgun Gothic"/>
              </a:rPr>
              <a:t xml:space="preserve">01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621792" y="1847088"/>
            <a:ext cx="216659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3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오늘 탭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621792" y="2103120"/>
            <a:ext cx="216659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오늘 날씨 · 근무일 기준 코디</a:t>
            </a:r>
          </a:p>
        </p:txBody>
      </p:sp>
      <p:pic>
        <p:nvPicPr>
          <p:cNvPr id="119" name="오늘 탭" descr="오늘 탭"/>
          <p:cNvPicPr>
            <a:picLocks noChangeAspect="1"/>
          </p:cNvPicPr>
          <p:nvPr/>
        </p:nvPicPr>
        <p:blipFill>
          <a:blip r:embed="rIdT1"/>
          <a:stretch>
            <a:fillRect/>
          </a:stretch>
        </p:blipFill>
        <p:spPr>
          <a:xfrm>
            <a:off x="621792" y="2395728"/>
            <a:ext cx="1892275" cy="3977640"/>
          </a:xfrm>
          <a:prstGeom prst="rect">
            <a:avLst/>
          </a:prstGeom>
        </p:spPr>
      </p:pic>
      <p:sp>
        <p:nvSpPr>
          <p:cNvPr id="120" name="TextBox 120"/>
          <p:cNvSpPr txBox="1"/>
          <p:nvPr/>
        </p:nvSpPr>
        <p:spPr>
          <a:xfrm>
            <a:off x="2628367" y="42473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sz="1400" b="0" i="0" spc="0">
                <a:solidFill>
                  <a:srgbClr val="7B1E2B"/>
                </a:solidFill>
                <a:latin typeface="Georgia"/>
                <a:ea typeface="Malgun Gothic"/>
              </a:rPr>
              <a:t xml:space="preserve">→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3016987" y="1645920"/>
            <a:ext cx="207515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000" b="0" i="1" spc="0">
                <a:solidFill>
                  <a:srgbClr val="7B1E2B"/>
                </a:solidFill>
                <a:latin typeface="Georgia"/>
                <a:ea typeface="Malgun Gothic"/>
              </a:rPr>
              <a:t xml:space="preserve">02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3016987" y="1847088"/>
            <a:ext cx="216659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300" b="1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내일 탭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3016987" y="2103120"/>
            <a:ext cx="216659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0" i="0" spc="0">
                <a:solidFill>
                  <a:srgbClr val="5C5C5C"/>
                </a:solidFill>
                <a:latin typeface="Malgun Gothic"/>
                <a:ea typeface="Malgun Gothic"/>
              </a:rPr>
              <a:t xml:space="preserve">예보 기반 미리 보기 · 준비 안내</a:t>
            </a:r>
          </a:p>
        </p:txBody>
      </p:sp>
      <p:pic>
        <p:nvPicPr>
          <p:cNvPr id="124" name="내일 탭" descr="내일 탭"/>
          <p:cNvPicPr>
            <a:picLocks noChangeAspect="1"/>
          </p:cNvPicPr>
          <p:nvPr/>
        </p:nvPicPr>
        <p:blipFill>
          <a:blip r:embed="rIdT2"/>
          <a:stretch>
            <a:fillRect/>
          </a:stretch>
        </p:blipFill>
        <p:spPr>
          <a:xfrm>
            <a:off x="3016987" y="2395728"/>
            <a:ext cx="1892275" cy="3977640"/>
          </a:xfrm>
          <a:prstGeom prst="rect">
            <a:avLst/>
          </a:prstGeom>
        </p:spPr>
      </p:pic>
      <p:sp>
        <p:nvSpPr>
          <p:cNvPr id="125" name="TextBox 125"/>
          <p:cNvSpPr txBox="1"/>
          <p:nvPr/>
        </p:nvSpPr>
        <p:spPr>
          <a:xfrm>
            <a:off x="5457903" y="1645920"/>
            <a:ext cx="289918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100">
                <a:solidFill>
                  <a:srgbClr val="7B1E2B"/>
                </a:solidFill>
                <a:latin typeface="Georgia"/>
                <a:ea typeface="Malgun Gothic"/>
              </a:rPr>
              <a:t xml:space="preserve">TABS · </a:t>
            </a:r>
            <a:r>
              <a:rPr lang="ko-KR" sz="9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3일 탭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5457903" y="1920240"/>
            <a:ext cx="2899181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오늘 · 내일 · 모레 날짜 · 날씨 아이콘 · 기온</a:t>
            </a:r>
          </a:p>
          <a:p>
            <a:pPr algn="l">
              <a:spcAft>
                <a:spcPts val="30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각 날짜에 근무 / 휴무 표시</a:t>
            </a:r>
          </a:p>
          <a:p>
            <a:pPr algn="l">
              <a:spcAft>
                <a:spcPts val="30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탭을 누르면 그날 코디로 홈 전환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8677123" y="1645920"/>
            <a:ext cx="289918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100">
                <a:solidFill>
                  <a:srgbClr val="7B1E2B"/>
                </a:solidFill>
                <a:latin typeface="Georgia"/>
                <a:ea typeface="Malgun Gothic"/>
              </a:rPr>
              <a:t xml:space="preserve">RULE · </a:t>
            </a:r>
            <a:r>
              <a:rPr lang="ko-KR" sz="9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추천 기준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8677123" y="1920240"/>
            <a:ext cx="2899181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그날 예보 + 근무 패턴으로 추천</a:t>
            </a:r>
          </a:p>
          <a:p>
            <a:pPr algn="l">
              <a:spcAft>
                <a:spcPts val="30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근무일이면 “출근 · 예보” 배지</a:t>
            </a:r>
          </a:p>
          <a:p>
            <a:pPr algn="l">
              <a:spcAft>
                <a:spcPts val="30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예보는 바뀔 수 있어 미리보기로 표시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5457903" y="3063240"/>
            <a:ext cx="289918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100">
                <a:solidFill>
                  <a:srgbClr val="7B1E2B"/>
                </a:solidFill>
                <a:latin typeface="Georgia"/>
                <a:ea typeface="Malgun Gothic"/>
              </a:rPr>
              <a:t xml:space="preserve">WEATHER · </a:t>
            </a:r>
            <a:r>
              <a:rPr lang="ko-KR" sz="9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날씨 안내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5457903" y="3337560"/>
            <a:ext cx="2899181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비 · 큰 일교차 예보 시 안내 카드</a:t>
            </a:r>
          </a:p>
          <a:p>
            <a:pPr algn="l">
              <a:spcAft>
                <a:spcPts val="30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예: 우산 · 젖어도 부담 없는 소재</a:t>
            </a:r>
          </a:p>
          <a:p>
            <a:pPr algn="l">
              <a:spcAft>
                <a:spcPts val="30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추천 이유에 예보 근거 함께 표시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8677123" y="3063240"/>
            <a:ext cx="289918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900" b="1" i="0" spc="100">
                <a:solidFill>
                  <a:srgbClr val="7B1E2B"/>
                </a:solidFill>
                <a:latin typeface="Georgia"/>
                <a:ea typeface="Malgun Gothic"/>
              </a:rPr>
              <a:t xml:space="preserve">SAVE · </a:t>
            </a:r>
            <a:r>
              <a:rPr lang="ko-KR" sz="900" b="1" i="0" spc="0">
                <a:solidFill>
                  <a:srgbClr val="7B1E2B"/>
                </a:solidFill>
                <a:latin typeface="Malgun Gothic"/>
                <a:ea typeface="Malgun Gothic"/>
              </a:rPr>
              <a:t xml:space="preserve">저장 · 이어짐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8677123" y="3337560"/>
            <a:ext cx="2899181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내일 코디를 미리 저장 가능</a:t>
            </a:r>
          </a:p>
          <a:p>
            <a:pPr algn="l">
              <a:spcAft>
                <a:spcPts val="30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저장한 코디는 다음 날 “오늘 코디”로</a:t>
            </a:r>
          </a:p>
          <a:p>
            <a:pPr algn="l">
              <a:spcAft>
                <a:spcPts val="300"/>
              </a:spcAft>
            </a:pPr>
            <a:r>
              <a:rPr lang="ko-KR" sz="1000" b="0" i="0" spc="0">
                <a:solidFill>
                  <a:srgbClr val="111111"/>
                </a:solidFill>
                <a:latin typeface="Malgun Gothic"/>
                <a:ea typeface="Malgun Gothic"/>
              </a:rPr>
              <a:t xml:space="preserve">·  “전체 바꾸기” · 아이템 교체 동일</a:t>
            </a:r>
          </a:p>
        </p:txBody>
      </p:sp>
      <p:sp>
        <p:nvSpPr>
          <p:cNvPr id="133" name="Shape 133"/>
          <p:cNvSpPr/>
          <p:nvPr/>
        </p:nvSpPr>
        <p:spPr>
          <a:xfrm>
            <a:off x="5457903" y="4526280"/>
            <a:ext cx="6118401" cy="18470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TextBox 134"/>
          <p:cNvSpPr txBox="1"/>
          <p:nvPr/>
        </p:nvSpPr>
        <p:spPr>
          <a:xfrm>
            <a:off x="5659071" y="4663440"/>
            <a:ext cx="571606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ko-KR" sz="1200" b="0" i="1" spc="0">
                <a:solidFill>
                  <a:srgbClr val="D5B990"/>
                </a:solidFill>
                <a:latin typeface="Georgia"/>
                <a:ea typeface="Malgun Gothic"/>
              </a:rPr>
              <a:t xml:space="preserve">Then</a:t>
            </a:r>
            <a:r>
              <a:rPr lang="ko-KR" sz="1000" b="1" i="0" spc="0">
                <a:solidFill>
                  <a:srgbClr val="FFFFFF"/>
                </a:solidFill>
                <a:latin typeface="Malgun Gothic"/>
                <a:ea typeface="Malgun Gothic"/>
              </a:rPr>
              <a:t xml:space="preserve">   D-1 알림 (제안)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5659071" y="4983480"/>
            <a:ext cx="571606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ko-KR" sz="1000" b="0" i="0" spc="0">
                <a:solidFill>
                  <a:srgbClr val="FFFFFF"/>
                </a:solidFill>
                <a:latin typeface="Malgun Gothic"/>
                <a:ea typeface="Malgun Gothic"/>
              </a:rPr>
              <a:t xml:space="preserve">→  전날 저녁 “내일 코디” 푸시 → 탭하면 내일 탭으로 바로 이동</a:t>
            </a:r>
          </a:p>
          <a:p>
            <a:pPr algn="l">
              <a:spcAft>
                <a:spcPts val="300"/>
              </a:spcAft>
            </a:pPr>
            <a:r>
              <a:rPr lang="ko-KR" sz="1000" b="0" i="0" spc="0">
                <a:solidFill>
                  <a:srgbClr val="FFFFFF"/>
                </a:solidFill>
                <a:latin typeface="Malgun Gothic"/>
                <a:ea typeface="Malgun Gothic"/>
              </a:rPr>
              <a:t xml:space="preserve">→  다음 날 아침 예보가 바뀌면 교체 제안 (예: 비 → 방수 소재)</a:t>
            </a:r>
          </a:p>
        </p:txBody>
      </p:sp>
      <p:cxnSp>
        <p:nvCxnSpPr>
          <p:cNvPr id="990" name="FooterRule"/>
          <p:cNvCxnSpPr/>
          <p:nvPr/>
        </p:nvCxnSpPr>
        <p:spPr>
          <a:xfrm>
            <a:off x="3063240" y="6611112"/>
            <a:ext cx="7315200" cy="0"/>
          </a:xfrm>
          <a:prstGeom prst="line">
            <a:avLst/>
          </a:prstGeom>
          <a:ln w="6350">
            <a:solidFill>
              <a:srgbClr val="C2C3C1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